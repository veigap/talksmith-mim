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Lst>
  <p:notesMasterIdLst>
    <p:notesMasterId r:id="rId55"/>
  </p:notesMasterIdLst>
  <p:sldSz cx="9144000" cy="5143500"/>
  <p:notesSz cx="5143500" cy="9144000"/>
  <p:embeddedFontLst>
    <p:embeddedFont>
      <p:font typeface="Roboto Mono Medium"/>
      <p:regular r:id="rId60"/>
    </p:embeddedFont>
    <p:embeddedFont>
      <p:font typeface="Roboto Mono Bold"/>
      <p:regular r:id="rId61"/>
    </p:embeddedFont>
    <p:embeddedFont>
      <p:font typeface="Roboto"/>
      <p:regular r:id="rId62"/>
    </p:embeddedFont>
    <p:embeddedFont>
      <p:font typeface="Roboto Bold"/>
      <p:regular r:id="rId6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ubicando el terreno: no son tres productos distintos, es el mismo agente con tres caras. Lo único que cambia es la superficie y para quién está pensada. Dejar claro desde el minuto cero que hoy trabajamos en Cowork — la cara pensada para quien no vive en una terminal. Claude Code aparece solo como contraste; no vamos a entrar en sus internals.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beat de "¿y a mí por qué me importa?", colocado justo después de ubicar las tres superficies. Hasta acá la audiencia sabe *qué* es Cowork; esta slide responde *por qué debería invertir su atención*. Tono motivacional y de alto nivel — la mecánica viene después.</a:t>
            </a:r>
          </a:p>
          <a:p/>
          <a:p>
            <a:r>
              <a:t>El gancho que mejor funciona es la analogía del Excel, pero hay que decirla con cuidado: durante unas cuatro décadas, saber Excel fue *la* habilidad base del trabajo de oficina — no programabas, pero con Excel resolvías el 80% del trabajo de conocimiento. La tesis de varios analistas de la industria es que las herramientas agénticas (Claude Code para los que programan, Cowork para los que no) están en camino de ser esa nueva habilidad base. Atribuirlo explícitamente como encuadre de analistas/industria — "hay quien lo llama el nuevo Excel" — y NO como un claim oficial de Anthropic.</a:t>
            </a:r>
          </a:p>
          <a:p/>
          <a:p>
            <a:r>
              <a:t>Lo que sí es de Anthropic, y conviene citarlo como su framing propio, es "Claude Code para el resto de tu trabajo": la idea de que cualquier knowledge worker sienta con Cowork lo que los ingenieros ya sienten con Claude Code. Subrayar que Cowork no salió de la nada — es la generalización de algo que ya funcionó muy bien primero con developers.</a:t>
            </a:r>
          </a:p>
          <a:p/>
          <a:p>
            <a:r>
              <a:t>Cerrar aterrizándolo en la audiencia: ellos son ingenieros biomédicos, no necesariamente developers, y exactamente por eso esto les sirve — la habilidad base del trabajo del conocimiento se está redefiniendo ahora mismo, y llegar temprano es ventaja. Después de este beat motivacional pasamos a la mecánica: cómo se delega de verdad (slide 1.3). Tiempo objetivo: ~4-5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concepto-ancla de la charla. Si se llevan una sola idea, que sea esta: el valor no está en escribir mejores mensajes, está en aprender a delegar un resultado y guiar el proceso. Usar la tabla para hacerlo concreto: la salida deja de ser texto en una ventana y pasa a ser archivos reales en tu disco. Anticipar la misión: vamos a "contratar" a Atlas, un analista de mercado virtual, y entrenarlo una vez para que después trabaje solo. Como cierre del concepto, citar el framing de la propia Anthropic — "menos una sesión de chat, más asignarle tareas a un colega" — para reforzar que esto no es marketing nuestro sino la forma en que el producto está pensado.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Momento de demo en vivo — bajar de los conceptos a la app real. Abrir Cowork y hacer un recorrido de 2-3 minutos señalando: dónde está el selector de modo (Ask before acting por defecto), cómo se concede una carpeta de trabajo, y dónde viven Scheduled y Live artifacts (que vamos a usar más adelante). Demo sugerida de arranque (la del deck): "Organizá esta carpeta de 8 PDFs por tema y dame un resumen de un párrafo de cada uno." Dejarlos ver a Claude planificar, tocar archivos y entregar — sin explicar la mecánica todavía. La imagen anotada queda como respaldo por si la demo en vivo falla. Tiempo objetivo: ~8 min (incluida la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slide es el mapa de toda la sesión: antes de entrar en cada pieza, dar la foto completa. El gancho es el problema, no la feature — empezar desde abajo: "hoy hacés todo a mano, un mensaje a la vez". Cada bloque nace de una frustración concreta y la resuelve: no me quiero repetir el contexto → Instrucciones; no quiero perder los archivos → Projects; no quiero repetir la misma tarea → Skills; quiero datos de mis herramientas → Connectors/MCP; quiero que corra solo → Schedule; quiero compartir el resultado vivo → Live Artifacts. Subrayar la dirección: cuanto más arriba, menos trabajo manual y más entrega autónoma.</a:t>
            </a:r>
          </a:p>
          <a:p/>
          <a:p>
            <a:r>
              <a:t>Cuidado con la metáfora: NO es una pirámide donde cada capa depende de todas las de abajo. Son bloques que se apilan y se combinan — usás solo los que tu tarea necesita. Por eso cambiamos el dibujo de pirámide a bloques apilados.</a:t>
            </a:r>
          </a:p>
          <a:p/>
          <a:p>
            <a:r>
              <a:t>Decir explícitamente la promesa de roadmap: "vamos a recorrer cada uno de estos bloques, uno por uno, en el resto de la charla, en este orden" — y que pueden volver a esta slide como "estamos acá" entre secciones para ubicarse. Al final, la pila entera es Atlas.</a:t>
            </a:r>
          </a:p>
          <a:p/>
          <a:p>
            <a:r>
              <a:t>Plugins como transversal: marcar que Plugins NO es un bloque más en la pila, sino la banda que la envuelve — la forma de empaquetar y distribuir varias de estas piezas a la vez (a un equipo, p. ej.). No desarrollarlo acá: lo vemos en la Sección 6. Tiempo objetivo: ~3-4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Conectar con el paradigma: en lugar de re-explicarle a Claude el contexto cada vez, lo escribís una vez en las Instrucciones y queda fijo. Mostrar el texto real de las Instrucciones de Atlas como ejemplo concreto — destacar la regla de oro del disclaimer financiero, que es exactamente el tipo de regla no negociable que conviene pinear acá. Dónde viven: en el panel de contexto del Project (en la GUI) — no es un archivo que edités a mano; lo escribís en el panel y queda asociado al Project.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Project es el contenedor de todo lo demás: Instrucciones, archivos, memoria. En la misión, el Project "Inteligencia de Mercado Semanal" apunta a la carpeta `Documentos/Atlas-Mercado`. Subrayar dos puntos prácticos: (1) los chats no se hablan entre sí dentro del Project — si querés que recuerde algo, va a las Instrucciones o a la base de conocimiento; (2) el control de qué carpetas toca Claude es el folder picker del sistema operativo, que es a la vez la garantía de seguridad (Cowork solo ve lo que le concedés) y el límite. La slide siguiente muestra ese selector y el panel de contexto en pantalla.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apoyo visual, corta y concreta — bajar a pantalla lo que en la slide anterior fue conceptual. Mostrar las dos capturas: (1) el folder picker del sistema cuando concedés una carpeta; (2) el panel de contexto del Project con sus capas. El mensaje de seguridad es el que no hay que saltear: Cowork solo ve lo que le concedés, así que la elección de carpeta ES el control de privacidad — nunca una carpeta con datos sensibles. Aterrizarlo en la misión: Atlas trabaja sobre `Documentos/Atlas-Mercado`, nada más. Tiempo objetivo: ~3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Skill es la materialización directa del paradigma "enseñá una vez, reutilizá siempre". Mostrar los dos caminos reales en Cowork: (1) pedírsela en lenguaje natural — Claude escribe el `SKILL.md`, y vos la habilitás en Customize → Skills; (2) subir un ZIP de la carpeta de la Skill por Customize → Skills. Aclarar de entrada que Cowork es GUI: no hay slash commands. El punto que NO hay que saltear es la trampa del Save: es un error real y muy común — pedís la Skill, Claude escribe el archivo, pero si no le das Save / enable no queda habilitada y parece que "no funciona". Mencionar que las Skills requieren Code execution (Settings → Capabilities). Usar `reporte-semanal` como ejemplo concreto: convierte varios archivos desordenados en un reporte prolijo. Tiempo objetivo: ~8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Sideway breve y de alto nivel — explícitamente NO un deep dive de formato de archivos. La idea a transmitir: en el mundo LLM, la configuración es texto plano (Markdown) porque el modelo lee texto, y la metadata (el header YAML) le dice al sistema qué es cada archivo y cuándo usarlo. El ejemplo más tangible es la `description` de una Skill: no es decoración, es lo que decide si la Skill se activa o no para un pedido dado. Cerrar con la portabilidad: el mismo `SKILL.md` sirve en distintas herramientas. Mantenerlo en ~5 min — es contexto, no el plato principal.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Slide-ejemplo que aterriza el sideway de MD/metadata. Mostrar el `SKILL.md` partido en dos zonas: arriba el header YAML (`name`, `description`) entre `---`; abajo las instrucciones en Markdown. El punto a martillar: la `description` no es decoración — es exactamente lo que el sistema lee para decidir si esta Skill aplica a tu pedido (activación semántica). Usar `reporte-semanal` para que sea concreto. Mantenerlo alto nivel: es para que "vean cómo se ve", no un tutorial de formato. Tiempo objetivo: ~3-4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Desarmar el miedo: conectar un servicio externo no es programar. En Cowork es literalmente buscar el servicio en el directorio y darle Connect — como conectás Gmail. Usar el diagrama para explicar qué pasa por debajo: el agente pide datos, el Connector los trae vía el protocolo MCP. MCP es el estándar que hace que cualquier plataforma con API pueda volverse conversacional. Ejemplo de la misión: MT Newswires (noticias de mercado) y Gmail, ambos de un clic. Aclarar que en Cowork no hay archivo de config: todo por la UI.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práctica: mostrar las dos capturas — el directorio de Connectors y la pantalla de conexión — para desarmar el miedo de "esto es técnico". El mensaje es: conectar un servicio es buscar + Connect + autorizar, igual que cuando conectás Gmail a cualquier app. Ejemplos de la misión: MT Newswires (noticias) y Gmail (borradores), ambos de un clic. Recordar que en Cowork todo esto es por la UI, no por archivos de config.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Cowork pasa de herramienta a empleado: describís el trabajo una vez y corre solo. Es el momento en que Atlas "trabaja mientras vos dormís" — pero con un asterisco. El punto crítico — y un error clásico — es que el Schedule de Cowork corre LOCAL, en tu máquina, no en la nube de Anthropic: solo se dispara con la computadora despierta y la app abierta; si estaba dormida/cerrada, se saltea y corre apenas volvés (con aviso). Dejarlo bien claro para que nadie espere que su laptop apagada genere el reporte del lunes. (Si alguien pregunta por corridas en la nube: sí existen agentes programados hosteados, pero son otra cosa, fuera del alcance de esta charla.) Para la demo, usar "Run on demand" en lugar de esperar la cadencia real.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el círculo de la misión: el jefe quería el reporte de dos formas — el email (que ya resolvimos con Gmail + Schedule) y una página siempre actualizada. El Live Artifact es esa página. Explicar la distinción clave: un Artifact estándar es estático; un Live Artifact persiste en la pestaña Live artifacts, se refresca con datos actuales al abrirlo y guarda versiones. Ser honesto con el estado actual del compartir, porque acá había una confusión que corregimos: hoy los Live Artifacts NO son compartibles (es del roadmap, no de hoy), son locales —no en la nube, no te siguen entre dispositivos— y usan los connectors que aprobaste sin volver a preguntar. (Nota: versiones previas de este material mencionaban un "ShareDuo" con URL pública — eso NO es una capacidad de Cowork; quitado.) Mostrar el boceto del tablero — el "napkin sketch" del jefe — como el spec de diseño que el artifact reproduce.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Nivel avanzado — presentarlo como "para cuando crezcas". La distinción mental útil: si la sub-tarea es chica y querés verla, es una Skill; si es grande o ruidosa y querés que corra aparte sin ensuciar tu conversación, es un Subagente. El ejemplo del deck (8 propuestas de proveedores revisadas en paralelo por tres especialistas → tabla combinada) ilustra el fan-out. Cómo se agrega: explicarlo en paralelo a las Skills — un subagente se define con una descripción (cuándo usarlo) + instrucciones; le pedís a Claude que lo arme (igual que una Skill, se gestiona en Customize) o viene dentro de un Plugin. Mantenerlo alto nivel: no entrar en rutas de archivos ni internals de persistencia.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avanzado con la idea de empaquetado: cuando un workflow está maduro (varias skills + connectors + agentes), un Plugin lo vuelve instalable de una. El punto importante para Cowork: la forma robusta de distribuir una skill (o un agente) a otros es dentro de un plugin; los plugins distribuidos aparecen tanto en Chat como en Cowork. Mencionar los marketplaces oficiales como punto de partida. Tiempo objetivo: ~6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cierre del bloque avanzado, orientada a quien algún día administre una cuenta de equipo. La idea: los Plugins no son solo para instalar de a uno; en una cuenta Team, un Owner puede armar un marketplace privado de la organización y repartir workflows a todo el equipo. Recorrer el ciclo con el diagrama: el Owner crea el marketplace y sube plugins (ZIP o, mejor, sincronizando un repo de GitHub que auto-actualiza), fija cómo se instala cada uno (opcional / auto-install / provisionado), y desde ahí se distribuye —aparece tanto en chat como en Cowork— y los miembros lo habilitan desde su directorio, con las actualizaciones sincronizadas. Mantenerlo alto nivel: es el "para cuando esto escala a un equipo". Tiempo objetivo: ~4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integrador: mostrar el diagrama del loop completo para que vean cómo cada pieza que aprendimos se engancha con la siguiente. Repasar las seis piezas en una línea cada una. Cerrar con las dos frases ancla: la de la Skill ("enseñá una vez") y el gancho que los invita a pensar qué tarea propia delegarían. Tiempo objetivo: ~5 min + Q&amp;A.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cierre responsable, breve pero no opcional. Para esta audiencia (bioingeniería), conectar explícitamente: Cowork es excelente para trabajo recurrente de oficina, pero NO para datos de pacientes ni nada regulado — no tiene audit trail. Recordar que toda salida es un borrador que hay que verificar. Dejar esto antes de abrir Q&amp;A. Tiempo objetivo: ~3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mplate Separator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55" Type="http://schemas.openxmlformats.org/officeDocument/2006/relationships/theme" Target="../theme/theme1.xml"/><Relationship Id="rId56"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5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536823"/>
            <a:ext cx="8151763" cy="1948458"/>
          </a:xfrm>
          <a:prstGeom prst="rect">
            <a:avLst/>
          </a:prstGeom>
          <a:noFill/>
          <a:ln/>
        </p:spPr>
        <p:txBody>
          <a:bodyPr wrap="square" lIns="0" tIns="0" rIns="0" bIns="0" rtlCol="0" anchor="t">
            <a:normAutofit/>
          </a:bodyPr>
          <a:lstStyle/>
          <a:p>
            <a:pPr algn="l" indent="0" marL="0">
              <a:lnSpc>
                <a:spcPct val="104000"/>
              </a:lnSpc>
              <a:buNone/>
            </a:pPr>
            <a:r>
              <a:rPr lang="en-US" sz="4050" dirty="0">
                <a:solidFill>
                  <a:srgbClr val="1F1E1E"/>
                </a:solidFill>
                <a:latin typeface="Arial" pitchFamily="34" charset="0"/>
                <a:ea typeface="Roboto Mono Medium" pitchFamily="34" charset="-122"/>
                <a:cs typeface="Roboto Mono Medium" pitchFamily="34" charset="-120"/>
              </a:rPr>
              <a:t>AI Generativa para Biomedicina · Universidad Austral</a:t>
            </a:r>
            <a:endParaRPr lang="en-US" sz="4050" dirty="0"/>
          </a:p>
        </p:txBody>
      </p:sp>
      <p:sp>
        <p:nvSpPr>
          <p:cNvPr id="3" name="Text 1"/>
          <p:cNvSpPr/>
          <p:nvPr/>
        </p:nvSpPr>
        <p:spPr>
          <a:xfrm>
            <a:off x="496119" y="2677269"/>
            <a:ext cx="6216923" cy="235297"/>
          </a:xfrm>
          <a:prstGeom prst="rect">
            <a:avLst/>
          </a:prstGeom>
          <a:noFill/>
          <a:ln/>
        </p:spPr>
        <p:txBody>
          <a:bodyPr wrap="none" lIns="0" tIns="0" rIns="0" bIns="0" rtlCol="0" anchor="t"/>
          <a:lstStyle/>
          <a:p>
            <a:pPr algn="l" indent="0" marL="0">
              <a:lnSpc>
                <a:spcPct val="104000"/>
              </a:lnSpc>
              <a:buNone/>
            </a:pPr>
            <a:r>
              <a:rPr lang="en-US" sz="1450" dirty="0">
                <a:solidFill>
                  <a:srgbClr val="1F1E1E"/>
                </a:solidFill>
                <a:latin typeface="Arial" pitchFamily="34" charset="0"/>
                <a:ea typeface="Roboto Mono Medium" pitchFamily="34" charset="-122"/>
                <a:cs typeface="Roboto Mono Medium" pitchFamily="34" charset="-120"/>
              </a:rPr>
              <a:t>Claude Cowork para el día a día</a:t>
            </a:r>
            <a:endParaRPr lang="en-US" sz="1450" dirty="0"/>
          </a:p>
        </p:txBody>
      </p:sp>
      <p:sp>
        <p:nvSpPr>
          <p:cNvPr id="4" name="Text 2"/>
          <p:cNvSpPr/>
          <p:nvPr/>
        </p:nvSpPr>
        <p:spPr>
          <a:xfrm>
            <a:off x="496119" y="3219748"/>
            <a:ext cx="3295799" cy="560933"/>
          </a:xfrm>
          <a:prstGeom prst="rect">
            <a:avLst/>
          </a:prstGeom>
          <a:noFill/>
          <a:ln/>
        </p:spPr>
        <p:txBody>
          <a:bodyPr wrap="square" lIns="0" tIns="0" rIns="0" bIns="0" rtlCol="0" anchor="t"/>
          <a:lstStyle/>
          <a:p>
            <a:pPr algn="l" indent="0" marL="0">
              <a:lnSpc>
                <a:spcPct val="123000"/>
              </a:lnSpc>
              <a:spcAft>
                <a:spcPts val="900"/>
              </a:spcAft>
              <a:buNone/>
            </a:pPr>
            <a:r>
              <a:rPr lang="en-US" sz="1150" dirty="0">
                <a:solidFill>
                  <a:srgbClr val="3B3535"/>
                </a:solidFill>
                <a:latin typeface="Arial" pitchFamily="34" charset="0"/>
                <a:ea typeface="Roboto" pitchFamily="34" charset="-122"/>
                <a:cs typeface="Roboto" pitchFamily="34" charset="-120"/>
              </a:rPr>
              <a:t>Autor: Paulo Veiga</a:t>
            </a:r>
            <a:endParaRPr lang="en-US" sz="1150" dirty="0"/>
          </a:p>
          <a:p>
            <a:pPr algn="l" indent="0" marL="0">
              <a:lnSpc>
                <a:spcPct val="123000"/>
              </a:lnSpc>
              <a:buNone/>
            </a:pPr>
            <a:r>
              <a:rPr lang="en-US" sz="1150" dirty="0">
                <a:solidFill>
                  <a:srgbClr val="3B3535"/>
                </a:solidFill>
                <a:latin typeface="Arial" pitchFamily="34" charset="0"/>
                <a:ea typeface="Roboto" pitchFamily="34" charset="-122"/>
                <a:cs typeface="Roboto" pitchFamily="34" charset="-120"/>
              </a:rPr>
              <a:t>Última Modificación: Junio, 2026</a:t>
            </a:r>
            <a:endParaRPr lang="en-US" sz="1150" dirty="0"/>
          </a:p>
        </p:txBody>
      </p:sp>
      <p:pic>
        <p:nvPicPr>
          <p:cNvPr id="5" name="Image 0" descr="preencoded.png">    </p:cNvPr>
          <p:cNvPicPr>
            <a:picLocks noChangeAspect="1"/>
          </p:cNvPicPr>
          <p:nvPr/>
        </p:nvPicPr>
        <p:blipFill>
          <a:blip r:embed="rId1"/>
          <a:stretch>
            <a:fillRect/>
          </a:stretch>
        </p:blipFill>
        <p:spPr>
          <a:xfrm>
            <a:off x="7183562" y="3248546"/>
            <a:ext cx="1469008" cy="12140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TextBox 2"/>
          <p:cNvSpPr txBox="1"/>
          <p:nvPr/>
        </p:nvSpPr>
        <p:spPr>
          <a:xfrm>
            <a:off x="480974" y="504748"/>
            <a:ext cx="3246120" cy="365760"/>
          </a:xfrm>
          <a:prstGeom prst="rect">
            <a:avLst/>
          </a:prstGeom>
          <a:noFill/>
        </p:spPr>
        <p:txBody>
          <a:bodyPr wrap="square" anchor="t" lIns="0" rIns="0" tIns="0" bIns="0">
            <a:spAutoFit/>
          </a:bodyPr>
          <a:lstStyle/>
          <a:p>
            <a:r>
              <a:rPr sz="2150" b="1">
                <a:solidFill>
                  <a:srgbClr val="1F1E1E"/>
                </a:solidFill>
                <a:latin typeface="Helvetica"/>
              </a:rPr>
              <a:t>Agenda</a:t>
            </a:r>
          </a:p>
        </p:txBody>
      </p:sp>
      <p:sp>
        <p:nvSpPr>
          <p:cNvPr id="4" name="Rounded Rectangle 3"/>
          <p:cNvSpPr/>
          <p:nvPr/>
        </p:nvSpPr>
        <p:spPr>
          <a:xfrm>
            <a:off x="606103" y="994172"/>
            <a:ext cx="14288" cy="3644354"/>
          </a:xfrm>
          <a:prstGeom prst="roundRect">
            <a:avLst/>
          </a:prstGeom>
          <a:solidFill>
            <a:srgbClr val="D8D4D4"/>
          </a:solidFill>
          <a:ln>
            <a:noFill/>
          </a:ln>
          <a:effectLst/>
        </p:spPr>
        <p:txBody>
          <a:bodyPr rtlCol="0" anchor="ctr"/>
          <a:lstStyle/>
          <a:p>
            <a:pPr algn="ctr"/>
          </a:p>
        </p:txBody>
      </p:sp>
      <p:sp>
        <p:nvSpPr>
          <p:cNvPr id="5" name="Rounded Rectangle 4"/>
          <p:cNvSpPr/>
          <p:nvPr/>
        </p:nvSpPr>
        <p:spPr>
          <a:xfrm>
            <a:off x="480603" y="994172"/>
            <a:ext cx="250999" cy="250999"/>
          </a:xfrm>
          <a:prstGeom prst="roundRect">
            <a:avLst/>
          </a:prstGeom>
          <a:solidFill>
            <a:srgbClr val="DA1B2E"/>
          </a:solidFill>
          <a:ln>
            <a:noFill/>
          </a:ln>
          <a:effectLst/>
        </p:spPr>
        <p:txBody>
          <a:bodyPr rtlCol="0" anchor="ctr"/>
          <a:lstStyle/>
          <a:p>
            <a:pPr algn="ctr"/>
          </a:p>
        </p:txBody>
      </p:sp>
      <p:sp>
        <p:nvSpPr>
          <p:cNvPr id="6" name="TextBox 5"/>
          <p:cNvSpPr txBox="1"/>
          <p:nvPr/>
        </p:nvSpPr>
        <p:spPr>
          <a:xfrm>
            <a:off x="522387" y="1015045"/>
            <a:ext cx="167357" cy="209178"/>
          </a:xfrm>
          <a:prstGeom prst="rect">
            <a:avLst/>
          </a:prstGeom>
          <a:noFill/>
        </p:spPr>
        <p:txBody>
          <a:bodyPr wrap="none" anchor="ctr" lIns="0" rIns="0" tIns="0" bIns="0">
            <a:spAutoFit/>
          </a:bodyPr>
          <a:lstStyle/>
          <a:p>
            <a:pPr algn="ctr"/>
            <a:r>
              <a:rPr sz="1300" b="1">
                <a:solidFill>
                  <a:srgbClr val="FFFFFF"/>
                </a:solidFill>
                <a:latin typeface="Helvetica"/>
              </a:rPr>
              <a:t>1</a:t>
            </a:r>
          </a:p>
        </p:txBody>
      </p:sp>
      <p:sp>
        <p:nvSpPr>
          <p:cNvPr id="7" name="Rounded Rectangle 6"/>
          <p:cNvSpPr/>
          <p:nvPr/>
        </p:nvSpPr>
        <p:spPr>
          <a:xfrm>
            <a:off x="717314" y="1112491"/>
            <a:ext cx="334714" cy="14288"/>
          </a:xfrm>
          <a:prstGeom prst="roundRect">
            <a:avLst/>
          </a:prstGeom>
          <a:solidFill>
            <a:srgbClr val="F33447"/>
          </a:solidFill>
          <a:ln>
            <a:noFill/>
          </a:ln>
          <a:effectLst/>
        </p:spPr>
        <p:txBody>
          <a:bodyPr rtlCol="0" anchor="ctr"/>
          <a:lstStyle/>
          <a:p>
            <a:pPr algn="ctr"/>
          </a:p>
        </p:txBody>
      </p:sp>
      <p:sp>
        <p:nvSpPr>
          <p:cNvPr id="8" name="TextBox 7"/>
          <p:cNvSpPr txBox="1"/>
          <p:nvPr/>
        </p:nvSpPr>
        <p:spPr>
          <a:xfrm>
            <a:off x="1164059" y="1004172"/>
            <a:ext cx="7400000" cy="220000"/>
          </a:xfrm>
          <a:prstGeom prst="rect">
            <a:avLst/>
          </a:prstGeom>
          <a:noFill/>
        </p:spPr>
        <p:txBody>
          <a:bodyPr wrap="square" anchor="t" lIns="0" rIns="0" tIns="0" bIns="0">
            <a:spAutoFit/>
          </a:bodyPr>
          <a:lstStyle/>
          <a:p>
            <a:r>
              <a:rPr sz="1150" b="1">
                <a:solidFill>
                  <a:srgbClr val="1F1E1E"/>
                </a:solidFill>
                <a:latin typeface="Helvetica"/>
              </a:rPr>
              <a:t>De chat a agente: dónde encaja Cowork</a:t>
            </a:r>
          </a:p>
        </p:txBody>
      </p:sp>
      <p:sp>
        <p:nvSpPr>
          <p:cNvPr id="9" name="TextBox 8"/>
          <p:cNvSpPr txBox="1"/>
          <p:nvPr/>
        </p:nvSpPr>
        <p:spPr>
          <a:xfrm>
            <a:off x="1164059" y="1244172"/>
            <a:ext cx="7499300" cy="180000"/>
          </a:xfrm>
          <a:prstGeom prst="rect">
            <a:avLst/>
          </a:prstGeom>
          <a:noFill/>
        </p:spPr>
        <p:txBody>
          <a:bodyPr wrap="square" anchor="t" lIns="0" rIns="0" tIns="0" bIns="0">
            <a:spAutoFit/>
          </a:bodyPr>
          <a:lstStyle/>
          <a:p>
            <a:r>
              <a:rPr sz="850">
                <a:solidFill>
                  <a:srgbClr val="3B3535"/>
                </a:solidFill>
                <a:latin typeface="Helvetica"/>
              </a:rPr>
              <a:t>De chatear a delegar: dónde vive Cowork</a:t>
            </a:r>
          </a:p>
        </p:txBody>
      </p:sp>
      <p:sp>
        <p:nvSpPr>
          <p:cNvPr id="10" name="Rounded Rectangle 9"/>
          <p:cNvSpPr/>
          <p:nvPr/>
        </p:nvSpPr>
        <p:spPr>
          <a:xfrm>
            <a:off x="480603" y="1534865"/>
            <a:ext cx="250999" cy="250999"/>
          </a:xfrm>
          <a:prstGeom prst="roundRect">
            <a:avLst/>
          </a:prstGeom>
          <a:solidFill>
            <a:srgbClr val="F2EEEE"/>
          </a:solidFill>
          <a:ln>
            <a:noFill/>
          </a:ln>
          <a:effectLst/>
        </p:spPr>
        <p:txBody>
          <a:bodyPr rtlCol="0" anchor="ctr"/>
          <a:lstStyle/>
          <a:p>
            <a:pPr algn="ctr"/>
          </a:p>
        </p:txBody>
      </p:sp>
      <p:sp>
        <p:nvSpPr>
          <p:cNvPr id="11" name="TextBox 10"/>
          <p:cNvSpPr txBox="1"/>
          <p:nvPr/>
        </p:nvSpPr>
        <p:spPr>
          <a:xfrm>
            <a:off x="522387" y="1555738"/>
            <a:ext cx="167357" cy="209178"/>
          </a:xfrm>
          <a:prstGeom prst="rect">
            <a:avLst/>
          </a:prstGeom>
          <a:noFill/>
        </p:spPr>
        <p:txBody>
          <a:bodyPr wrap="none" anchor="ctr" lIns="0" rIns="0" tIns="0" bIns="0">
            <a:spAutoFit/>
          </a:bodyPr>
          <a:lstStyle/>
          <a:p>
            <a:pPr algn="ctr"/>
            <a:r>
              <a:rPr sz="1300" b="1">
                <a:solidFill>
                  <a:srgbClr val="3B3535"/>
                </a:solidFill>
                <a:latin typeface="Helvetica"/>
              </a:rPr>
              <a:t>2</a:t>
            </a:r>
          </a:p>
        </p:txBody>
      </p:sp>
      <p:sp>
        <p:nvSpPr>
          <p:cNvPr id="12" name="Rounded Rectangle 11"/>
          <p:cNvSpPr/>
          <p:nvPr/>
        </p:nvSpPr>
        <p:spPr>
          <a:xfrm>
            <a:off x="717314" y="1653184"/>
            <a:ext cx="334714" cy="14288"/>
          </a:xfrm>
          <a:prstGeom prst="roundRect">
            <a:avLst/>
          </a:prstGeom>
          <a:solidFill>
            <a:srgbClr val="D8D4D4"/>
          </a:solidFill>
          <a:ln>
            <a:noFill/>
          </a:ln>
          <a:effectLst/>
        </p:spPr>
        <p:txBody>
          <a:bodyPr rtlCol="0" anchor="ctr"/>
          <a:lstStyle/>
          <a:p>
            <a:pPr algn="ctr"/>
          </a:p>
        </p:txBody>
      </p:sp>
      <p:sp>
        <p:nvSpPr>
          <p:cNvPr id="13" name="TextBox 12"/>
          <p:cNvSpPr txBox="1"/>
          <p:nvPr/>
        </p:nvSpPr>
        <p:spPr>
          <a:xfrm>
            <a:off x="1164059" y="1544865"/>
            <a:ext cx="7400000" cy="220000"/>
          </a:xfrm>
          <a:prstGeom prst="rect">
            <a:avLst/>
          </a:prstGeom>
          <a:noFill/>
        </p:spPr>
        <p:txBody>
          <a:bodyPr wrap="square" anchor="t" lIns="0" rIns="0" tIns="0" bIns="0">
            <a:spAutoFit/>
          </a:bodyPr>
          <a:lstStyle/>
          <a:p>
            <a:r>
              <a:rPr sz="1150" b="1">
                <a:solidFill>
                  <a:srgbClr val="3B3535"/>
                </a:solidFill>
                <a:latin typeface="Helvetica"/>
              </a:rPr>
              <a:t>Lo básico: interfaz, Instrucciones y Projects</a:t>
            </a:r>
          </a:p>
        </p:txBody>
      </p:sp>
      <p:sp>
        <p:nvSpPr>
          <p:cNvPr id="14" name="TextBox 13"/>
          <p:cNvSpPr txBox="1"/>
          <p:nvPr/>
        </p:nvSpPr>
        <p:spPr>
          <a:xfrm>
            <a:off x="1164059" y="1784865"/>
            <a:ext cx="7499300" cy="180000"/>
          </a:xfrm>
          <a:prstGeom prst="rect">
            <a:avLst/>
          </a:prstGeom>
          <a:noFill/>
        </p:spPr>
        <p:txBody>
          <a:bodyPr wrap="square" anchor="t" lIns="0" rIns="0" tIns="0" bIns="0">
            <a:spAutoFit/>
          </a:bodyPr>
          <a:lstStyle/>
          <a:p>
            <a:r>
              <a:rPr sz="850">
                <a:solidFill>
                  <a:srgbClr val="3B3535"/>
                </a:solidFill>
                <a:latin typeface="Helvetica"/>
              </a:rPr>
              <a:t>Interfaz, Instrucciones y Projects</a:t>
            </a:r>
          </a:p>
        </p:txBody>
      </p:sp>
      <p:sp>
        <p:nvSpPr>
          <p:cNvPr id="15" name="Rounded Rectangle 14"/>
          <p:cNvSpPr/>
          <p:nvPr/>
        </p:nvSpPr>
        <p:spPr>
          <a:xfrm>
            <a:off x="480603" y="2075558"/>
            <a:ext cx="250999" cy="250999"/>
          </a:xfrm>
          <a:prstGeom prst="roundRect">
            <a:avLst/>
          </a:prstGeom>
          <a:solidFill>
            <a:srgbClr val="F2EEEE"/>
          </a:solidFill>
          <a:ln>
            <a:noFill/>
          </a:ln>
          <a:effectLst/>
        </p:spPr>
        <p:txBody>
          <a:bodyPr rtlCol="0" anchor="ctr"/>
          <a:lstStyle/>
          <a:p>
            <a:pPr algn="ctr"/>
          </a:p>
        </p:txBody>
      </p:sp>
      <p:sp>
        <p:nvSpPr>
          <p:cNvPr id="16" name="TextBox 15"/>
          <p:cNvSpPr txBox="1"/>
          <p:nvPr/>
        </p:nvSpPr>
        <p:spPr>
          <a:xfrm>
            <a:off x="522387" y="2096431"/>
            <a:ext cx="167357" cy="209178"/>
          </a:xfrm>
          <a:prstGeom prst="rect">
            <a:avLst/>
          </a:prstGeom>
          <a:noFill/>
        </p:spPr>
        <p:txBody>
          <a:bodyPr wrap="none" anchor="ctr" lIns="0" rIns="0" tIns="0" bIns="0">
            <a:spAutoFit/>
          </a:bodyPr>
          <a:lstStyle/>
          <a:p>
            <a:pPr algn="ctr"/>
            <a:r>
              <a:rPr sz="1300" b="1">
                <a:solidFill>
                  <a:srgbClr val="3B3535"/>
                </a:solidFill>
                <a:latin typeface="Helvetica"/>
              </a:rPr>
              <a:t>3</a:t>
            </a:r>
          </a:p>
        </p:txBody>
      </p:sp>
      <p:sp>
        <p:nvSpPr>
          <p:cNvPr id="17" name="Rounded Rectangle 16"/>
          <p:cNvSpPr/>
          <p:nvPr/>
        </p:nvSpPr>
        <p:spPr>
          <a:xfrm>
            <a:off x="717314" y="2193877"/>
            <a:ext cx="334714" cy="14288"/>
          </a:xfrm>
          <a:prstGeom prst="roundRect">
            <a:avLst/>
          </a:prstGeom>
          <a:solidFill>
            <a:srgbClr val="D8D4D4"/>
          </a:solidFill>
          <a:ln>
            <a:noFill/>
          </a:ln>
          <a:effectLst/>
        </p:spPr>
        <p:txBody>
          <a:bodyPr rtlCol="0" anchor="ctr"/>
          <a:lstStyle/>
          <a:p>
            <a:pPr algn="ctr"/>
          </a:p>
        </p:txBody>
      </p:sp>
      <p:sp>
        <p:nvSpPr>
          <p:cNvPr id="18" name="TextBox 17"/>
          <p:cNvSpPr txBox="1"/>
          <p:nvPr/>
        </p:nvSpPr>
        <p:spPr>
          <a:xfrm>
            <a:off x="1164059" y="2085558"/>
            <a:ext cx="7400000" cy="220000"/>
          </a:xfrm>
          <a:prstGeom prst="rect">
            <a:avLst/>
          </a:prstGeom>
          <a:noFill/>
        </p:spPr>
        <p:txBody>
          <a:bodyPr wrap="square" anchor="t" lIns="0" rIns="0" tIns="0" bIns="0">
            <a:spAutoFit/>
          </a:bodyPr>
          <a:lstStyle/>
          <a:p>
            <a:r>
              <a:rPr sz="1150" b="1">
                <a:solidFill>
                  <a:srgbClr val="3B3535"/>
                </a:solidFill>
                <a:latin typeface="Helvetica"/>
              </a:rPr>
              <a:t>Extender Cowork: Skills y el rol de los archivos MD / metadata</a:t>
            </a:r>
          </a:p>
        </p:txBody>
      </p:sp>
      <p:sp>
        <p:nvSpPr>
          <p:cNvPr id="19" name="TextBox 18"/>
          <p:cNvSpPr txBox="1"/>
          <p:nvPr/>
        </p:nvSpPr>
        <p:spPr>
          <a:xfrm>
            <a:off x="1164059" y="2325558"/>
            <a:ext cx="7499300" cy="180000"/>
          </a:xfrm>
          <a:prstGeom prst="rect">
            <a:avLst/>
          </a:prstGeom>
          <a:noFill/>
        </p:spPr>
        <p:txBody>
          <a:bodyPr wrap="square" anchor="t" lIns="0" rIns="0" tIns="0" bIns="0">
            <a:spAutoFit/>
          </a:bodyPr>
          <a:lstStyle/>
          <a:p>
            <a:r>
              <a:rPr sz="850">
                <a:solidFill>
                  <a:srgbClr val="3B3535"/>
                </a:solidFill>
                <a:latin typeface="Helvetica"/>
              </a:rPr>
              <a:t>Skills y los archivos MD / metadata</a:t>
            </a:r>
          </a:p>
        </p:txBody>
      </p:sp>
      <p:sp>
        <p:nvSpPr>
          <p:cNvPr id="20" name="Rounded Rectangle 19"/>
          <p:cNvSpPr/>
          <p:nvPr/>
        </p:nvSpPr>
        <p:spPr>
          <a:xfrm>
            <a:off x="480603" y="2616251"/>
            <a:ext cx="250999" cy="250999"/>
          </a:xfrm>
          <a:prstGeom prst="roundRect">
            <a:avLst/>
          </a:prstGeom>
          <a:solidFill>
            <a:srgbClr val="F2EEEE"/>
          </a:solidFill>
          <a:ln>
            <a:noFill/>
          </a:ln>
          <a:effectLst/>
        </p:spPr>
        <p:txBody>
          <a:bodyPr rtlCol="0" anchor="ctr"/>
          <a:lstStyle/>
          <a:p>
            <a:pPr algn="ctr"/>
          </a:p>
        </p:txBody>
      </p:sp>
      <p:sp>
        <p:nvSpPr>
          <p:cNvPr id="21" name="TextBox 20"/>
          <p:cNvSpPr txBox="1"/>
          <p:nvPr/>
        </p:nvSpPr>
        <p:spPr>
          <a:xfrm>
            <a:off x="522387" y="2637124"/>
            <a:ext cx="167357" cy="209178"/>
          </a:xfrm>
          <a:prstGeom prst="rect">
            <a:avLst/>
          </a:prstGeom>
          <a:noFill/>
        </p:spPr>
        <p:txBody>
          <a:bodyPr wrap="none" anchor="ctr" lIns="0" rIns="0" tIns="0" bIns="0">
            <a:spAutoFit/>
          </a:bodyPr>
          <a:lstStyle/>
          <a:p>
            <a:pPr algn="ctr"/>
            <a:r>
              <a:rPr sz="1300" b="1">
                <a:solidFill>
                  <a:srgbClr val="3B3535"/>
                </a:solidFill>
                <a:latin typeface="Helvetica"/>
              </a:rPr>
              <a:t>4</a:t>
            </a:r>
          </a:p>
        </p:txBody>
      </p:sp>
      <p:sp>
        <p:nvSpPr>
          <p:cNvPr id="22" name="Rounded Rectangle 21"/>
          <p:cNvSpPr/>
          <p:nvPr/>
        </p:nvSpPr>
        <p:spPr>
          <a:xfrm>
            <a:off x="717314" y="2734570"/>
            <a:ext cx="334714" cy="14288"/>
          </a:xfrm>
          <a:prstGeom prst="roundRect">
            <a:avLst/>
          </a:prstGeom>
          <a:solidFill>
            <a:srgbClr val="D8D4D4"/>
          </a:solidFill>
          <a:ln>
            <a:noFill/>
          </a:ln>
          <a:effectLst/>
        </p:spPr>
        <p:txBody>
          <a:bodyPr rtlCol="0" anchor="ctr"/>
          <a:lstStyle/>
          <a:p>
            <a:pPr algn="ctr"/>
          </a:p>
        </p:txBody>
      </p:sp>
      <p:sp>
        <p:nvSpPr>
          <p:cNvPr id="23" name="TextBox 22"/>
          <p:cNvSpPr txBox="1"/>
          <p:nvPr/>
        </p:nvSpPr>
        <p:spPr>
          <a:xfrm>
            <a:off x="1164059" y="2626251"/>
            <a:ext cx="7400000" cy="220000"/>
          </a:xfrm>
          <a:prstGeom prst="rect">
            <a:avLst/>
          </a:prstGeom>
          <a:noFill/>
        </p:spPr>
        <p:txBody>
          <a:bodyPr wrap="square" anchor="t" lIns="0" rIns="0" tIns="0" bIns="0">
            <a:spAutoFit/>
          </a:bodyPr>
          <a:lstStyle/>
          <a:p>
            <a:r>
              <a:rPr sz="1150" b="1">
                <a:solidFill>
                  <a:srgbClr val="3B3535"/>
                </a:solidFill>
                <a:latin typeface="Helvetica"/>
              </a:rPr>
              <a:t>Conectar y automatizar: Connectors/MCP y Schedule</a:t>
            </a:r>
          </a:p>
        </p:txBody>
      </p:sp>
      <p:sp>
        <p:nvSpPr>
          <p:cNvPr id="24" name="TextBox 23"/>
          <p:cNvSpPr txBox="1"/>
          <p:nvPr/>
        </p:nvSpPr>
        <p:spPr>
          <a:xfrm>
            <a:off x="1164059" y="2866251"/>
            <a:ext cx="7499300" cy="180000"/>
          </a:xfrm>
          <a:prstGeom prst="rect">
            <a:avLst/>
          </a:prstGeom>
          <a:noFill/>
        </p:spPr>
        <p:txBody>
          <a:bodyPr wrap="square" anchor="t" lIns="0" rIns="0" tIns="0" bIns="0">
            <a:spAutoFit/>
          </a:bodyPr>
          <a:lstStyle/>
          <a:p>
            <a:r>
              <a:rPr sz="850">
                <a:solidFill>
                  <a:srgbClr val="3B3535"/>
                </a:solidFill>
                <a:latin typeface="Helvetica"/>
              </a:rPr>
              <a:t>Connectors/MCP y Schedule</a:t>
            </a:r>
          </a:p>
        </p:txBody>
      </p:sp>
      <p:sp>
        <p:nvSpPr>
          <p:cNvPr id="25" name="Rounded Rectangle 24"/>
          <p:cNvSpPr/>
          <p:nvPr/>
        </p:nvSpPr>
        <p:spPr>
          <a:xfrm>
            <a:off x="480603" y="3156944"/>
            <a:ext cx="250999" cy="250999"/>
          </a:xfrm>
          <a:prstGeom prst="roundRect">
            <a:avLst/>
          </a:prstGeom>
          <a:solidFill>
            <a:srgbClr val="F2EEEE"/>
          </a:solidFill>
          <a:ln>
            <a:noFill/>
          </a:ln>
          <a:effectLst/>
        </p:spPr>
        <p:txBody>
          <a:bodyPr rtlCol="0" anchor="ctr"/>
          <a:lstStyle/>
          <a:p>
            <a:pPr algn="ctr"/>
          </a:p>
        </p:txBody>
      </p:sp>
      <p:sp>
        <p:nvSpPr>
          <p:cNvPr id="26" name="TextBox 25"/>
          <p:cNvSpPr txBox="1"/>
          <p:nvPr/>
        </p:nvSpPr>
        <p:spPr>
          <a:xfrm>
            <a:off x="522387" y="3177817"/>
            <a:ext cx="167357" cy="209178"/>
          </a:xfrm>
          <a:prstGeom prst="rect">
            <a:avLst/>
          </a:prstGeom>
          <a:noFill/>
        </p:spPr>
        <p:txBody>
          <a:bodyPr wrap="none" anchor="ctr" lIns="0" rIns="0" tIns="0" bIns="0">
            <a:spAutoFit/>
          </a:bodyPr>
          <a:lstStyle/>
          <a:p>
            <a:pPr algn="ctr"/>
            <a:r>
              <a:rPr sz="1300" b="1">
                <a:solidFill>
                  <a:srgbClr val="3B3535"/>
                </a:solidFill>
                <a:latin typeface="Helvetica"/>
              </a:rPr>
              <a:t>5</a:t>
            </a:r>
          </a:p>
        </p:txBody>
      </p:sp>
      <p:sp>
        <p:nvSpPr>
          <p:cNvPr id="27" name="Rounded Rectangle 26"/>
          <p:cNvSpPr/>
          <p:nvPr/>
        </p:nvSpPr>
        <p:spPr>
          <a:xfrm>
            <a:off x="717314" y="3275263"/>
            <a:ext cx="334714" cy="14288"/>
          </a:xfrm>
          <a:prstGeom prst="roundRect">
            <a:avLst/>
          </a:prstGeom>
          <a:solidFill>
            <a:srgbClr val="D8D4D4"/>
          </a:solidFill>
          <a:ln>
            <a:noFill/>
          </a:ln>
          <a:effectLst/>
        </p:spPr>
        <p:txBody>
          <a:bodyPr rtlCol="0" anchor="ctr"/>
          <a:lstStyle/>
          <a:p>
            <a:pPr algn="ctr"/>
          </a:p>
        </p:txBody>
      </p:sp>
      <p:sp>
        <p:nvSpPr>
          <p:cNvPr id="28" name="TextBox 27"/>
          <p:cNvSpPr txBox="1"/>
          <p:nvPr/>
        </p:nvSpPr>
        <p:spPr>
          <a:xfrm>
            <a:off x="1164059" y="3166944"/>
            <a:ext cx="7400000" cy="220000"/>
          </a:xfrm>
          <a:prstGeom prst="rect">
            <a:avLst/>
          </a:prstGeom>
          <a:noFill/>
        </p:spPr>
        <p:txBody>
          <a:bodyPr wrap="square" anchor="t" lIns="0" rIns="0" tIns="0" bIns="0">
            <a:spAutoFit/>
          </a:bodyPr>
          <a:lstStyle/>
          <a:p>
            <a:r>
              <a:rPr sz="1150" b="1">
                <a:solidFill>
                  <a:srgbClr val="3B3535"/>
                </a:solidFill>
                <a:latin typeface="Helvetica"/>
              </a:rPr>
              <a:t>Compartir resultados: Live Artifacts</a:t>
            </a:r>
          </a:p>
        </p:txBody>
      </p:sp>
      <p:sp>
        <p:nvSpPr>
          <p:cNvPr id="29" name="TextBox 28"/>
          <p:cNvSpPr txBox="1"/>
          <p:nvPr/>
        </p:nvSpPr>
        <p:spPr>
          <a:xfrm>
            <a:off x="1164059" y="3406944"/>
            <a:ext cx="7499300" cy="180000"/>
          </a:xfrm>
          <a:prstGeom prst="rect">
            <a:avLst/>
          </a:prstGeom>
          <a:noFill/>
        </p:spPr>
        <p:txBody>
          <a:bodyPr wrap="square" anchor="t" lIns="0" rIns="0" tIns="0" bIns="0">
            <a:spAutoFit/>
          </a:bodyPr>
          <a:lstStyle/>
          <a:p>
            <a:r>
              <a:rPr sz="850">
                <a:solidFill>
                  <a:srgbClr val="3B3535"/>
                </a:solidFill>
                <a:latin typeface="Helvetica"/>
              </a:rPr>
              <a:t>Live Artifacts: compartir el resultado</a:t>
            </a:r>
          </a:p>
        </p:txBody>
      </p:sp>
      <p:sp>
        <p:nvSpPr>
          <p:cNvPr id="30" name="Rounded Rectangle 29"/>
          <p:cNvSpPr/>
          <p:nvPr/>
        </p:nvSpPr>
        <p:spPr>
          <a:xfrm>
            <a:off x="480603" y="3697637"/>
            <a:ext cx="250999" cy="250999"/>
          </a:xfrm>
          <a:prstGeom prst="roundRect">
            <a:avLst/>
          </a:prstGeom>
          <a:solidFill>
            <a:srgbClr val="F2EEEE"/>
          </a:solidFill>
          <a:ln>
            <a:noFill/>
          </a:ln>
          <a:effectLst/>
        </p:spPr>
        <p:txBody>
          <a:bodyPr rtlCol="0" anchor="ctr"/>
          <a:lstStyle/>
          <a:p>
            <a:pPr algn="ctr"/>
          </a:p>
        </p:txBody>
      </p:sp>
      <p:sp>
        <p:nvSpPr>
          <p:cNvPr id="31" name="TextBox 30"/>
          <p:cNvSpPr txBox="1"/>
          <p:nvPr/>
        </p:nvSpPr>
        <p:spPr>
          <a:xfrm>
            <a:off x="522387" y="3718510"/>
            <a:ext cx="167357" cy="209178"/>
          </a:xfrm>
          <a:prstGeom prst="rect">
            <a:avLst/>
          </a:prstGeom>
          <a:noFill/>
        </p:spPr>
        <p:txBody>
          <a:bodyPr wrap="none" anchor="ctr" lIns="0" rIns="0" tIns="0" bIns="0">
            <a:spAutoFit/>
          </a:bodyPr>
          <a:lstStyle/>
          <a:p>
            <a:pPr algn="ctr"/>
            <a:r>
              <a:rPr sz="1300" b="1">
                <a:solidFill>
                  <a:srgbClr val="3B3535"/>
                </a:solidFill>
                <a:latin typeface="Helvetica"/>
              </a:rPr>
              <a:t>6</a:t>
            </a:r>
          </a:p>
        </p:txBody>
      </p:sp>
      <p:sp>
        <p:nvSpPr>
          <p:cNvPr id="32" name="Rounded Rectangle 31"/>
          <p:cNvSpPr/>
          <p:nvPr/>
        </p:nvSpPr>
        <p:spPr>
          <a:xfrm>
            <a:off x="717314" y="3815956"/>
            <a:ext cx="334714" cy="14288"/>
          </a:xfrm>
          <a:prstGeom prst="roundRect">
            <a:avLst/>
          </a:prstGeom>
          <a:solidFill>
            <a:srgbClr val="D8D4D4"/>
          </a:solidFill>
          <a:ln>
            <a:noFill/>
          </a:ln>
          <a:effectLst/>
        </p:spPr>
        <p:txBody>
          <a:bodyPr rtlCol="0" anchor="ctr"/>
          <a:lstStyle/>
          <a:p>
            <a:pPr algn="ctr"/>
          </a:p>
        </p:txBody>
      </p:sp>
      <p:sp>
        <p:nvSpPr>
          <p:cNvPr id="33" name="TextBox 32"/>
          <p:cNvSpPr txBox="1"/>
          <p:nvPr/>
        </p:nvSpPr>
        <p:spPr>
          <a:xfrm>
            <a:off x="1164059" y="3707637"/>
            <a:ext cx="7400000" cy="220000"/>
          </a:xfrm>
          <a:prstGeom prst="rect">
            <a:avLst/>
          </a:prstGeom>
          <a:noFill/>
        </p:spPr>
        <p:txBody>
          <a:bodyPr wrap="square" anchor="t" lIns="0" rIns="0" tIns="0" bIns="0">
            <a:spAutoFit/>
          </a:bodyPr>
          <a:lstStyle/>
          <a:p>
            <a:r>
              <a:rPr sz="1150" b="1">
                <a:solidFill>
                  <a:srgbClr val="3B3535"/>
                </a:solidFill>
                <a:latin typeface="Helvetica"/>
              </a:rPr>
              <a:t>Advanced: Subagentes y Plugins</a:t>
            </a:r>
          </a:p>
        </p:txBody>
      </p:sp>
      <p:sp>
        <p:nvSpPr>
          <p:cNvPr id="34" name="TextBox 33"/>
          <p:cNvSpPr txBox="1"/>
          <p:nvPr/>
        </p:nvSpPr>
        <p:spPr>
          <a:xfrm>
            <a:off x="1164059" y="3947637"/>
            <a:ext cx="7499300" cy="180000"/>
          </a:xfrm>
          <a:prstGeom prst="rect">
            <a:avLst/>
          </a:prstGeom>
          <a:noFill/>
        </p:spPr>
        <p:txBody>
          <a:bodyPr wrap="square" anchor="t" lIns="0" rIns="0" tIns="0" bIns="0">
            <a:spAutoFit/>
          </a:bodyPr>
          <a:lstStyle/>
          <a:p>
            <a:r>
              <a:rPr sz="850">
                <a:solidFill>
                  <a:srgbClr val="3B3535"/>
                </a:solidFill>
                <a:latin typeface="Helvetica"/>
              </a:rPr>
              <a:t>Subagentes y Plugins</a:t>
            </a:r>
          </a:p>
        </p:txBody>
      </p:sp>
      <p:sp>
        <p:nvSpPr>
          <p:cNvPr id="35" name="Rounded Rectangle 34"/>
          <p:cNvSpPr/>
          <p:nvPr/>
        </p:nvSpPr>
        <p:spPr>
          <a:xfrm>
            <a:off x="480603" y="4238330"/>
            <a:ext cx="250999" cy="250999"/>
          </a:xfrm>
          <a:prstGeom prst="roundRect">
            <a:avLst/>
          </a:prstGeom>
          <a:solidFill>
            <a:srgbClr val="F2EEEE"/>
          </a:solidFill>
          <a:ln>
            <a:noFill/>
          </a:ln>
          <a:effectLst/>
        </p:spPr>
        <p:txBody>
          <a:bodyPr rtlCol="0" anchor="ctr"/>
          <a:lstStyle/>
          <a:p>
            <a:pPr algn="ctr"/>
          </a:p>
        </p:txBody>
      </p:sp>
      <p:sp>
        <p:nvSpPr>
          <p:cNvPr id="36" name="TextBox 35"/>
          <p:cNvSpPr txBox="1"/>
          <p:nvPr/>
        </p:nvSpPr>
        <p:spPr>
          <a:xfrm>
            <a:off x="522387" y="4259203"/>
            <a:ext cx="167357" cy="209178"/>
          </a:xfrm>
          <a:prstGeom prst="rect">
            <a:avLst/>
          </a:prstGeom>
          <a:noFill/>
        </p:spPr>
        <p:txBody>
          <a:bodyPr wrap="none" anchor="ctr" lIns="0" rIns="0" tIns="0" bIns="0">
            <a:spAutoFit/>
          </a:bodyPr>
          <a:lstStyle/>
          <a:p>
            <a:pPr algn="ctr"/>
            <a:r>
              <a:rPr sz="1300" b="1">
                <a:solidFill>
                  <a:srgbClr val="3B3535"/>
                </a:solidFill>
                <a:latin typeface="Helvetica"/>
              </a:rPr>
              <a:t>7</a:t>
            </a:r>
          </a:p>
        </p:txBody>
      </p:sp>
      <p:sp>
        <p:nvSpPr>
          <p:cNvPr id="37" name="Rounded Rectangle 36"/>
          <p:cNvSpPr/>
          <p:nvPr/>
        </p:nvSpPr>
        <p:spPr>
          <a:xfrm>
            <a:off x="717314" y="4356649"/>
            <a:ext cx="334714" cy="14288"/>
          </a:xfrm>
          <a:prstGeom prst="roundRect">
            <a:avLst/>
          </a:prstGeom>
          <a:solidFill>
            <a:srgbClr val="D8D4D4"/>
          </a:solidFill>
          <a:ln>
            <a:noFill/>
          </a:ln>
          <a:effectLst/>
        </p:spPr>
        <p:txBody>
          <a:bodyPr rtlCol="0" anchor="ctr"/>
          <a:lstStyle/>
          <a:p>
            <a:pPr algn="ctr"/>
          </a:p>
        </p:txBody>
      </p:sp>
      <p:sp>
        <p:nvSpPr>
          <p:cNvPr id="38" name="TextBox 37"/>
          <p:cNvSpPr txBox="1"/>
          <p:nvPr/>
        </p:nvSpPr>
        <p:spPr>
          <a:xfrm>
            <a:off x="1164059" y="4248330"/>
            <a:ext cx="7400000" cy="220000"/>
          </a:xfrm>
          <a:prstGeom prst="rect">
            <a:avLst/>
          </a:prstGeom>
          <a:noFill/>
        </p:spPr>
        <p:txBody>
          <a:bodyPr wrap="square" anchor="t" lIns="0" rIns="0" tIns="0" bIns="0">
            <a:spAutoFit/>
          </a:bodyPr>
          <a:lstStyle/>
          <a:p>
            <a:r>
              <a:rPr sz="1150" b="1">
                <a:solidFill>
                  <a:srgbClr val="3B3535"/>
                </a:solidFill>
                <a:latin typeface="Helvetica"/>
              </a:rPr>
              <a:t>Conclusions</a:t>
            </a:r>
          </a:p>
        </p:txBody>
      </p:sp>
      <p:sp>
        <p:nvSpPr>
          <p:cNvPr id="39" name="TextBox 38"/>
          <p:cNvSpPr txBox="1"/>
          <p:nvPr/>
        </p:nvSpPr>
        <p:spPr>
          <a:xfrm>
            <a:off x="1164059" y="4488330"/>
            <a:ext cx="7499300" cy="180000"/>
          </a:xfrm>
          <a:prstGeom prst="rect">
            <a:avLst/>
          </a:prstGeom>
          <a:noFill/>
        </p:spPr>
        <p:txBody>
          <a:bodyPr wrap="square" anchor="t" lIns="0" rIns="0" tIns="0" bIns="0">
            <a:spAutoFit/>
          </a:bodyPr>
          <a:lstStyle/>
          <a:p>
            <a:r>
              <a:rPr sz="850">
                <a:solidFill>
                  <a:srgbClr val="3B3535"/>
                </a:solidFill>
                <a:latin typeface="Helvetica"/>
              </a:rPr>
              <a:t>El loop completo y la gobernanza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338681"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DE CHAT A AGENTE</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3100" b="1">
                <a:solidFill>
                  <a:srgbClr val="1F1E1E"/>
                </a:solidFill>
                <a:latin typeface="Helvetica"/>
              </a:rPr>
              <a:t>Las tres superficies de Claude</a:t>
            </a:r>
          </a:p>
        </p:txBody>
      </p:sp>
      <p:sp>
        <p:nvSpPr>
          <p:cNvPr id="5" name="TextBox 4"/>
          <p:cNvSpPr txBox="1"/>
          <p:nvPr/>
        </p:nvSpPr>
        <p:spPr>
          <a:xfrm>
            <a:off x="457200" y="1353312"/>
            <a:ext cx="5029200" cy="3561587"/>
          </a:xfrm>
          <a:prstGeom prst="rect">
            <a:avLst/>
          </a:prstGeom>
          <a:noFill/>
        </p:spPr>
        <p:txBody>
          <a:bodyPr wrap="square" anchor="t" lIns="0" rIns="0" tIns="0" bIns="0">
            <a:spAutoFit/>
          </a:bodyPr>
          <a:lstStyle/>
          <a:p>
            <a:pPr>
              <a:lnSpc>
                <a:spcPct val="103000"/>
              </a:lnSpc>
              <a:spcBef>
                <a:spcPts val="0"/>
              </a:spcBef>
              <a:spcAft>
                <a:spcPts val="300"/>
              </a:spcAft>
            </a:pPr>
            <a:r>
              <a:rPr sz="1100" b="1">
                <a:solidFill>
                  <a:srgbClr val="DA1B2E"/>
                </a:solidFill>
                <a:latin typeface="Helvetica"/>
              </a:rPr>
              <a:t>▪  </a:t>
            </a:r>
            <a:r>
              <a:rPr sz="1100" b="0" i="0">
                <a:solidFill>
                  <a:srgbClr val="3B3535"/>
                </a:solidFill>
                <a:latin typeface="Helvetica"/>
              </a:rPr>
              <a:t>Mismos modelos, distinta superficie: las tres caras — </a:t>
            </a:r>
            <a:r>
              <a:rPr sz="1100" b="1" i="0">
                <a:solidFill>
                  <a:srgbClr val="1F1E1E"/>
                </a:solidFill>
                <a:latin typeface="Helvetica"/>
              </a:rPr>
              <a:t>Web/Chat</a:t>
            </a:r>
            <a:r>
              <a:rPr sz="1100" b="0" i="0">
                <a:solidFill>
                  <a:srgbClr val="3B3535"/>
                </a:solidFill>
                <a:latin typeface="Helvetica"/>
              </a:rPr>
              <a:t>, </a:t>
            </a:r>
            <a:r>
              <a:rPr sz="1100" b="1" i="0">
                <a:solidFill>
                  <a:srgbClr val="1F1E1E"/>
                </a:solidFill>
                <a:latin typeface="Helvetica"/>
              </a:rPr>
              <a:t>Claude Code</a:t>
            </a:r>
            <a:r>
              <a:rPr sz="1100" b="0" i="0">
                <a:solidFill>
                  <a:srgbClr val="3B3535"/>
                </a:solidFill>
                <a:latin typeface="Helvetica"/>
              </a:rPr>
              <a:t> y </a:t>
            </a:r>
            <a:r>
              <a:rPr sz="1100" b="1" i="0">
                <a:solidFill>
                  <a:srgbClr val="1F1E1E"/>
                </a:solidFill>
                <a:latin typeface="Helvetica"/>
              </a:rPr>
              <a:t>Cowork</a:t>
            </a:r>
            <a:r>
              <a:rPr sz="1100" b="0" i="0">
                <a:solidFill>
                  <a:srgbClr val="3B3535"/>
                </a:solidFill>
                <a:latin typeface="Helvetica"/>
              </a:rPr>
              <a:t> — corren sobre </a:t>
            </a:r>
            <a:r>
              <a:rPr sz="1100" b="1" i="0">
                <a:solidFill>
                  <a:srgbClr val="1F1E1E"/>
                </a:solidFill>
                <a:latin typeface="Helvetica"/>
              </a:rPr>
              <a:t>los mismos modelos Claude</a:t>
            </a:r>
            <a:r>
              <a:rPr sz="1100" b="0" i="0">
                <a:solidFill>
                  <a:srgbClr val="3B3535"/>
                </a:solidFill>
                <a:latin typeface="Helvetica"/>
              </a:rPr>
              <a:t>. El matiz importa: </a:t>
            </a:r>
            <a:r>
              <a:rPr sz="1100" b="1" i="0">
                <a:solidFill>
                  <a:srgbClr val="1F1E1E"/>
                </a:solidFill>
                <a:latin typeface="Helvetica"/>
              </a:rPr>
              <a:t>Cowork está construido sobre las mismas bases que Claude Code</a:t>
            </a:r>
            <a:r>
              <a:rPr sz="1100" b="0" i="0">
                <a:solidFill>
                  <a:srgbClr val="3B3535"/>
                </a:solidFill>
                <a:latin typeface="Helvetica"/>
              </a:rPr>
              <a:t> (el </a:t>
            </a:r>
            <a:r>
              <a:rPr sz="1100" b="1" i="0">
                <a:solidFill>
                  <a:srgbClr val="1F1E1E"/>
                </a:solidFill>
                <a:latin typeface="Helvetica"/>
              </a:rPr>
              <a:t>Claude Agent SDK</a:t>
            </a:r>
            <a:r>
              <a:rPr sz="1100" b="0" i="0">
                <a:solidFill>
                  <a:srgbClr val="3B3535"/>
                </a:solidFill>
                <a:latin typeface="Helvetica"/>
              </a:rPr>
              <a:t>), así que Code y Cowork comparten el mismo </a:t>
            </a:r>
            <a:r>
              <a:rPr sz="1100" b="0" i="1">
                <a:solidFill>
                  <a:srgbClr val="3B3535"/>
                </a:solidFill>
                <a:latin typeface="Helvetica"/>
              </a:rPr>
              <a:t>engine de agente</a:t>
            </a:r>
            <a:r>
              <a:rPr sz="1100" b="0" i="0">
                <a:solidFill>
                  <a:srgbClr val="3B3535"/>
                </a:solidFill>
                <a:latin typeface="Helvetica"/>
              </a:rPr>
              <a:t> — los mismos archivos, las mismas Skills, el mismo MCP y el mismo loop de plan aprobar redirigir. </a:t>
            </a:r>
            <a:r>
              <a:rPr sz="1100" b="1" i="0">
                <a:solidFill>
                  <a:srgbClr val="1F1E1E"/>
                </a:solidFill>
                <a:latin typeface="Helvetica"/>
              </a:rPr>
              <a:t>Web/Chat</a:t>
            </a:r>
            <a:r>
              <a:rPr sz="1100" b="0" i="0">
                <a:solidFill>
                  <a:srgbClr val="3B3535"/>
                </a:solidFill>
                <a:latin typeface="Helvetica"/>
              </a:rPr>
              <a:t> es ese mismo modelo en una </a:t>
            </a:r>
            <a:r>
              <a:rPr sz="1100" b="1" i="0">
                <a:solidFill>
                  <a:srgbClr val="1F1E1E"/>
                </a:solidFill>
                <a:latin typeface="Helvetica"/>
              </a:rPr>
              <a:t>superficie de chat</a:t>
            </a:r>
            <a:r>
              <a:rPr sz="1100" b="0" i="0">
                <a:solidFill>
                  <a:srgbClr val="3B3535"/>
                </a:solidFill>
                <a:latin typeface="Helvetica"/>
              </a:rPr>
              <a:t>, no el loop agéntico completo.</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Web/Chat</a:t>
            </a:r>
            <a:r>
              <a:rPr sz="1100" b="0" i="0">
                <a:solidFill>
                  <a:srgbClr val="3B3535"/>
                </a:solidFill>
                <a:latin typeface="Helvetica"/>
              </a:rPr>
              <a:t> — navegador o app, sin instalar; chat, preguntas y tareas puntuales; público: todos.</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Claude Code</a:t>
            </a:r>
            <a:r>
              <a:rPr sz="1100" b="0" i="0">
                <a:solidFill>
                  <a:srgbClr val="3B3535"/>
                </a:solidFill>
                <a:latin typeface="Helvetica"/>
              </a:rPr>
              <a:t> — app de escritorio (pestaña Code + terminal); escribir, editar y publicar código; público: perfiles técnicos / developers.</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Cowork</a:t>
            </a:r>
            <a:r>
              <a:rPr sz="1100" b="0" i="0">
                <a:solidFill>
                  <a:srgbClr val="3B3535"/>
                </a:solidFill>
                <a:latin typeface="Helvetica"/>
              </a:rPr>
              <a:t> — app de escritorio (pestaña Cowork), GUI sin terminal; trabajo de varios pasos sobre archivos reales; público: knowledge workers sin terminal. </a:t>
            </a:r>
            <a:r>
              <a:rPr sz="1100" b="1" i="0">
                <a:solidFill>
                  <a:srgbClr val="1F1E1E"/>
                </a:solidFill>
                <a:latin typeface="Helvetica"/>
              </a:rPr>
              <a:t>Esta charla vive acá.</a:t>
            </a:r>
          </a:p>
        </p:txBody>
      </p:sp>
      <p:sp>
        <p:nvSpPr>
          <p:cNvPr id="6" name="Rounded Rectangle 5"/>
          <p:cNvSpPr/>
          <p:nvPr/>
        </p:nvSpPr>
        <p:spPr>
          <a:xfrm>
            <a:off x="5623560" y="2134317"/>
            <a:ext cx="3108960" cy="1999577"/>
          </a:xfrm>
          <a:prstGeom prst="roundRect">
            <a:avLst/>
          </a:prstGeom>
          <a:solidFill>
            <a:srgbClr val="F2EEEE"/>
          </a:solidFill>
          <a:ln>
            <a:noFill/>
          </a:ln>
          <a:effectLst/>
        </p:spPr>
        <p:txBody>
          <a:bodyPr rtlCol="0" anchor="ctr"/>
          <a:lstStyle/>
          <a:p>
            <a:pPr algn="ctr"/>
          </a:p>
        </p:txBody>
      </p:sp>
      <p:pic>
        <p:nvPicPr>
          <p:cNvPr id="7" name="Picture 6" descr="s1-1-1-tres-superficies-claude.png"/>
          <p:cNvPicPr>
            <a:picLocks noChangeAspect="1"/>
          </p:cNvPicPr>
          <p:nvPr/>
        </p:nvPicPr>
        <p:blipFill>
          <a:blip r:embed="rId2"/>
          <a:stretch>
            <a:fillRect/>
          </a:stretch>
        </p:blipFill>
        <p:spPr>
          <a:xfrm>
            <a:off x="5669280" y="2180037"/>
            <a:ext cx="3017520" cy="190813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338681"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DE CHAT A AGENTE</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1700" b="1">
                <a:solidFill>
                  <a:srgbClr val="1F1E1E"/>
                </a:solidFill>
                <a:latin typeface="Helvetica"/>
              </a:rPr>
              <a:t>El superpoder de Cowork: la herramienta de propósito general del knowledge worker</a:t>
            </a:r>
          </a:p>
        </p:txBody>
      </p:sp>
      <p:sp>
        <p:nvSpPr>
          <p:cNvPr id="5" name="TextBox 4"/>
          <p:cNvSpPr txBox="1"/>
          <p:nvPr/>
        </p:nvSpPr>
        <p:spPr>
          <a:xfrm>
            <a:off x="457200" y="1408176"/>
            <a:ext cx="5029200" cy="3506724"/>
          </a:xfrm>
          <a:prstGeom prst="rect">
            <a:avLst/>
          </a:prstGeom>
          <a:noFill/>
        </p:spPr>
        <p:txBody>
          <a:bodyPr wrap="square" anchor="t" lIns="0" rIns="0" tIns="0" bIns="0">
            <a:spAutoFit/>
          </a:bodyPr>
          <a:lstStyle/>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La idea grande.</a:t>
            </a:r>
            <a:r>
              <a:rPr sz="1100" b="0" i="0">
                <a:solidFill>
                  <a:srgbClr val="3B3535"/>
                </a:solidFill>
                <a:latin typeface="Helvetica"/>
              </a:rPr>
              <a:t> </a:t>
            </a:r>
            <a:r>
              <a:rPr sz="1100" b="1" i="0">
                <a:solidFill>
                  <a:srgbClr val="1F1E1E"/>
                </a:solidFill>
                <a:latin typeface="Helvetica"/>
              </a:rPr>
              <a:t>Cowork</a:t>
            </a:r>
            <a:r>
              <a:rPr sz="1100" b="0" i="0">
                <a:solidFill>
                  <a:srgbClr val="3B3535"/>
                </a:solidFill>
                <a:latin typeface="Helvetica"/>
              </a:rPr>
              <a:t> es la </a:t>
            </a:r>
            <a:r>
              <a:rPr sz="1100" b="1" i="0">
                <a:solidFill>
                  <a:srgbClr val="1F1E1E"/>
                </a:solidFill>
                <a:latin typeface="Helvetica"/>
              </a:rPr>
              <a:t>herramienta de propósito general del knowledge worker</a:t>
            </a:r>
            <a:r>
              <a:rPr sz="1100" b="0" i="0">
                <a:solidFill>
                  <a:srgbClr val="3B3535"/>
                </a:solidFill>
                <a:latin typeface="Helvetica"/>
              </a:rPr>
              <a:t> — de quien </a:t>
            </a:r>
            <a:r>
              <a:rPr sz="1100" b="0" i="1">
                <a:solidFill>
                  <a:srgbClr val="3B3535"/>
                </a:solidFill>
                <a:latin typeface="Helvetica"/>
              </a:rPr>
              <a:t>no</a:t>
            </a:r>
            <a:r>
              <a:rPr sz="1100" b="0" i="0">
                <a:solidFill>
                  <a:srgbClr val="3B3535"/>
                </a:solidFill>
                <a:latin typeface="Helvetica"/>
              </a:rPr>
              <a:t> programa. No un asistente de una tarea puntual: una herramienta horizontal para casi cualquier trabajo de conocimiento. Sin base técnica: el "lenguaje de programación" es el español.</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La analogía que "pega" — "el nuevo Excel"</a:t>
            </a:r>
            <a:r>
              <a:rPr sz="1100" b="0" i="0">
                <a:solidFill>
                  <a:srgbClr val="3B3535"/>
                </a:solidFill>
                <a:latin typeface="Helvetica"/>
              </a:rPr>
              <a:t> </a:t>
            </a:r>
            <a:r>
              <a:rPr sz="1100" b="0" i="1">
                <a:solidFill>
                  <a:srgbClr val="3B3535"/>
                </a:solidFill>
                <a:latin typeface="Helvetica"/>
              </a:rPr>
              <a:t>(encuadre de analistas / industria, no un claim de Anthropic).</a:t>
            </a:r>
            <a:r>
              <a:rPr sz="1100" b="0" i="0">
                <a:solidFill>
                  <a:srgbClr val="3B3535"/>
                </a:solidFill>
                <a:latin typeface="Helvetica"/>
              </a:rPr>
              <a:t> Así como Excel fue ~40 años la habilidad base del trabajo de oficina, las herramientas agénticas apuntan a ser </a:t>
            </a:r>
            <a:r>
              <a:rPr sz="1100" b="1" i="0">
                <a:solidFill>
                  <a:srgbClr val="1F1E1E"/>
                </a:solidFill>
                <a:latin typeface="Helvetica"/>
              </a:rPr>
              <a:t>la nueva habilidad base</a:t>
            </a:r>
            <a:r>
              <a:rPr sz="1100" b="0" i="0">
                <a:solidFill>
                  <a:srgbClr val="3B3535"/>
                </a:solidFill>
                <a:latin typeface="Helvetica"/>
              </a:rPr>
              <a:t>.</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El encuadre oficial de Anthropic:</a:t>
            </a:r>
            <a:r>
              <a:rPr sz="1100" b="0" i="0">
                <a:solidFill>
                  <a:srgbClr val="3B3535"/>
                </a:solidFill>
                <a:latin typeface="Helvetica"/>
              </a:rPr>
              <a:t> Cowork como </a:t>
            </a:r>
            <a:r>
              <a:rPr sz="1100" b="1" i="0">
                <a:solidFill>
                  <a:srgbClr val="1F1E1E"/>
                </a:solidFill>
                <a:latin typeface="Helvetica"/>
              </a:rPr>
              <a:t>"Claude Code para el resto de tu trabajo"</a:t>
            </a:r>
            <a:r>
              <a:rPr sz="1100" b="0" i="0">
                <a:solidFill>
                  <a:srgbClr val="3B3535"/>
                </a:solidFill>
                <a:latin typeface="Helvetica"/>
              </a:rPr>
              <a:t>.</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Por qué te importa (bioingeniería).</a:t>
            </a:r>
            <a:r>
              <a:rPr sz="1100" b="0" i="0">
                <a:solidFill>
                  <a:srgbClr val="3B3535"/>
                </a:solidFill>
                <a:latin typeface="Helvetica"/>
              </a:rPr>
              <a:t> La habilidad base del trabajo del conocimiento se redefine ahora; llegar temprano es ventaja concreta y portable.</a:t>
            </a:r>
          </a:p>
        </p:txBody>
      </p:sp>
      <p:sp>
        <p:nvSpPr>
          <p:cNvPr id="6" name="Rounded Rectangle 5"/>
          <p:cNvSpPr/>
          <p:nvPr/>
        </p:nvSpPr>
        <p:spPr>
          <a:xfrm>
            <a:off x="5623560" y="2383626"/>
            <a:ext cx="3108960" cy="1555824"/>
          </a:xfrm>
          <a:prstGeom prst="roundRect">
            <a:avLst/>
          </a:prstGeom>
          <a:solidFill>
            <a:srgbClr val="F2EEEE"/>
          </a:solidFill>
          <a:ln>
            <a:noFill/>
          </a:ln>
          <a:effectLst/>
        </p:spPr>
        <p:txBody>
          <a:bodyPr rtlCol="0" anchor="ctr"/>
          <a:lstStyle/>
          <a:p>
            <a:pPr algn="ctr"/>
          </a:p>
        </p:txBody>
      </p:sp>
      <p:pic>
        <p:nvPicPr>
          <p:cNvPr id="7" name="Picture 6" descr="s1-2-1-excel-a-agentico.png"/>
          <p:cNvPicPr>
            <a:picLocks noChangeAspect="1"/>
          </p:cNvPicPr>
          <p:nvPr/>
        </p:nvPicPr>
        <p:blipFill>
          <a:blip r:embed="rId2"/>
          <a:stretch>
            <a:fillRect/>
          </a:stretch>
        </p:blipFill>
        <p:spPr>
          <a:xfrm>
            <a:off x="5669280" y="2429346"/>
            <a:ext cx="3017520" cy="146438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338681"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DE CHAT A AGENTE</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600" b="1">
                <a:solidFill>
                  <a:srgbClr val="1F1E1E"/>
                </a:solidFill>
                <a:latin typeface="Helvetica"/>
              </a:rPr>
              <a:t>De chat a agente: el cambio de paradigma</a:t>
            </a:r>
          </a:p>
        </p:txBody>
      </p:sp>
      <p:sp>
        <p:nvSpPr>
          <p:cNvPr id="5" name="TextBox 4"/>
          <p:cNvSpPr txBox="1"/>
          <p:nvPr/>
        </p:nvSpPr>
        <p:spPr>
          <a:xfrm>
            <a:off x="457200" y="1261872"/>
            <a:ext cx="8229600" cy="1280160"/>
          </a:xfrm>
          <a:prstGeom prst="rect">
            <a:avLst/>
          </a:prstGeom>
          <a:noFill/>
        </p:spPr>
        <p:txBody>
          <a:bodyPr wrap="square" anchor="t" lIns="0" rIns="0" tIns="0" bIns="0">
            <a:spAutoFit/>
          </a:bodyPr>
          <a:lstStyle/>
          <a:p>
            <a:pPr>
              <a:lnSpc>
                <a:spcPct val="103000"/>
              </a:lnSpc>
              <a:spcBef>
                <a:spcPts val="0"/>
              </a:spcBef>
              <a:spcAft>
                <a:spcPts val="300"/>
              </a:spcAft>
            </a:pPr>
            <a:r>
              <a:rPr sz="1250" b="1">
                <a:solidFill>
                  <a:srgbClr val="DA1B2E"/>
                </a:solidFill>
                <a:latin typeface="Helvetica"/>
              </a:rPr>
              <a:t>▪  </a:t>
            </a:r>
            <a:r>
              <a:rPr sz="1250" b="0" i="0">
                <a:solidFill>
                  <a:srgbClr val="3B3535"/>
                </a:solidFill>
                <a:latin typeface="Helvetica"/>
              </a:rPr>
              <a:t>La frase que resume toda la sesión: </a:t>
            </a:r>
            <a:r>
              <a:rPr sz="1250" b="1" i="0">
                <a:solidFill>
                  <a:srgbClr val="1F1E1E"/>
                </a:solidFill>
                <a:latin typeface="Helvetica"/>
              </a:rPr>
              <a:t>"Dejás de tipear un mensaje a la vez y empezás a entregar un resultado."</a:t>
            </a:r>
            <a:r>
              <a:rPr sz="1250" b="0" i="0">
                <a:solidFill>
                  <a:srgbClr val="3B3535"/>
                </a:solidFill>
                <a:latin typeface="Helvetica"/>
              </a:rPr>
              <a:t> El agente lo planifica, trabaja sobre tus archivos reales, y vos lo guiás — en lugar de hacer cada paso vos mismo.</a:t>
            </a:r>
          </a:p>
          <a:p>
            <a:pPr>
              <a:lnSpc>
                <a:spcPct val="103000"/>
              </a:lnSpc>
              <a:spcBef>
                <a:spcPts val="0"/>
              </a:spcBef>
              <a:spcAft>
                <a:spcPts val="300"/>
              </a:spcAft>
            </a:pPr>
            <a:r>
              <a:rPr sz="1250" b="1">
                <a:solidFill>
                  <a:srgbClr val="DA1B2E"/>
                </a:solidFill>
                <a:latin typeface="Helvetica"/>
              </a:rPr>
              <a:t>▪  </a:t>
            </a:r>
            <a:r>
              <a:rPr sz="1250" b="0" i="0">
                <a:solidFill>
                  <a:srgbClr val="3B3535"/>
                </a:solidFill>
                <a:latin typeface="Helvetica"/>
              </a:rPr>
              <a:t>Cómo lo describe la propia Anthropic: trabajar con Cowork </a:t>
            </a:r>
            <a:r>
              <a:rPr sz="1250" b="0" i="1">
                <a:solidFill>
                  <a:srgbClr val="3B3535"/>
                </a:solidFill>
                <a:latin typeface="Helvetica"/>
              </a:rPr>
              <a:t>"se parece menos a una sesión de chat y más a asignarle tareas a un colega"</a:t>
            </a:r>
            <a:r>
              <a:rPr sz="1250" b="0" i="0">
                <a:solidFill>
                  <a:srgbClr val="3B3535"/>
                </a:solidFill>
                <a:latin typeface="Helvetica"/>
              </a:rPr>
              <a:t> ("less like a chat session and more like assigning tasks to a colleague"). Esa es exactamente la mudanza de paradigma de esta slide.</a:t>
            </a:r>
          </a:p>
          <a:p>
            <a:pPr>
              <a:lnSpc>
                <a:spcPct val="103000"/>
              </a:lnSpc>
              <a:spcBef>
                <a:spcPts val="0"/>
              </a:spcBef>
              <a:spcAft>
                <a:spcPts val="300"/>
              </a:spcAft>
            </a:pPr>
            <a:r>
              <a:rPr sz="1250" b="1">
                <a:solidFill>
                  <a:srgbClr val="DA1B2E"/>
                </a:solidFill>
                <a:latin typeface="Helvetica"/>
              </a:rPr>
              <a:t>▪  </a:t>
            </a:r>
            <a:r>
              <a:rPr sz="1250" b="0" i="0">
                <a:solidFill>
                  <a:srgbClr val="3B3535"/>
                </a:solidFill>
                <a:latin typeface="Helvetica"/>
              </a:rPr>
              <a:t>Chatear vs delegar (no son dos productos, son dos formas de trabajar):</a:t>
            </a:r>
          </a:p>
        </p:txBody>
      </p:sp>
      <p:sp>
        <p:nvSpPr>
          <p:cNvPr id="6" name="Rounded Rectangle 5"/>
          <p:cNvSpPr/>
          <p:nvPr/>
        </p:nvSpPr>
        <p:spPr>
          <a:xfrm>
            <a:off x="457200" y="2633472"/>
            <a:ext cx="1600200" cy="420624"/>
          </a:xfrm>
          <a:prstGeom prst="roundRect">
            <a:avLst/>
          </a:prstGeom>
          <a:solidFill>
            <a:srgbClr val="DA1B2E"/>
          </a:solidFill>
          <a:ln>
            <a:noFill/>
          </a:ln>
          <a:effectLst/>
        </p:spPr>
        <p:txBody>
          <a:bodyPr rtlCol="0" anchor="ctr" wrap="square" lIns="73152" rIns="45720" tIns="0" bIns="0"/>
          <a:lstStyle/>
          <a:p>
            <a:pPr algn="ctr"/>
            <a:r>
              <a:rPr sz="1150" b="1">
                <a:solidFill>
                  <a:srgbClr val="FFFFFF"/>
                </a:solidFill>
                <a:latin typeface="Helvetica"/>
              </a:rPr>
              <a:t/>
            </a:r>
          </a:p>
        </p:txBody>
      </p:sp>
      <p:sp>
        <p:nvSpPr>
          <p:cNvPr id="7" name="Rounded Rectangle 6"/>
          <p:cNvSpPr/>
          <p:nvPr/>
        </p:nvSpPr>
        <p:spPr>
          <a:xfrm>
            <a:off x="2103120" y="2633472"/>
            <a:ext cx="1600200" cy="420624"/>
          </a:xfrm>
          <a:prstGeom prst="roundRect">
            <a:avLst/>
          </a:prstGeom>
          <a:solidFill>
            <a:srgbClr val="DA1B2E"/>
          </a:solidFill>
          <a:ln>
            <a:noFill/>
          </a:ln>
          <a:effectLst/>
        </p:spPr>
        <p:txBody>
          <a:bodyPr rtlCol="0" anchor="ctr" wrap="square" lIns="73152" rIns="45720" tIns="0" bIns="0"/>
          <a:lstStyle/>
          <a:p>
            <a:pPr algn="ctr"/>
            <a:r>
              <a:rPr sz="1150" b="1">
                <a:solidFill>
                  <a:srgbClr val="FFFFFF"/>
                </a:solidFill>
                <a:latin typeface="Helvetica"/>
              </a:rPr>
              <a:t>Chatear</a:t>
            </a:r>
          </a:p>
        </p:txBody>
      </p:sp>
      <p:sp>
        <p:nvSpPr>
          <p:cNvPr id="8" name="Rounded Rectangle 7"/>
          <p:cNvSpPr/>
          <p:nvPr/>
        </p:nvSpPr>
        <p:spPr>
          <a:xfrm>
            <a:off x="3749039" y="2633472"/>
            <a:ext cx="1600200" cy="420624"/>
          </a:xfrm>
          <a:prstGeom prst="roundRect">
            <a:avLst/>
          </a:prstGeom>
          <a:solidFill>
            <a:srgbClr val="DA1B2E"/>
          </a:solidFill>
          <a:ln>
            <a:noFill/>
          </a:ln>
          <a:effectLst/>
        </p:spPr>
        <p:txBody>
          <a:bodyPr rtlCol="0" anchor="ctr" wrap="square" lIns="73152" rIns="45720" tIns="0" bIns="0"/>
          <a:lstStyle/>
          <a:p>
            <a:pPr algn="ctr"/>
            <a:r>
              <a:rPr sz="1150" b="1">
                <a:solidFill>
                  <a:srgbClr val="FFFFFF"/>
                </a:solidFill>
                <a:latin typeface="Helvetica"/>
              </a:rPr>
              <a:t>Delegar a un agente</a:t>
            </a:r>
          </a:p>
        </p:txBody>
      </p:sp>
      <p:sp>
        <p:nvSpPr>
          <p:cNvPr id="9" name="Rounded Rectangle 8"/>
          <p:cNvSpPr/>
          <p:nvPr/>
        </p:nvSpPr>
        <p:spPr>
          <a:xfrm>
            <a:off x="457200" y="3072384"/>
            <a:ext cx="1600200" cy="420624"/>
          </a:xfrm>
          <a:prstGeom prst="roundRect">
            <a:avLst/>
          </a:prstGeom>
          <a:solidFill>
            <a:srgbClr val="F2EEEE"/>
          </a:solidFill>
          <a:ln>
            <a:noFill/>
          </a:ln>
          <a:effectLst/>
        </p:spPr>
        <p:txBody>
          <a:bodyPr rtlCol="0" anchor="ctr" wrap="square" lIns="73152" rIns="45720" tIns="0" bIns="0"/>
          <a:lstStyle/>
          <a:p>
            <a:pPr algn="ctr"/>
            <a:r>
              <a:rPr sz="1150" b="1" i="0">
                <a:solidFill>
                  <a:srgbClr val="3B3535"/>
                </a:solidFill>
                <a:latin typeface="Helvetica"/>
              </a:rPr>
              <a:t>Cómo trabajás</a:t>
            </a:r>
          </a:p>
        </p:txBody>
      </p:sp>
      <p:sp>
        <p:nvSpPr>
          <p:cNvPr id="10" name="Rounded Rectangle 9"/>
          <p:cNvSpPr/>
          <p:nvPr/>
        </p:nvSpPr>
        <p:spPr>
          <a:xfrm>
            <a:off x="2103120" y="3072384"/>
            <a:ext cx="1600200" cy="420624"/>
          </a:xfrm>
          <a:prstGeom prst="roundRect">
            <a:avLst/>
          </a:prstGeom>
          <a:solidFill>
            <a:srgbClr val="F2EEEE"/>
          </a:solidFill>
          <a:ln>
            <a:noFill/>
          </a:ln>
          <a:effectLst/>
        </p:spPr>
        <p:txBody>
          <a:bodyPr rtlCol="0" anchor="ctr" wrap="square" lIns="73152" rIns="45720" tIns="0" bIns="0"/>
          <a:lstStyle/>
          <a:p>
            <a:pPr algn="ctr"/>
            <a:r>
              <a:rPr sz="1150" b="0" i="0">
                <a:solidFill>
                  <a:srgbClr val="3B3535"/>
                </a:solidFill>
                <a:latin typeface="Helvetica"/>
              </a:rPr>
              <a:t>Un mensaje a la vez</a:t>
            </a:r>
          </a:p>
        </p:txBody>
      </p:sp>
      <p:sp>
        <p:nvSpPr>
          <p:cNvPr id="11" name="Rounded Rectangle 10"/>
          <p:cNvSpPr/>
          <p:nvPr/>
        </p:nvSpPr>
        <p:spPr>
          <a:xfrm>
            <a:off x="3749039" y="3072384"/>
            <a:ext cx="1600200" cy="420624"/>
          </a:xfrm>
          <a:prstGeom prst="roundRect">
            <a:avLst/>
          </a:prstGeom>
          <a:solidFill>
            <a:srgbClr val="F2EEEE"/>
          </a:solidFill>
          <a:ln>
            <a:noFill/>
          </a:ln>
          <a:effectLst/>
        </p:spPr>
        <p:txBody>
          <a:bodyPr rtlCol="0" anchor="ctr" wrap="square" lIns="73152" rIns="45720" tIns="0" bIns="0"/>
          <a:lstStyle/>
          <a:p>
            <a:pPr algn="ctr"/>
            <a:r>
              <a:rPr sz="1150" b="0" i="0">
                <a:solidFill>
                  <a:srgbClr val="3B3535"/>
                </a:solidFill>
                <a:latin typeface="Helvetica"/>
              </a:rPr>
              <a:t>Describís un resultado</a:t>
            </a:r>
          </a:p>
        </p:txBody>
      </p:sp>
      <p:sp>
        <p:nvSpPr>
          <p:cNvPr id="12" name="Rounded Rectangle 11"/>
          <p:cNvSpPr/>
          <p:nvPr/>
        </p:nvSpPr>
        <p:spPr>
          <a:xfrm>
            <a:off x="457200" y="3511296"/>
            <a:ext cx="1600200" cy="420624"/>
          </a:xfrm>
          <a:prstGeom prst="roundRect">
            <a:avLst/>
          </a:prstGeom>
          <a:solidFill>
            <a:srgbClr val="F2EEEE"/>
          </a:solidFill>
          <a:ln>
            <a:noFill/>
          </a:ln>
          <a:effectLst/>
        </p:spPr>
        <p:txBody>
          <a:bodyPr rtlCol="0" anchor="ctr" wrap="square" lIns="73152" rIns="45720" tIns="0" bIns="0"/>
          <a:lstStyle/>
          <a:p>
            <a:pPr algn="ctr"/>
            <a:r>
              <a:rPr sz="1150" b="1" i="0">
                <a:solidFill>
                  <a:srgbClr val="3B3535"/>
                </a:solidFill>
                <a:latin typeface="Helvetica"/>
              </a:rPr>
              <a:t>Los pasos</a:t>
            </a:r>
          </a:p>
        </p:txBody>
      </p:sp>
      <p:sp>
        <p:nvSpPr>
          <p:cNvPr id="13" name="Rounded Rectangle 12"/>
          <p:cNvSpPr/>
          <p:nvPr/>
        </p:nvSpPr>
        <p:spPr>
          <a:xfrm>
            <a:off x="2103120" y="3511296"/>
            <a:ext cx="1600200" cy="420624"/>
          </a:xfrm>
          <a:prstGeom prst="roundRect">
            <a:avLst/>
          </a:prstGeom>
          <a:solidFill>
            <a:srgbClr val="F2EEEE"/>
          </a:solidFill>
          <a:ln>
            <a:noFill/>
          </a:ln>
          <a:effectLst/>
        </p:spPr>
        <p:txBody>
          <a:bodyPr rtlCol="0" anchor="ctr" wrap="square" lIns="73152" rIns="45720" tIns="0" bIns="0"/>
          <a:lstStyle/>
          <a:p>
            <a:pPr algn="ctr"/>
            <a:r>
              <a:rPr sz="1150" b="0" i="0">
                <a:solidFill>
                  <a:srgbClr val="3B3535"/>
                </a:solidFill>
                <a:latin typeface="Helvetica"/>
              </a:rPr>
              <a:t>Los hacés vos</a:t>
            </a:r>
          </a:p>
        </p:txBody>
      </p:sp>
      <p:sp>
        <p:nvSpPr>
          <p:cNvPr id="14" name="Rounded Rectangle 13"/>
          <p:cNvSpPr/>
          <p:nvPr/>
        </p:nvSpPr>
        <p:spPr>
          <a:xfrm>
            <a:off x="3749039" y="3511296"/>
            <a:ext cx="1600200" cy="420624"/>
          </a:xfrm>
          <a:prstGeom prst="roundRect">
            <a:avLst/>
          </a:prstGeom>
          <a:solidFill>
            <a:srgbClr val="F2EEEE"/>
          </a:solidFill>
          <a:ln>
            <a:noFill/>
          </a:ln>
          <a:effectLst/>
        </p:spPr>
        <p:txBody>
          <a:bodyPr rtlCol="0" anchor="ctr" wrap="square" lIns="73152" rIns="45720" tIns="0" bIns="0"/>
          <a:lstStyle/>
          <a:p>
            <a:pPr algn="ctr"/>
            <a:r>
              <a:rPr sz="1150" b="0" i="0">
                <a:solidFill>
                  <a:srgbClr val="3B3535"/>
                </a:solidFill>
                <a:latin typeface="Helvetica"/>
              </a:rPr>
              <a:t>El agente planifica y ejecuta</a:t>
            </a:r>
          </a:p>
        </p:txBody>
      </p:sp>
      <p:sp>
        <p:nvSpPr>
          <p:cNvPr id="15" name="Rounded Rectangle 14"/>
          <p:cNvSpPr/>
          <p:nvPr/>
        </p:nvSpPr>
        <p:spPr>
          <a:xfrm>
            <a:off x="457200" y="3950208"/>
            <a:ext cx="1600200" cy="420624"/>
          </a:xfrm>
          <a:prstGeom prst="roundRect">
            <a:avLst/>
          </a:prstGeom>
          <a:solidFill>
            <a:srgbClr val="F2EEEE"/>
          </a:solidFill>
          <a:ln>
            <a:noFill/>
          </a:ln>
          <a:effectLst/>
        </p:spPr>
        <p:txBody>
          <a:bodyPr rtlCol="0" anchor="ctr" wrap="square" lIns="73152" rIns="45720" tIns="0" bIns="0"/>
          <a:lstStyle/>
          <a:p>
            <a:pPr algn="ctr"/>
            <a:r>
              <a:rPr sz="1150" b="1" i="0">
                <a:solidFill>
                  <a:srgbClr val="3B3535"/>
                </a:solidFill>
                <a:latin typeface="Helvetica"/>
              </a:rPr>
              <a:t>La salida</a:t>
            </a:r>
          </a:p>
        </p:txBody>
      </p:sp>
      <p:sp>
        <p:nvSpPr>
          <p:cNvPr id="16" name="Rounded Rectangle 15"/>
          <p:cNvSpPr/>
          <p:nvPr/>
        </p:nvSpPr>
        <p:spPr>
          <a:xfrm>
            <a:off x="2103120" y="3950208"/>
            <a:ext cx="1600200" cy="420624"/>
          </a:xfrm>
          <a:prstGeom prst="roundRect">
            <a:avLst/>
          </a:prstGeom>
          <a:solidFill>
            <a:srgbClr val="F2EEEE"/>
          </a:solidFill>
          <a:ln>
            <a:noFill/>
          </a:ln>
          <a:effectLst/>
        </p:spPr>
        <p:txBody>
          <a:bodyPr rtlCol="0" anchor="ctr" wrap="square" lIns="73152" rIns="45720" tIns="0" bIns="0"/>
          <a:lstStyle/>
          <a:p>
            <a:pPr algn="ctr"/>
            <a:r>
              <a:rPr sz="1150" b="0" i="0">
                <a:solidFill>
                  <a:srgbClr val="3B3535"/>
                </a:solidFill>
                <a:latin typeface="Helvetica"/>
              </a:rPr>
              <a:t>Texto en la ventana</a:t>
            </a:r>
          </a:p>
        </p:txBody>
      </p:sp>
      <p:sp>
        <p:nvSpPr>
          <p:cNvPr id="17" name="Rounded Rectangle 16"/>
          <p:cNvSpPr/>
          <p:nvPr/>
        </p:nvSpPr>
        <p:spPr>
          <a:xfrm>
            <a:off x="3749039" y="3950208"/>
            <a:ext cx="1600200" cy="420624"/>
          </a:xfrm>
          <a:prstGeom prst="roundRect">
            <a:avLst/>
          </a:prstGeom>
          <a:solidFill>
            <a:srgbClr val="F2EEEE"/>
          </a:solidFill>
          <a:ln>
            <a:noFill/>
          </a:ln>
          <a:effectLst/>
        </p:spPr>
        <p:txBody>
          <a:bodyPr rtlCol="0" anchor="ctr" wrap="square" lIns="73152" rIns="45720" tIns="0" bIns="0"/>
          <a:lstStyle/>
          <a:p>
            <a:pPr algn="ctr"/>
            <a:r>
              <a:rPr sz="1150" b="0" i="0">
                <a:solidFill>
                  <a:srgbClr val="3B3535"/>
                </a:solidFill>
                <a:latin typeface="Helvetica"/>
              </a:rPr>
              <a:t>Archivos en tu disco</a:t>
            </a:r>
          </a:p>
        </p:txBody>
      </p:sp>
      <p:sp>
        <p:nvSpPr>
          <p:cNvPr id="18" name="Rounded Rectangle 17"/>
          <p:cNvSpPr/>
          <p:nvPr/>
        </p:nvSpPr>
        <p:spPr>
          <a:xfrm>
            <a:off x="457200" y="4389120"/>
            <a:ext cx="1600200" cy="420624"/>
          </a:xfrm>
          <a:prstGeom prst="roundRect">
            <a:avLst/>
          </a:prstGeom>
          <a:solidFill>
            <a:srgbClr val="F2EEEE"/>
          </a:solidFill>
          <a:ln>
            <a:noFill/>
          </a:ln>
          <a:effectLst/>
        </p:spPr>
        <p:txBody>
          <a:bodyPr rtlCol="0" anchor="ctr" wrap="square" lIns="73152" rIns="45720" tIns="0" bIns="0"/>
          <a:lstStyle/>
          <a:p>
            <a:pPr algn="ctr"/>
            <a:r>
              <a:rPr sz="1150" b="1" i="0">
                <a:solidFill>
                  <a:srgbClr val="3B3535"/>
                </a:solidFill>
                <a:latin typeface="Helvetica"/>
              </a:rPr>
              <a:t>Tu rol</a:t>
            </a:r>
          </a:p>
        </p:txBody>
      </p:sp>
      <p:sp>
        <p:nvSpPr>
          <p:cNvPr id="19" name="Rounded Rectangle 18"/>
          <p:cNvSpPr/>
          <p:nvPr/>
        </p:nvSpPr>
        <p:spPr>
          <a:xfrm>
            <a:off x="2103120" y="4389120"/>
            <a:ext cx="1600200" cy="420624"/>
          </a:xfrm>
          <a:prstGeom prst="roundRect">
            <a:avLst/>
          </a:prstGeom>
          <a:solidFill>
            <a:srgbClr val="F2EEEE"/>
          </a:solidFill>
          <a:ln>
            <a:noFill/>
          </a:ln>
          <a:effectLst/>
        </p:spPr>
        <p:txBody>
          <a:bodyPr rtlCol="0" anchor="ctr" wrap="square" lIns="73152" rIns="45720" tIns="0" bIns="0"/>
          <a:lstStyle/>
          <a:p>
            <a:pPr algn="ctr"/>
            <a:r>
              <a:rPr sz="1150" b="0" i="0">
                <a:solidFill>
                  <a:srgbClr val="3B3535"/>
                </a:solidFill>
                <a:latin typeface="Helvetica"/>
              </a:rPr>
              <a:t>Tipear el próximo prompt</a:t>
            </a:r>
          </a:p>
        </p:txBody>
      </p:sp>
      <p:sp>
        <p:nvSpPr>
          <p:cNvPr id="20" name="Rounded Rectangle 19"/>
          <p:cNvSpPr/>
          <p:nvPr/>
        </p:nvSpPr>
        <p:spPr>
          <a:xfrm>
            <a:off x="3749039" y="4389120"/>
            <a:ext cx="1600200" cy="420624"/>
          </a:xfrm>
          <a:prstGeom prst="roundRect">
            <a:avLst/>
          </a:prstGeom>
          <a:solidFill>
            <a:srgbClr val="F2EEEE"/>
          </a:solidFill>
          <a:ln>
            <a:noFill/>
          </a:ln>
          <a:effectLst/>
        </p:spPr>
        <p:txBody>
          <a:bodyPr rtlCol="0" anchor="ctr" wrap="square" lIns="73152" rIns="45720" tIns="0" bIns="0"/>
          <a:lstStyle/>
          <a:p>
            <a:pPr algn="ctr"/>
            <a:r>
              <a:rPr sz="1150" b="0" i="0">
                <a:solidFill>
                  <a:srgbClr val="3B3535"/>
                </a:solidFill>
                <a:latin typeface="Helvetica"/>
              </a:rPr>
              <a:t>Leer el plan, guiar a mitad de camino</a:t>
            </a:r>
          </a:p>
        </p:txBody>
      </p:sp>
      <p:sp>
        <p:nvSpPr>
          <p:cNvPr id="21" name="Rounded Rectangle 20"/>
          <p:cNvSpPr/>
          <p:nvPr/>
        </p:nvSpPr>
        <p:spPr>
          <a:xfrm>
            <a:off x="5623560" y="2929710"/>
            <a:ext cx="3108960" cy="1688950"/>
          </a:xfrm>
          <a:prstGeom prst="roundRect">
            <a:avLst/>
          </a:prstGeom>
          <a:solidFill>
            <a:srgbClr val="F2EEEE"/>
          </a:solidFill>
          <a:ln>
            <a:noFill/>
          </a:ln>
          <a:effectLst/>
        </p:spPr>
        <p:txBody>
          <a:bodyPr rtlCol="0" anchor="ctr"/>
          <a:lstStyle/>
          <a:p>
            <a:pPr algn="ctr"/>
          </a:p>
        </p:txBody>
      </p:sp>
      <p:pic>
        <p:nvPicPr>
          <p:cNvPr id="22" name="Picture 21" descr="s1-3-1-chat-vs-agente.png"/>
          <p:cNvPicPr>
            <a:picLocks noChangeAspect="1"/>
          </p:cNvPicPr>
          <p:nvPr/>
        </p:nvPicPr>
        <p:blipFill>
          <a:blip r:embed="rId2"/>
          <a:stretch>
            <a:fillRect/>
          </a:stretch>
        </p:blipFill>
        <p:spPr>
          <a:xfrm>
            <a:off x="5669280" y="2975430"/>
            <a:ext cx="3017520" cy="159751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TextBox 2"/>
          <p:cNvSpPr txBox="1"/>
          <p:nvPr/>
        </p:nvSpPr>
        <p:spPr>
          <a:xfrm>
            <a:off x="480974" y="504748"/>
            <a:ext cx="3246120" cy="365760"/>
          </a:xfrm>
          <a:prstGeom prst="rect">
            <a:avLst/>
          </a:prstGeom>
          <a:noFill/>
        </p:spPr>
        <p:txBody>
          <a:bodyPr wrap="square" anchor="t" lIns="0" rIns="0" tIns="0" bIns="0">
            <a:spAutoFit/>
          </a:bodyPr>
          <a:lstStyle/>
          <a:p>
            <a:r>
              <a:rPr sz="2150" b="1">
                <a:solidFill>
                  <a:srgbClr val="1F1E1E"/>
                </a:solidFill>
                <a:latin typeface="Helvetica"/>
              </a:rPr>
              <a:t>Agenda</a:t>
            </a:r>
          </a:p>
        </p:txBody>
      </p:sp>
      <p:sp>
        <p:nvSpPr>
          <p:cNvPr id="4" name="Rounded Rectangle 3"/>
          <p:cNvSpPr/>
          <p:nvPr/>
        </p:nvSpPr>
        <p:spPr>
          <a:xfrm>
            <a:off x="606103" y="994172"/>
            <a:ext cx="14288" cy="3644354"/>
          </a:xfrm>
          <a:prstGeom prst="roundRect">
            <a:avLst/>
          </a:prstGeom>
          <a:solidFill>
            <a:srgbClr val="D8D4D4"/>
          </a:solidFill>
          <a:ln>
            <a:noFill/>
          </a:ln>
          <a:effectLst/>
        </p:spPr>
        <p:txBody>
          <a:bodyPr rtlCol="0" anchor="ctr"/>
          <a:lstStyle/>
          <a:p>
            <a:pPr algn="ctr"/>
          </a:p>
        </p:txBody>
      </p:sp>
      <p:sp>
        <p:nvSpPr>
          <p:cNvPr id="5" name="Rounded Rectangle 4"/>
          <p:cNvSpPr/>
          <p:nvPr/>
        </p:nvSpPr>
        <p:spPr>
          <a:xfrm>
            <a:off x="480603" y="994172"/>
            <a:ext cx="250999" cy="250999"/>
          </a:xfrm>
          <a:prstGeom prst="roundRect">
            <a:avLst/>
          </a:prstGeom>
          <a:solidFill>
            <a:srgbClr val="F2EEEE"/>
          </a:solidFill>
          <a:ln>
            <a:noFill/>
          </a:ln>
          <a:effectLst/>
        </p:spPr>
        <p:txBody>
          <a:bodyPr rtlCol="0" anchor="ctr"/>
          <a:lstStyle/>
          <a:p>
            <a:pPr algn="ctr"/>
          </a:p>
        </p:txBody>
      </p:sp>
      <p:sp>
        <p:nvSpPr>
          <p:cNvPr id="6" name="TextBox 5"/>
          <p:cNvSpPr txBox="1"/>
          <p:nvPr/>
        </p:nvSpPr>
        <p:spPr>
          <a:xfrm>
            <a:off x="522387" y="1015045"/>
            <a:ext cx="167357" cy="209178"/>
          </a:xfrm>
          <a:prstGeom prst="rect">
            <a:avLst/>
          </a:prstGeom>
          <a:noFill/>
        </p:spPr>
        <p:txBody>
          <a:bodyPr wrap="none" anchor="ctr" lIns="0" rIns="0" tIns="0" bIns="0">
            <a:spAutoFit/>
          </a:bodyPr>
          <a:lstStyle/>
          <a:p>
            <a:pPr algn="ctr"/>
            <a:r>
              <a:rPr sz="1300" b="1">
                <a:solidFill>
                  <a:srgbClr val="3B3535"/>
                </a:solidFill>
                <a:latin typeface="Helvetica"/>
              </a:rPr>
              <a:t>1</a:t>
            </a:r>
          </a:p>
        </p:txBody>
      </p:sp>
      <p:sp>
        <p:nvSpPr>
          <p:cNvPr id="7" name="Rounded Rectangle 6"/>
          <p:cNvSpPr/>
          <p:nvPr/>
        </p:nvSpPr>
        <p:spPr>
          <a:xfrm>
            <a:off x="717314" y="1112491"/>
            <a:ext cx="334714" cy="14288"/>
          </a:xfrm>
          <a:prstGeom prst="roundRect">
            <a:avLst/>
          </a:prstGeom>
          <a:solidFill>
            <a:srgbClr val="D8D4D4"/>
          </a:solidFill>
          <a:ln>
            <a:noFill/>
          </a:ln>
          <a:effectLst/>
        </p:spPr>
        <p:txBody>
          <a:bodyPr rtlCol="0" anchor="ctr"/>
          <a:lstStyle/>
          <a:p>
            <a:pPr algn="ctr"/>
          </a:p>
        </p:txBody>
      </p:sp>
      <p:sp>
        <p:nvSpPr>
          <p:cNvPr id="8" name="TextBox 7"/>
          <p:cNvSpPr txBox="1"/>
          <p:nvPr/>
        </p:nvSpPr>
        <p:spPr>
          <a:xfrm>
            <a:off x="1164059" y="1004172"/>
            <a:ext cx="7400000" cy="220000"/>
          </a:xfrm>
          <a:prstGeom prst="rect">
            <a:avLst/>
          </a:prstGeom>
          <a:noFill/>
        </p:spPr>
        <p:txBody>
          <a:bodyPr wrap="square" anchor="t" lIns="0" rIns="0" tIns="0" bIns="0">
            <a:spAutoFit/>
          </a:bodyPr>
          <a:lstStyle/>
          <a:p>
            <a:r>
              <a:rPr sz="1150" b="1">
                <a:solidFill>
                  <a:srgbClr val="3B3535"/>
                </a:solidFill>
                <a:latin typeface="Helvetica"/>
              </a:rPr>
              <a:t>De chat a agente: dónde encaja Cowork</a:t>
            </a:r>
          </a:p>
        </p:txBody>
      </p:sp>
      <p:sp>
        <p:nvSpPr>
          <p:cNvPr id="9" name="TextBox 8"/>
          <p:cNvSpPr txBox="1"/>
          <p:nvPr/>
        </p:nvSpPr>
        <p:spPr>
          <a:xfrm>
            <a:off x="1164059" y="1244172"/>
            <a:ext cx="7499300" cy="180000"/>
          </a:xfrm>
          <a:prstGeom prst="rect">
            <a:avLst/>
          </a:prstGeom>
          <a:noFill/>
        </p:spPr>
        <p:txBody>
          <a:bodyPr wrap="square" anchor="t" lIns="0" rIns="0" tIns="0" bIns="0">
            <a:spAutoFit/>
          </a:bodyPr>
          <a:lstStyle/>
          <a:p>
            <a:r>
              <a:rPr sz="850">
                <a:solidFill>
                  <a:srgbClr val="3B3535"/>
                </a:solidFill>
                <a:latin typeface="Helvetica"/>
              </a:rPr>
              <a:t>De chatear a delegar: dónde vive Cowork</a:t>
            </a:r>
          </a:p>
        </p:txBody>
      </p:sp>
      <p:sp>
        <p:nvSpPr>
          <p:cNvPr id="10" name="Rounded Rectangle 9"/>
          <p:cNvSpPr/>
          <p:nvPr/>
        </p:nvSpPr>
        <p:spPr>
          <a:xfrm>
            <a:off x="480603" y="1534865"/>
            <a:ext cx="250999" cy="250999"/>
          </a:xfrm>
          <a:prstGeom prst="roundRect">
            <a:avLst/>
          </a:prstGeom>
          <a:solidFill>
            <a:srgbClr val="DA1B2E"/>
          </a:solidFill>
          <a:ln>
            <a:noFill/>
          </a:ln>
          <a:effectLst/>
        </p:spPr>
        <p:txBody>
          <a:bodyPr rtlCol="0" anchor="ctr"/>
          <a:lstStyle/>
          <a:p>
            <a:pPr algn="ctr"/>
          </a:p>
        </p:txBody>
      </p:sp>
      <p:sp>
        <p:nvSpPr>
          <p:cNvPr id="11" name="TextBox 10"/>
          <p:cNvSpPr txBox="1"/>
          <p:nvPr/>
        </p:nvSpPr>
        <p:spPr>
          <a:xfrm>
            <a:off x="522387" y="1555738"/>
            <a:ext cx="167357" cy="209178"/>
          </a:xfrm>
          <a:prstGeom prst="rect">
            <a:avLst/>
          </a:prstGeom>
          <a:noFill/>
        </p:spPr>
        <p:txBody>
          <a:bodyPr wrap="none" anchor="ctr" lIns="0" rIns="0" tIns="0" bIns="0">
            <a:spAutoFit/>
          </a:bodyPr>
          <a:lstStyle/>
          <a:p>
            <a:pPr algn="ctr"/>
            <a:r>
              <a:rPr sz="1300" b="1">
                <a:solidFill>
                  <a:srgbClr val="FFFFFF"/>
                </a:solidFill>
                <a:latin typeface="Helvetica"/>
              </a:rPr>
              <a:t>2</a:t>
            </a:r>
          </a:p>
        </p:txBody>
      </p:sp>
      <p:sp>
        <p:nvSpPr>
          <p:cNvPr id="12" name="Rounded Rectangle 11"/>
          <p:cNvSpPr/>
          <p:nvPr/>
        </p:nvSpPr>
        <p:spPr>
          <a:xfrm>
            <a:off x="717314" y="1653184"/>
            <a:ext cx="334714" cy="14288"/>
          </a:xfrm>
          <a:prstGeom prst="roundRect">
            <a:avLst/>
          </a:prstGeom>
          <a:solidFill>
            <a:srgbClr val="F33447"/>
          </a:solidFill>
          <a:ln>
            <a:noFill/>
          </a:ln>
          <a:effectLst/>
        </p:spPr>
        <p:txBody>
          <a:bodyPr rtlCol="0" anchor="ctr"/>
          <a:lstStyle/>
          <a:p>
            <a:pPr algn="ctr"/>
          </a:p>
        </p:txBody>
      </p:sp>
      <p:sp>
        <p:nvSpPr>
          <p:cNvPr id="13" name="TextBox 12"/>
          <p:cNvSpPr txBox="1"/>
          <p:nvPr/>
        </p:nvSpPr>
        <p:spPr>
          <a:xfrm>
            <a:off x="1164059" y="1544865"/>
            <a:ext cx="7400000" cy="220000"/>
          </a:xfrm>
          <a:prstGeom prst="rect">
            <a:avLst/>
          </a:prstGeom>
          <a:noFill/>
        </p:spPr>
        <p:txBody>
          <a:bodyPr wrap="square" anchor="t" lIns="0" rIns="0" tIns="0" bIns="0">
            <a:spAutoFit/>
          </a:bodyPr>
          <a:lstStyle/>
          <a:p>
            <a:r>
              <a:rPr sz="1150" b="1">
                <a:solidFill>
                  <a:srgbClr val="1F1E1E"/>
                </a:solidFill>
                <a:latin typeface="Helvetica"/>
              </a:rPr>
              <a:t>Lo básico: interfaz, Instrucciones y Projects</a:t>
            </a:r>
          </a:p>
        </p:txBody>
      </p:sp>
      <p:sp>
        <p:nvSpPr>
          <p:cNvPr id="14" name="TextBox 13"/>
          <p:cNvSpPr txBox="1"/>
          <p:nvPr/>
        </p:nvSpPr>
        <p:spPr>
          <a:xfrm>
            <a:off x="1164059" y="1784865"/>
            <a:ext cx="7499300" cy="180000"/>
          </a:xfrm>
          <a:prstGeom prst="rect">
            <a:avLst/>
          </a:prstGeom>
          <a:noFill/>
        </p:spPr>
        <p:txBody>
          <a:bodyPr wrap="square" anchor="t" lIns="0" rIns="0" tIns="0" bIns="0">
            <a:spAutoFit/>
          </a:bodyPr>
          <a:lstStyle/>
          <a:p>
            <a:r>
              <a:rPr sz="850">
                <a:solidFill>
                  <a:srgbClr val="3B3535"/>
                </a:solidFill>
                <a:latin typeface="Helvetica"/>
              </a:rPr>
              <a:t>Interfaz, Instrucciones y Projects</a:t>
            </a:r>
          </a:p>
        </p:txBody>
      </p:sp>
      <p:sp>
        <p:nvSpPr>
          <p:cNvPr id="15" name="Rounded Rectangle 14"/>
          <p:cNvSpPr/>
          <p:nvPr/>
        </p:nvSpPr>
        <p:spPr>
          <a:xfrm>
            <a:off x="480603" y="2075558"/>
            <a:ext cx="250999" cy="250999"/>
          </a:xfrm>
          <a:prstGeom prst="roundRect">
            <a:avLst/>
          </a:prstGeom>
          <a:solidFill>
            <a:srgbClr val="F2EEEE"/>
          </a:solidFill>
          <a:ln>
            <a:noFill/>
          </a:ln>
          <a:effectLst/>
        </p:spPr>
        <p:txBody>
          <a:bodyPr rtlCol="0" anchor="ctr"/>
          <a:lstStyle/>
          <a:p>
            <a:pPr algn="ctr"/>
          </a:p>
        </p:txBody>
      </p:sp>
      <p:sp>
        <p:nvSpPr>
          <p:cNvPr id="16" name="TextBox 15"/>
          <p:cNvSpPr txBox="1"/>
          <p:nvPr/>
        </p:nvSpPr>
        <p:spPr>
          <a:xfrm>
            <a:off x="522387" y="2096431"/>
            <a:ext cx="167357" cy="209178"/>
          </a:xfrm>
          <a:prstGeom prst="rect">
            <a:avLst/>
          </a:prstGeom>
          <a:noFill/>
        </p:spPr>
        <p:txBody>
          <a:bodyPr wrap="none" anchor="ctr" lIns="0" rIns="0" tIns="0" bIns="0">
            <a:spAutoFit/>
          </a:bodyPr>
          <a:lstStyle/>
          <a:p>
            <a:pPr algn="ctr"/>
            <a:r>
              <a:rPr sz="1300" b="1">
                <a:solidFill>
                  <a:srgbClr val="3B3535"/>
                </a:solidFill>
                <a:latin typeface="Helvetica"/>
              </a:rPr>
              <a:t>3</a:t>
            </a:r>
          </a:p>
        </p:txBody>
      </p:sp>
      <p:sp>
        <p:nvSpPr>
          <p:cNvPr id="17" name="Rounded Rectangle 16"/>
          <p:cNvSpPr/>
          <p:nvPr/>
        </p:nvSpPr>
        <p:spPr>
          <a:xfrm>
            <a:off x="717314" y="2193877"/>
            <a:ext cx="334714" cy="14288"/>
          </a:xfrm>
          <a:prstGeom prst="roundRect">
            <a:avLst/>
          </a:prstGeom>
          <a:solidFill>
            <a:srgbClr val="D8D4D4"/>
          </a:solidFill>
          <a:ln>
            <a:noFill/>
          </a:ln>
          <a:effectLst/>
        </p:spPr>
        <p:txBody>
          <a:bodyPr rtlCol="0" anchor="ctr"/>
          <a:lstStyle/>
          <a:p>
            <a:pPr algn="ctr"/>
          </a:p>
        </p:txBody>
      </p:sp>
      <p:sp>
        <p:nvSpPr>
          <p:cNvPr id="18" name="TextBox 17"/>
          <p:cNvSpPr txBox="1"/>
          <p:nvPr/>
        </p:nvSpPr>
        <p:spPr>
          <a:xfrm>
            <a:off x="1164059" y="2085558"/>
            <a:ext cx="7400000" cy="220000"/>
          </a:xfrm>
          <a:prstGeom prst="rect">
            <a:avLst/>
          </a:prstGeom>
          <a:noFill/>
        </p:spPr>
        <p:txBody>
          <a:bodyPr wrap="square" anchor="t" lIns="0" rIns="0" tIns="0" bIns="0">
            <a:spAutoFit/>
          </a:bodyPr>
          <a:lstStyle/>
          <a:p>
            <a:r>
              <a:rPr sz="1150" b="1">
                <a:solidFill>
                  <a:srgbClr val="3B3535"/>
                </a:solidFill>
                <a:latin typeface="Helvetica"/>
              </a:rPr>
              <a:t>Extender Cowork: Skills y el rol de los archivos MD / metadata</a:t>
            </a:r>
          </a:p>
        </p:txBody>
      </p:sp>
      <p:sp>
        <p:nvSpPr>
          <p:cNvPr id="19" name="TextBox 18"/>
          <p:cNvSpPr txBox="1"/>
          <p:nvPr/>
        </p:nvSpPr>
        <p:spPr>
          <a:xfrm>
            <a:off x="1164059" y="2325558"/>
            <a:ext cx="7499300" cy="180000"/>
          </a:xfrm>
          <a:prstGeom prst="rect">
            <a:avLst/>
          </a:prstGeom>
          <a:noFill/>
        </p:spPr>
        <p:txBody>
          <a:bodyPr wrap="square" anchor="t" lIns="0" rIns="0" tIns="0" bIns="0">
            <a:spAutoFit/>
          </a:bodyPr>
          <a:lstStyle/>
          <a:p>
            <a:r>
              <a:rPr sz="850">
                <a:solidFill>
                  <a:srgbClr val="3B3535"/>
                </a:solidFill>
                <a:latin typeface="Helvetica"/>
              </a:rPr>
              <a:t>Skills y los archivos MD / metadata</a:t>
            </a:r>
          </a:p>
        </p:txBody>
      </p:sp>
      <p:sp>
        <p:nvSpPr>
          <p:cNvPr id="20" name="Rounded Rectangle 19"/>
          <p:cNvSpPr/>
          <p:nvPr/>
        </p:nvSpPr>
        <p:spPr>
          <a:xfrm>
            <a:off x="480603" y="2616251"/>
            <a:ext cx="250999" cy="250999"/>
          </a:xfrm>
          <a:prstGeom prst="roundRect">
            <a:avLst/>
          </a:prstGeom>
          <a:solidFill>
            <a:srgbClr val="F2EEEE"/>
          </a:solidFill>
          <a:ln>
            <a:noFill/>
          </a:ln>
          <a:effectLst/>
        </p:spPr>
        <p:txBody>
          <a:bodyPr rtlCol="0" anchor="ctr"/>
          <a:lstStyle/>
          <a:p>
            <a:pPr algn="ctr"/>
          </a:p>
        </p:txBody>
      </p:sp>
      <p:sp>
        <p:nvSpPr>
          <p:cNvPr id="21" name="TextBox 20"/>
          <p:cNvSpPr txBox="1"/>
          <p:nvPr/>
        </p:nvSpPr>
        <p:spPr>
          <a:xfrm>
            <a:off x="522387" y="2637124"/>
            <a:ext cx="167357" cy="209178"/>
          </a:xfrm>
          <a:prstGeom prst="rect">
            <a:avLst/>
          </a:prstGeom>
          <a:noFill/>
        </p:spPr>
        <p:txBody>
          <a:bodyPr wrap="none" anchor="ctr" lIns="0" rIns="0" tIns="0" bIns="0">
            <a:spAutoFit/>
          </a:bodyPr>
          <a:lstStyle/>
          <a:p>
            <a:pPr algn="ctr"/>
            <a:r>
              <a:rPr sz="1300" b="1">
                <a:solidFill>
                  <a:srgbClr val="3B3535"/>
                </a:solidFill>
                <a:latin typeface="Helvetica"/>
              </a:rPr>
              <a:t>4</a:t>
            </a:r>
          </a:p>
        </p:txBody>
      </p:sp>
      <p:sp>
        <p:nvSpPr>
          <p:cNvPr id="22" name="Rounded Rectangle 21"/>
          <p:cNvSpPr/>
          <p:nvPr/>
        </p:nvSpPr>
        <p:spPr>
          <a:xfrm>
            <a:off x="717314" y="2734570"/>
            <a:ext cx="334714" cy="14288"/>
          </a:xfrm>
          <a:prstGeom prst="roundRect">
            <a:avLst/>
          </a:prstGeom>
          <a:solidFill>
            <a:srgbClr val="D8D4D4"/>
          </a:solidFill>
          <a:ln>
            <a:noFill/>
          </a:ln>
          <a:effectLst/>
        </p:spPr>
        <p:txBody>
          <a:bodyPr rtlCol="0" anchor="ctr"/>
          <a:lstStyle/>
          <a:p>
            <a:pPr algn="ctr"/>
          </a:p>
        </p:txBody>
      </p:sp>
      <p:sp>
        <p:nvSpPr>
          <p:cNvPr id="23" name="TextBox 22"/>
          <p:cNvSpPr txBox="1"/>
          <p:nvPr/>
        </p:nvSpPr>
        <p:spPr>
          <a:xfrm>
            <a:off x="1164059" y="2626251"/>
            <a:ext cx="7400000" cy="220000"/>
          </a:xfrm>
          <a:prstGeom prst="rect">
            <a:avLst/>
          </a:prstGeom>
          <a:noFill/>
        </p:spPr>
        <p:txBody>
          <a:bodyPr wrap="square" anchor="t" lIns="0" rIns="0" tIns="0" bIns="0">
            <a:spAutoFit/>
          </a:bodyPr>
          <a:lstStyle/>
          <a:p>
            <a:r>
              <a:rPr sz="1150" b="1">
                <a:solidFill>
                  <a:srgbClr val="3B3535"/>
                </a:solidFill>
                <a:latin typeface="Helvetica"/>
              </a:rPr>
              <a:t>Conectar y automatizar: Connectors/MCP y Schedule</a:t>
            </a:r>
          </a:p>
        </p:txBody>
      </p:sp>
      <p:sp>
        <p:nvSpPr>
          <p:cNvPr id="24" name="TextBox 23"/>
          <p:cNvSpPr txBox="1"/>
          <p:nvPr/>
        </p:nvSpPr>
        <p:spPr>
          <a:xfrm>
            <a:off x="1164059" y="2866251"/>
            <a:ext cx="7499300" cy="180000"/>
          </a:xfrm>
          <a:prstGeom prst="rect">
            <a:avLst/>
          </a:prstGeom>
          <a:noFill/>
        </p:spPr>
        <p:txBody>
          <a:bodyPr wrap="square" anchor="t" lIns="0" rIns="0" tIns="0" bIns="0">
            <a:spAutoFit/>
          </a:bodyPr>
          <a:lstStyle/>
          <a:p>
            <a:r>
              <a:rPr sz="850">
                <a:solidFill>
                  <a:srgbClr val="3B3535"/>
                </a:solidFill>
                <a:latin typeface="Helvetica"/>
              </a:rPr>
              <a:t>Connectors/MCP y Schedule</a:t>
            </a:r>
          </a:p>
        </p:txBody>
      </p:sp>
      <p:sp>
        <p:nvSpPr>
          <p:cNvPr id="25" name="Rounded Rectangle 24"/>
          <p:cNvSpPr/>
          <p:nvPr/>
        </p:nvSpPr>
        <p:spPr>
          <a:xfrm>
            <a:off x="480603" y="3156944"/>
            <a:ext cx="250999" cy="250999"/>
          </a:xfrm>
          <a:prstGeom prst="roundRect">
            <a:avLst/>
          </a:prstGeom>
          <a:solidFill>
            <a:srgbClr val="F2EEEE"/>
          </a:solidFill>
          <a:ln>
            <a:noFill/>
          </a:ln>
          <a:effectLst/>
        </p:spPr>
        <p:txBody>
          <a:bodyPr rtlCol="0" anchor="ctr"/>
          <a:lstStyle/>
          <a:p>
            <a:pPr algn="ctr"/>
          </a:p>
        </p:txBody>
      </p:sp>
      <p:sp>
        <p:nvSpPr>
          <p:cNvPr id="26" name="TextBox 25"/>
          <p:cNvSpPr txBox="1"/>
          <p:nvPr/>
        </p:nvSpPr>
        <p:spPr>
          <a:xfrm>
            <a:off x="522387" y="3177817"/>
            <a:ext cx="167357" cy="209178"/>
          </a:xfrm>
          <a:prstGeom prst="rect">
            <a:avLst/>
          </a:prstGeom>
          <a:noFill/>
        </p:spPr>
        <p:txBody>
          <a:bodyPr wrap="none" anchor="ctr" lIns="0" rIns="0" tIns="0" bIns="0">
            <a:spAutoFit/>
          </a:bodyPr>
          <a:lstStyle/>
          <a:p>
            <a:pPr algn="ctr"/>
            <a:r>
              <a:rPr sz="1300" b="1">
                <a:solidFill>
                  <a:srgbClr val="3B3535"/>
                </a:solidFill>
                <a:latin typeface="Helvetica"/>
              </a:rPr>
              <a:t>5</a:t>
            </a:r>
          </a:p>
        </p:txBody>
      </p:sp>
      <p:sp>
        <p:nvSpPr>
          <p:cNvPr id="27" name="Rounded Rectangle 26"/>
          <p:cNvSpPr/>
          <p:nvPr/>
        </p:nvSpPr>
        <p:spPr>
          <a:xfrm>
            <a:off x="717314" y="3275263"/>
            <a:ext cx="334714" cy="14288"/>
          </a:xfrm>
          <a:prstGeom prst="roundRect">
            <a:avLst/>
          </a:prstGeom>
          <a:solidFill>
            <a:srgbClr val="D8D4D4"/>
          </a:solidFill>
          <a:ln>
            <a:noFill/>
          </a:ln>
          <a:effectLst/>
        </p:spPr>
        <p:txBody>
          <a:bodyPr rtlCol="0" anchor="ctr"/>
          <a:lstStyle/>
          <a:p>
            <a:pPr algn="ctr"/>
          </a:p>
        </p:txBody>
      </p:sp>
      <p:sp>
        <p:nvSpPr>
          <p:cNvPr id="28" name="TextBox 27"/>
          <p:cNvSpPr txBox="1"/>
          <p:nvPr/>
        </p:nvSpPr>
        <p:spPr>
          <a:xfrm>
            <a:off x="1164059" y="3166944"/>
            <a:ext cx="7400000" cy="220000"/>
          </a:xfrm>
          <a:prstGeom prst="rect">
            <a:avLst/>
          </a:prstGeom>
          <a:noFill/>
        </p:spPr>
        <p:txBody>
          <a:bodyPr wrap="square" anchor="t" lIns="0" rIns="0" tIns="0" bIns="0">
            <a:spAutoFit/>
          </a:bodyPr>
          <a:lstStyle/>
          <a:p>
            <a:r>
              <a:rPr sz="1150" b="1">
                <a:solidFill>
                  <a:srgbClr val="3B3535"/>
                </a:solidFill>
                <a:latin typeface="Helvetica"/>
              </a:rPr>
              <a:t>Compartir resultados: Live Artifacts</a:t>
            </a:r>
          </a:p>
        </p:txBody>
      </p:sp>
      <p:sp>
        <p:nvSpPr>
          <p:cNvPr id="29" name="TextBox 28"/>
          <p:cNvSpPr txBox="1"/>
          <p:nvPr/>
        </p:nvSpPr>
        <p:spPr>
          <a:xfrm>
            <a:off x="1164059" y="3406944"/>
            <a:ext cx="7499300" cy="180000"/>
          </a:xfrm>
          <a:prstGeom prst="rect">
            <a:avLst/>
          </a:prstGeom>
          <a:noFill/>
        </p:spPr>
        <p:txBody>
          <a:bodyPr wrap="square" anchor="t" lIns="0" rIns="0" tIns="0" bIns="0">
            <a:spAutoFit/>
          </a:bodyPr>
          <a:lstStyle/>
          <a:p>
            <a:r>
              <a:rPr sz="850">
                <a:solidFill>
                  <a:srgbClr val="3B3535"/>
                </a:solidFill>
                <a:latin typeface="Helvetica"/>
              </a:rPr>
              <a:t>Live Artifacts: compartir el resultado</a:t>
            </a:r>
          </a:p>
        </p:txBody>
      </p:sp>
      <p:sp>
        <p:nvSpPr>
          <p:cNvPr id="30" name="Rounded Rectangle 29"/>
          <p:cNvSpPr/>
          <p:nvPr/>
        </p:nvSpPr>
        <p:spPr>
          <a:xfrm>
            <a:off x="480603" y="3697637"/>
            <a:ext cx="250999" cy="250999"/>
          </a:xfrm>
          <a:prstGeom prst="roundRect">
            <a:avLst/>
          </a:prstGeom>
          <a:solidFill>
            <a:srgbClr val="F2EEEE"/>
          </a:solidFill>
          <a:ln>
            <a:noFill/>
          </a:ln>
          <a:effectLst/>
        </p:spPr>
        <p:txBody>
          <a:bodyPr rtlCol="0" anchor="ctr"/>
          <a:lstStyle/>
          <a:p>
            <a:pPr algn="ctr"/>
          </a:p>
        </p:txBody>
      </p:sp>
      <p:sp>
        <p:nvSpPr>
          <p:cNvPr id="31" name="TextBox 30"/>
          <p:cNvSpPr txBox="1"/>
          <p:nvPr/>
        </p:nvSpPr>
        <p:spPr>
          <a:xfrm>
            <a:off x="522387" y="3718510"/>
            <a:ext cx="167357" cy="209178"/>
          </a:xfrm>
          <a:prstGeom prst="rect">
            <a:avLst/>
          </a:prstGeom>
          <a:noFill/>
        </p:spPr>
        <p:txBody>
          <a:bodyPr wrap="none" anchor="ctr" lIns="0" rIns="0" tIns="0" bIns="0">
            <a:spAutoFit/>
          </a:bodyPr>
          <a:lstStyle/>
          <a:p>
            <a:pPr algn="ctr"/>
            <a:r>
              <a:rPr sz="1300" b="1">
                <a:solidFill>
                  <a:srgbClr val="3B3535"/>
                </a:solidFill>
                <a:latin typeface="Helvetica"/>
              </a:rPr>
              <a:t>6</a:t>
            </a:r>
          </a:p>
        </p:txBody>
      </p:sp>
      <p:sp>
        <p:nvSpPr>
          <p:cNvPr id="32" name="Rounded Rectangle 31"/>
          <p:cNvSpPr/>
          <p:nvPr/>
        </p:nvSpPr>
        <p:spPr>
          <a:xfrm>
            <a:off x="717314" y="3815956"/>
            <a:ext cx="334714" cy="14288"/>
          </a:xfrm>
          <a:prstGeom prst="roundRect">
            <a:avLst/>
          </a:prstGeom>
          <a:solidFill>
            <a:srgbClr val="D8D4D4"/>
          </a:solidFill>
          <a:ln>
            <a:noFill/>
          </a:ln>
          <a:effectLst/>
        </p:spPr>
        <p:txBody>
          <a:bodyPr rtlCol="0" anchor="ctr"/>
          <a:lstStyle/>
          <a:p>
            <a:pPr algn="ctr"/>
          </a:p>
        </p:txBody>
      </p:sp>
      <p:sp>
        <p:nvSpPr>
          <p:cNvPr id="33" name="TextBox 32"/>
          <p:cNvSpPr txBox="1"/>
          <p:nvPr/>
        </p:nvSpPr>
        <p:spPr>
          <a:xfrm>
            <a:off x="1164059" y="3707637"/>
            <a:ext cx="7400000" cy="220000"/>
          </a:xfrm>
          <a:prstGeom prst="rect">
            <a:avLst/>
          </a:prstGeom>
          <a:noFill/>
        </p:spPr>
        <p:txBody>
          <a:bodyPr wrap="square" anchor="t" lIns="0" rIns="0" tIns="0" bIns="0">
            <a:spAutoFit/>
          </a:bodyPr>
          <a:lstStyle/>
          <a:p>
            <a:r>
              <a:rPr sz="1150" b="1">
                <a:solidFill>
                  <a:srgbClr val="3B3535"/>
                </a:solidFill>
                <a:latin typeface="Helvetica"/>
              </a:rPr>
              <a:t>Advanced: Subagentes y Plugins</a:t>
            </a:r>
          </a:p>
        </p:txBody>
      </p:sp>
      <p:sp>
        <p:nvSpPr>
          <p:cNvPr id="34" name="TextBox 33"/>
          <p:cNvSpPr txBox="1"/>
          <p:nvPr/>
        </p:nvSpPr>
        <p:spPr>
          <a:xfrm>
            <a:off x="1164059" y="3947637"/>
            <a:ext cx="7499300" cy="180000"/>
          </a:xfrm>
          <a:prstGeom prst="rect">
            <a:avLst/>
          </a:prstGeom>
          <a:noFill/>
        </p:spPr>
        <p:txBody>
          <a:bodyPr wrap="square" anchor="t" lIns="0" rIns="0" tIns="0" bIns="0">
            <a:spAutoFit/>
          </a:bodyPr>
          <a:lstStyle/>
          <a:p>
            <a:r>
              <a:rPr sz="850">
                <a:solidFill>
                  <a:srgbClr val="3B3535"/>
                </a:solidFill>
                <a:latin typeface="Helvetica"/>
              </a:rPr>
              <a:t>Subagentes y Plugins</a:t>
            </a:r>
          </a:p>
        </p:txBody>
      </p:sp>
      <p:sp>
        <p:nvSpPr>
          <p:cNvPr id="35" name="Rounded Rectangle 34"/>
          <p:cNvSpPr/>
          <p:nvPr/>
        </p:nvSpPr>
        <p:spPr>
          <a:xfrm>
            <a:off x="480603" y="4238330"/>
            <a:ext cx="250999" cy="250999"/>
          </a:xfrm>
          <a:prstGeom prst="roundRect">
            <a:avLst/>
          </a:prstGeom>
          <a:solidFill>
            <a:srgbClr val="F2EEEE"/>
          </a:solidFill>
          <a:ln>
            <a:noFill/>
          </a:ln>
          <a:effectLst/>
        </p:spPr>
        <p:txBody>
          <a:bodyPr rtlCol="0" anchor="ctr"/>
          <a:lstStyle/>
          <a:p>
            <a:pPr algn="ctr"/>
          </a:p>
        </p:txBody>
      </p:sp>
      <p:sp>
        <p:nvSpPr>
          <p:cNvPr id="36" name="TextBox 35"/>
          <p:cNvSpPr txBox="1"/>
          <p:nvPr/>
        </p:nvSpPr>
        <p:spPr>
          <a:xfrm>
            <a:off x="522387" y="4259203"/>
            <a:ext cx="167357" cy="209178"/>
          </a:xfrm>
          <a:prstGeom prst="rect">
            <a:avLst/>
          </a:prstGeom>
          <a:noFill/>
        </p:spPr>
        <p:txBody>
          <a:bodyPr wrap="none" anchor="ctr" lIns="0" rIns="0" tIns="0" bIns="0">
            <a:spAutoFit/>
          </a:bodyPr>
          <a:lstStyle/>
          <a:p>
            <a:pPr algn="ctr"/>
            <a:r>
              <a:rPr sz="1300" b="1">
                <a:solidFill>
                  <a:srgbClr val="3B3535"/>
                </a:solidFill>
                <a:latin typeface="Helvetica"/>
              </a:rPr>
              <a:t>7</a:t>
            </a:r>
          </a:p>
        </p:txBody>
      </p:sp>
      <p:sp>
        <p:nvSpPr>
          <p:cNvPr id="37" name="Rounded Rectangle 36"/>
          <p:cNvSpPr/>
          <p:nvPr/>
        </p:nvSpPr>
        <p:spPr>
          <a:xfrm>
            <a:off x="717314" y="4356649"/>
            <a:ext cx="334714" cy="14288"/>
          </a:xfrm>
          <a:prstGeom prst="roundRect">
            <a:avLst/>
          </a:prstGeom>
          <a:solidFill>
            <a:srgbClr val="D8D4D4"/>
          </a:solidFill>
          <a:ln>
            <a:noFill/>
          </a:ln>
          <a:effectLst/>
        </p:spPr>
        <p:txBody>
          <a:bodyPr rtlCol="0" anchor="ctr"/>
          <a:lstStyle/>
          <a:p>
            <a:pPr algn="ctr"/>
          </a:p>
        </p:txBody>
      </p:sp>
      <p:sp>
        <p:nvSpPr>
          <p:cNvPr id="38" name="TextBox 37"/>
          <p:cNvSpPr txBox="1"/>
          <p:nvPr/>
        </p:nvSpPr>
        <p:spPr>
          <a:xfrm>
            <a:off x="1164059" y="4248330"/>
            <a:ext cx="7400000" cy="220000"/>
          </a:xfrm>
          <a:prstGeom prst="rect">
            <a:avLst/>
          </a:prstGeom>
          <a:noFill/>
        </p:spPr>
        <p:txBody>
          <a:bodyPr wrap="square" anchor="t" lIns="0" rIns="0" tIns="0" bIns="0">
            <a:spAutoFit/>
          </a:bodyPr>
          <a:lstStyle/>
          <a:p>
            <a:r>
              <a:rPr sz="1150" b="1">
                <a:solidFill>
                  <a:srgbClr val="3B3535"/>
                </a:solidFill>
                <a:latin typeface="Helvetica"/>
              </a:rPr>
              <a:t>Conclusions</a:t>
            </a:r>
          </a:p>
        </p:txBody>
      </p:sp>
      <p:sp>
        <p:nvSpPr>
          <p:cNvPr id="39" name="TextBox 38"/>
          <p:cNvSpPr txBox="1"/>
          <p:nvPr/>
        </p:nvSpPr>
        <p:spPr>
          <a:xfrm>
            <a:off x="1164059" y="4488330"/>
            <a:ext cx="7499300" cy="180000"/>
          </a:xfrm>
          <a:prstGeom prst="rect">
            <a:avLst/>
          </a:prstGeom>
          <a:noFill/>
        </p:spPr>
        <p:txBody>
          <a:bodyPr wrap="square" anchor="t" lIns="0" rIns="0" tIns="0" bIns="0">
            <a:spAutoFit/>
          </a:bodyPr>
          <a:lstStyle/>
          <a:p>
            <a:r>
              <a:rPr sz="850">
                <a:solidFill>
                  <a:srgbClr val="3B3535"/>
                </a:solidFill>
                <a:latin typeface="Helvetica"/>
              </a:rPr>
              <a:t>El loop completo y la gobernanza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865022"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LO BÁSICO</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400" b="1">
                <a:solidFill>
                  <a:srgbClr val="1F1E1E"/>
                </a:solidFill>
                <a:latin typeface="Helvetica"/>
              </a:rPr>
              <a:t>(Demo time) Conozcamos la interfaz de Cowork</a:t>
            </a:r>
          </a:p>
        </p:txBody>
      </p:sp>
      <p:sp>
        <p:nvSpPr>
          <p:cNvPr id="5" name="Rounded Rectangle 4"/>
          <p:cNvSpPr/>
          <p:nvPr/>
        </p:nvSpPr>
        <p:spPr>
          <a:xfrm>
            <a:off x="457200" y="1225296"/>
            <a:ext cx="3840480" cy="914400"/>
          </a:xfrm>
          <a:prstGeom prst="roundRect">
            <a:avLst/>
          </a:prstGeom>
          <a:solidFill>
            <a:srgbClr val="F2F2F2"/>
          </a:solidFill>
          <a:ln>
            <a:noFill/>
          </a:ln>
          <a:effectLst/>
        </p:spPr>
        <p:txBody>
          <a:bodyPr rtlCol="0" anchor="ctr" wrap="none" lIns="109728" tIns="36576"/>
          <a:lstStyle/>
          <a:p>
            <a:pPr algn="ctr"/>
            <a:r>
              <a:rPr sz="900">
                <a:solidFill>
                  <a:srgbClr val="000000"/>
                </a:solidFill>
                <a:latin typeface="Courier New"/>
              </a:rPr>
              <a:t>   __________________________________________</a:t>
            </a:r>
          </a:p>
          <a:p>
            <a:pPr algn="ctr"/>
            <a:r>
              <a:rPr sz="900">
                <a:solidFill>
                  <a:srgbClr val="000000"/>
                </a:solidFill>
                <a:latin typeface="Courier New"/>
              </a:rPr>
              <a:t>  /                                          /|</a:t>
            </a:r>
          </a:p>
          <a:p>
            <a:pPr algn="ctr"/>
            <a:r>
              <a:rPr sz="900">
                <a:solidFill>
                  <a:srgbClr val="000000"/>
                </a:solidFill>
                <a:latin typeface="Courier New"/>
              </a:rPr>
              <a:t> /            &gt;   D E M O   T I M E          / |</a:t>
            </a:r>
          </a:p>
          <a:p>
            <a:pPr algn="ctr"/>
            <a:r>
              <a:rPr sz="900">
                <a:solidFill>
                  <a:srgbClr val="000000"/>
                </a:solidFill>
                <a:latin typeface="Courier New"/>
              </a:rPr>
              <a:t>/__________________________________________/  |</a:t>
            </a:r>
          </a:p>
          <a:p>
            <a:pPr algn="ctr"/>
            <a:r>
              <a:rPr sz="900">
                <a:solidFill>
                  <a:srgbClr val="000000"/>
                </a:solidFill>
                <a:latin typeface="Courier New"/>
              </a:rPr>
              <a:t>|                                          |   |</a:t>
            </a:r>
          </a:p>
          <a:p>
            <a:pPr algn="ctr"/>
            <a:r>
              <a:rPr sz="900">
                <a:solidFill>
                  <a:srgbClr val="000000"/>
                </a:solidFill>
                <a:latin typeface="Courier New"/>
              </a:rPr>
              <a:t>|     [ Pasamos a la app real de Cowork ]  |  /</a:t>
            </a:r>
          </a:p>
          <a:p>
            <a:pPr algn="ctr"/>
            <a:r>
              <a:rPr sz="900">
                <a:solidFill>
                  <a:srgbClr val="000000"/>
                </a:solidFill>
                <a:latin typeface="Courier New"/>
              </a:rPr>
              <a:t>|__________________________________________| /</a:t>
            </a:r>
          </a:p>
          <a:p>
            <a:pPr algn="ctr"/>
            <a:r>
              <a:rPr sz="900">
                <a:solidFill>
                  <a:srgbClr val="000000"/>
                </a:solidFill>
                <a:latin typeface="Courier New"/>
              </a:rPr>
              <a:t>|__________________________________________|/</a:t>
            </a:r>
          </a:p>
        </p:txBody>
      </p:sp>
      <p:sp>
        <p:nvSpPr>
          <p:cNvPr id="6" name="TextBox 5"/>
          <p:cNvSpPr txBox="1"/>
          <p:nvPr/>
        </p:nvSpPr>
        <p:spPr>
          <a:xfrm>
            <a:off x="457200" y="2276856"/>
            <a:ext cx="4663440" cy="2638044"/>
          </a:xfrm>
          <a:prstGeom prst="rect">
            <a:avLst/>
          </a:prstGeom>
          <a:noFill/>
        </p:spPr>
        <p:txBody>
          <a:bodyPr wrap="square" anchor="t" lIns="0" rIns="0" tIns="0" bIns="0">
            <a:spAutoFit/>
          </a:bodyPr>
          <a:lstStyle/>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SLIDE DE DEMO EN VIVO</a:t>
            </a:r>
            <a:r>
              <a:rPr sz="1250" b="0" i="0">
                <a:solidFill>
                  <a:srgbClr val="3B3535"/>
                </a:solidFill>
                <a:latin typeface="Helvetica"/>
              </a:rPr>
              <a:t> — Tour rápido de la pestaña Cowork sobre la app real, no sobre la slide.</a:t>
            </a:r>
          </a:p>
          <a:p>
            <a:pPr>
              <a:lnSpc>
                <a:spcPct val="103000"/>
              </a:lnSpc>
              <a:spcBef>
                <a:spcPts val="0"/>
              </a:spcBef>
              <a:spcAft>
                <a:spcPts val="300"/>
              </a:spcAft>
            </a:pPr>
            <a:r>
              <a:rPr sz="1250" b="1">
                <a:solidFill>
                  <a:srgbClr val="DA1B2E"/>
                </a:solidFill>
                <a:latin typeface="Helvetica"/>
              </a:rPr>
              <a:t>▪  </a:t>
            </a:r>
            <a:r>
              <a:rPr sz="1250" b="0" i="0">
                <a:solidFill>
                  <a:srgbClr val="3B3535"/>
                </a:solidFill>
                <a:latin typeface="Helvetica"/>
              </a:rPr>
              <a:t>Anatomía de la pestaña Cowork (referencia anotada):</a:t>
            </a:r>
          </a:p>
          <a:p>
            <a:pPr>
              <a:lnSpc>
                <a:spcPct val="103000"/>
              </a:lnSpc>
              <a:spcBef>
                <a:spcPts val="0"/>
              </a:spcBef>
              <a:spcAft>
                <a:spcPts val="300"/>
              </a:spcAft>
            </a:pPr>
            <a:r>
              <a:rPr sz="1250" b="1">
                <a:solidFill>
                  <a:srgbClr val="DA1B2E"/>
                </a:solidFill>
                <a:latin typeface="Helvetica"/>
              </a:rPr>
              <a:t>▪  </a:t>
            </a:r>
            <a:r>
              <a:rPr sz="1250" b="0" i="0">
                <a:solidFill>
                  <a:srgbClr val="3B3535"/>
                </a:solidFill>
                <a:latin typeface="Helvetica"/>
              </a:rPr>
              <a:t>Elementos a señalar en vivo: el selector de modo </a:t>
            </a:r>
            <a:r>
              <a:rPr sz="1250" b="1" i="0">
                <a:solidFill>
                  <a:srgbClr val="1F1E1E"/>
                </a:solidFill>
                <a:latin typeface="Helvetica"/>
              </a:rPr>
              <a:t>"Ask"</a:t>
            </a:r>
            <a:r>
              <a:rPr sz="1250" b="0" i="0">
                <a:solidFill>
                  <a:srgbClr val="3B3535"/>
                </a:solidFill>
                <a:latin typeface="Helvetica"/>
              </a:rPr>
              <a:t> (Ask before acting / Act without asking), el selector de carpeta de trabajo, la pestaña </a:t>
            </a:r>
            <a:r>
              <a:rPr sz="1250" b="1" i="0">
                <a:solidFill>
                  <a:srgbClr val="1F1E1E"/>
                </a:solidFill>
                <a:latin typeface="Helvetica"/>
              </a:rPr>
              <a:t>Scheduled</a:t>
            </a:r>
            <a:r>
              <a:rPr sz="1250" b="0" i="0">
                <a:solidFill>
                  <a:srgbClr val="3B3535"/>
                </a:solidFill>
                <a:latin typeface="Helvetica"/>
              </a:rPr>
              <a:t>, la pestaña </a:t>
            </a:r>
            <a:r>
              <a:rPr sz="1250" b="1" i="0">
                <a:solidFill>
                  <a:srgbClr val="1F1E1E"/>
                </a:solidFill>
                <a:latin typeface="Helvetica"/>
              </a:rPr>
              <a:t>Live artifacts</a:t>
            </a:r>
            <a:r>
              <a:rPr sz="1250" b="0" i="0">
                <a:solidFill>
                  <a:srgbClr val="3B3535"/>
                </a:solidFill>
                <a:latin typeface="Helvetica"/>
              </a:rPr>
              <a:t>, el panel de un </a:t>
            </a:r>
            <a:r>
              <a:rPr sz="1250" b="1" i="0">
                <a:solidFill>
                  <a:srgbClr val="1F1E1E"/>
                </a:solidFill>
                <a:latin typeface="Helvetica"/>
              </a:rPr>
              <a:t>Project</a:t>
            </a:r>
            <a:r>
              <a:rPr sz="1250" b="0" i="0">
                <a:solidFill>
                  <a:srgbClr val="3B3535"/>
                </a:solidFill>
                <a:latin typeface="Helvetica"/>
              </a:rPr>
              <a:t>.</a:t>
            </a:r>
          </a:p>
          <a:p>
            <a:pPr>
              <a:lnSpc>
                <a:spcPct val="103000"/>
              </a:lnSpc>
              <a:spcBef>
                <a:spcPts val="0"/>
              </a:spcBef>
              <a:spcAft>
                <a:spcPts val="300"/>
              </a:spcAft>
            </a:pPr>
            <a:r>
              <a:rPr sz="1250" b="1">
                <a:solidFill>
                  <a:srgbClr val="DA1B2E"/>
                </a:solidFill>
                <a:latin typeface="Helvetica"/>
              </a:rPr>
              <a:t>▪  </a:t>
            </a:r>
            <a:r>
              <a:rPr sz="1250" b="0" i="0">
                <a:solidFill>
                  <a:srgbClr val="3B3535"/>
                </a:solidFill>
                <a:latin typeface="Helvetica"/>
              </a:rPr>
              <a:t>Control en Cowork = el dropdown de modo + los prompts de aprobar/redirigir por acción + el selector de carpeta. </a:t>
            </a:r>
            <a:r>
              <a:rPr sz="1250" b="1" i="0">
                <a:solidFill>
                  <a:srgbClr val="1F1E1E"/>
                </a:solidFill>
                <a:latin typeface="Helvetica"/>
              </a:rPr>
              <a:t>No hay slash commands</a:t>
            </a:r>
            <a:r>
              <a:rPr sz="1250" b="0" i="0">
                <a:solidFill>
                  <a:srgbClr val="3B3535"/>
                </a:solidFill>
                <a:latin typeface="Helvetica"/>
              </a:rPr>
              <a:t>: Cowork es GUI.</a:t>
            </a:r>
          </a:p>
        </p:txBody>
      </p:sp>
      <p:sp>
        <p:nvSpPr>
          <p:cNvPr id="7" name="Rounded Rectangle 6"/>
          <p:cNvSpPr/>
          <p:nvPr/>
        </p:nvSpPr>
        <p:spPr>
          <a:xfrm>
            <a:off x="5440680" y="1967285"/>
            <a:ext cx="3291840" cy="2205625"/>
          </a:xfrm>
          <a:prstGeom prst="roundRect">
            <a:avLst/>
          </a:prstGeom>
          <a:solidFill>
            <a:srgbClr val="F2EEEE"/>
          </a:solidFill>
          <a:ln>
            <a:noFill/>
          </a:ln>
          <a:effectLst/>
        </p:spPr>
        <p:txBody>
          <a:bodyPr rtlCol="0" anchor="ctr"/>
          <a:lstStyle/>
          <a:p>
            <a:pPr algn="ctr"/>
          </a:p>
        </p:txBody>
      </p:sp>
      <p:pic>
        <p:nvPicPr>
          <p:cNvPr id="8" name="Picture 7" descr="screenshot-cowork-tab.png"/>
          <p:cNvPicPr>
            <a:picLocks noChangeAspect="1"/>
          </p:cNvPicPr>
          <p:nvPr/>
        </p:nvPicPr>
        <p:blipFill>
          <a:blip r:embed="rId2"/>
          <a:stretch>
            <a:fillRect/>
          </a:stretch>
        </p:blipFill>
        <p:spPr>
          <a:xfrm>
            <a:off x="5486400" y="2013005"/>
            <a:ext cx="3200400" cy="211418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865022"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LO BÁSICO</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250" b="1">
                <a:solidFill>
                  <a:srgbClr val="1F1E1E"/>
                </a:solidFill>
                <a:latin typeface="Helvetica"/>
              </a:rPr>
              <a:t>Los bloques de Cowork: cada problema, una pieza</a:t>
            </a:r>
          </a:p>
        </p:txBody>
      </p:sp>
      <p:sp>
        <p:nvSpPr>
          <p:cNvPr id="5" name="TextBox 4"/>
          <p:cNvSpPr txBox="1"/>
          <p:nvPr/>
        </p:nvSpPr>
        <p:spPr>
          <a:xfrm>
            <a:off x="457200" y="1197864"/>
            <a:ext cx="5029200" cy="3717035"/>
          </a:xfrm>
          <a:prstGeom prst="rect">
            <a:avLst/>
          </a:prstGeom>
          <a:noFill/>
        </p:spPr>
        <p:txBody>
          <a:bodyPr wrap="square" anchor="t" lIns="0" rIns="0" tIns="0" bIns="0">
            <a:spAutoFit/>
          </a:bodyPr>
          <a:lstStyle/>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La idea.</a:t>
            </a:r>
            <a:r>
              <a:rPr sz="1000" b="0" i="0">
                <a:solidFill>
                  <a:srgbClr val="3B3535"/>
                </a:solidFill>
                <a:latin typeface="Helvetica"/>
              </a:rPr>
              <a:t> Cowork no se aprende como una lista de features sueltas, sino como </a:t>
            </a:r>
            <a:r>
              <a:rPr sz="1000" b="1" i="0">
                <a:solidFill>
                  <a:srgbClr val="1F1E1E"/>
                </a:solidFill>
                <a:latin typeface="Helvetica"/>
              </a:rPr>
              <a:t>bloques que se apilan</a:t>
            </a:r>
            <a:r>
              <a:rPr sz="1000" b="0" i="0">
                <a:solidFill>
                  <a:srgbClr val="3B3535"/>
                </a:solidFill>
                <a:latin typeface="Helvetica"/>
              </a:rPr>
              <a:t>: cada bloque resuelve un problema concreto y recurrente, y al sumarse vuelven al agente cada vez más rico y autónomo. </a:t>
            </a:r>
            <a:r>
              <a:rPr sz="1000" b="1" i="0">
                <a:solidFill>
                  <a:srgbClr val="1F1E1E"/>
                </a:solidFill>
                <a:latin typeface="Helvetica"/>
              </a:rPr>
              <a:t>Importante:</a:t>
            </a:r>
            <a:r>
              <a:rPr sz="1000" b="0" i="0">
                <a:solidFill>
                  <a:srgbClr val="3B3535"/>
                </a:solidFill>
                <a:latin typeface="Helvetica"/>
              </a:rPr>
              <a:t> estos bloques </a:t>
            </a:r>
            <a:r>
              <a:rPr sz="1000" b="1" i="0">
                <a:solidFill>
                  <a:srgbClr val="1F1E1E"/>
                </a:solidFill>
                <a:latin typeface="Helvetica"/>
              </a:rPr>
              <a:t>no</a:t>
            </a:r>
            <a:r>
              <a:rPr sz="1000" b="0" i="0">
                <a:solidFill>
                  <a:srgbClr val="3B3535"/>
                </a:solidFill>
                <a:latin typeface="Helvetica"/>
              </a:rPr>
              <a:t> son una escalera estricta — usás solo los que tu tarea necesita; se combinan, no se exigen unos a otros.</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Este es el mapa de toda la charla.</a:t>
            </a:r>
            <a:r>
              <a:rPr sz="1000" b="0" i="0">
                <a:solidFill>
                  <a:srgbClr val="3B3535"/>
                </a:solidFill>
                <a:latin typeface="Helvetica"/>
              </a:rPr>
              <a:t> Vamos a </a:t>
            </a:r>
            <a:r>
              <a:rPr sz="1000" b="1" i="0">
                <a:solidFill>
                  <a:srgbClr val="1F1E1E"/>
                </a:solidFill>
                <a:latin typeface="Helvetica"/>
              </a:rPr>
              <a:t>recorrer cada bloque, uno por uno</a:t>
            </a:r>
            <a:r>
              <a:rPr sz="1000" b="0" i="0">
                <a:solidFill>
                  <a:srgbClr val="3B3535"/>
                </a:solidFill>
                <a:latin typeface="Helvetica"/>
              </a:rPr>
              <a:t>, en el resto de la sesión — en este orden. Volvé a esta slide como "estamos acá" cuando quieras ubicarte.</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Cada bloque = un problema que ya tuviste:</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Un prompt / chatear</a:t>
            </a:r>
            <a:r>
              <a:rPr sz="900" b="0" i="0">
                <a:solidFill>
                  <a:srgbClr val="3B3535"/>
                </a:solidFill>
                <a:latin typeface="Helvetica"/>
              </a:rPr>
              <a:t> </a:t>
            </a:r>
            <a:r>
              <a:rPr sz="900" b="0" i="1">
                <a:solidFill>
                  <a:srgbClr val="3B3535"/>
                </a:solidFill>
                <a:latin typeface="Helvetica"/>
              </a:rPr>
              <a:t>hago todo a mano, un mensaje a la vez.</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Instrucciones</a:t>
            </a:r>
            <a:r>
              <a:rPr sz="900" b="0" i="0">
                <a:solidFill>
                  <a:srgbClr val="3B3535"/>
                </a:solidFill>
                <a:latin typeface="Helvetica"/>
              </a:rPr>
              <a:t> </a:t>
            </a:r>
            <a:r>
              <a:rPr sz="900" b="0" i="1">
                <a:solidFill>
                  <a:srgbClr val="3B3535"/>
                </a:solidFill>
                <a:latin typeface="Helvetica"/>
              </a:rPr>
              <a:t>no quiero repetir el contexto en cada prompt.</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Projects</a:t>
            </a:r>
            <a:r>
              <a:rPr sz="900" b="0" i="0">
                <a:solidFill>
                  <a:srgbClr val="3B3535"/>
                </a:solidFill>
                <a:latin typeface="Helvetica"/>
              </a:rPr>
              <a:t> </a:t>
            </a:r>
            <a:r>
              <a:rPr sz="900" b="0" i="1">
                <a:solidFill>
                  <a:srgbClr val="3B3535"/>
                </a:solidFill>
                <a:latin typeface="Helvetica"/>
              </a:rPr>
              <a:t>quiero guardar y organizar todo en un lugar fijo.</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Skills</a:t>
            </a:r>
            <a:r>
              <a:rPr sz="900" b="0" i="0">
                <a:solidFill>
                  <a:srgbClr val="3B3535"/>
                </a:solidFill>
                <a:latin typeface="Helvetica"/>
              </a:rPr>
              <a:t> </a:t>
            </a:r>
            <a:r>
              <a:rPr sz="900" b="0" i="1">
                <a:solidFill>
                  <a:srgbClr val="3B3535"/>
                </a:solidFill>
                <a:latin typeface="Helvetica"/>
              </a:rPr>
              <a:t>no quiero repetir la misma tarea.</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Connectors / MCP</a:t>
            </a:r>
            <a:r>
              <a:rPr sz="900" b="0" i="0">
                <a:solidFill>
                  <a:srgbClr val="3B3535"/>
                </a:solidFill>
                <a:latin typeface="Helvetica"/>
              </a:rPr>
              <a:t> </a:t>
            </a:r>
            <a:r>
              <a:rPr sz="900" b="0" i="1">
                <a:solidFill>
                  <a:srgbClr val="3B3535"/>
                </a:solidFill>
                <a:latin typeface="Helvetica"/>
              </a:rPr>
              <a:t>quiero traer datos de mis herramientas.</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Schedule</a:t>
            </a:r>
            <a:r>
              <a:rPr sz="900" b="0" i="0">
                <a:solidFill>
                  <a:srgbClr val="3B3535"/>
                </a:solidFill>
                <a:latin typeface="Helvetica"/>
              </a:rPr>
              <a:t> </a:t>
            </a:r>
            <a:r>
              <a:rPr sz="900" b="0" i="1">
                <a:solidFill>
                  <a:srgbClr val="3B3535"/>
                </a:solidFill>
                <a:latin typeface="Helvetica"/>
              </a:rPr>
              <a:t>quiero que corra solo.</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Live Artifacts</a:t>
            </a:r>
            <a:r>
              <a:rPr sz="900" b="0" i="0">
                <a:solidFill>
                  <a:srgbClr val="3B3535"/>
                </a:solidFill>
                <a:latin typeface="Helvetica"/>
              </a:rPr>
              <a:t> </a:t>
            </a:r>
            <a:r>
              <a:rPr sz="900" b="0" i="1">
                <a:solidFill>
                  <a:srgbClr val="3B3535"/>
                </a:solidFill>
                <a:latin typeface="Helvetica"/>
              </a:rPr>
              <a:t>quiero compartir el resultado vivo</a:t>
            </a:r>
            <a:r>
              <a:rPr sz="900" b="0" i="0">
                <a:solidFill>
                  <a:srgbClr val="3B3535"/>
                </a:solidFill>
                <a:latin typeface="Helvetica"/>
              </a:rPr>
              <a:t> — un colaborador que entrega solo.</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Plugins, transversal.</a:t>
            </a:r>
            <a:r>
              <a:rPr sz="1000" b="0" i="0">
                <a:solidFill>
                  <a:srgbClr val="3B3535"/>
                </a:solidFill>
                <a:latin typeface="Helvetica"/>
              </a:rPr>
              <a:t> Hay una pieza que no es un bloque más en la pila: los </a:t>
            </a:r>
            <a:r>
              <a:rPr sz="1000" b="1" i="0">
                <a:solidFill>
                  <a:srgbClr val="1F1E1E"/>
                </a:solidFill>
                <a:latin typeface="Helvetica"/>
              </a:rPr>
              <a:t>Plugins</a:t>
            </a:r>
            <a:r>
              <a:rPr sz="1000" b="0" i="0">
                <a:solidFill>
                  <a:srgbClr val="3B3535"/>
                </a:solidFill>
                <a:latin typeface="Helvetica"/>
              </a:rPr>
              <a:t> son la </a:t>
            </a:r>
            <a:r>
              <a:rPr sz="1000" b="1" i="0">
                <a:solidFill>
                  <a:srgbClr val="1F1E1E"/>
                </a:solidFill>
                <a:latin typeface="Helvetica"/>
              </a:rPr>
              <a:t>capa transversal de distribución</a:t>
            </a:r>
            <a:r>
              <a:rPr sz="1000" b="0" i="0">
                <a:solidFill>
                  <a:srgbClr val="3B3535"/>
                </a:solidFill>
                <a:latin typeface="Helvetica"/>
              </a:rPr>
              <a:t> — empaquetan y reparten Skills, agentes y connectors a todos a la vez. La vemos al final de la charla (Sección 6).</a:t>
            </a:r>
          </a:p>
        </p:txBody>
      </p:sp>
      <p:sp>
        <p:nvSpPr>
          <p:cNvPr id="6" name="Rounded Rectangle 5"/>
          <p:cNvSpPr/>
          <p:nvPr/>
        </p:nvSpPr>
        <p:spPr>
          <a:xfrm>
            <a:off x="5623560" y="1635027"/>
            <a:ext cx="3108960" cy="2842708"/>
          </a:xfrm>
          <a:prstGeom prst="roundRect">
            <a:avLst/>
          </a:prstGeom>
          <a:solidFill>
            <a:srgbClr val="F2EEEE"/>
          </a:solidFill>
          <a:ln>
            <a:noFill/>
          </a:ln>
          <a:effectLst/>
        </p:spPr>
        <p:txBody>
          <a:bodyPr rtlCol="0" anchor="ctr"/>
          <a:lstStyle/>
          <a:p>
            <a:pPr algn="ctr"/>
          </a:p>
        </p:txBody>
      </p:sp>
      <p:pic>
        <p:nvPicPr>
          <p:cNvPr id="7" name="Picture 6" descr="s2-2-1-bloques-cowork.png"/>
          <p:cNvPicPr>
            <a:picLocks noChangeAspect="1"/>
          </p:cNvPicPr>
          <p:nvPr/>
        </p:nvPicPr>
        <p:blipFill>
          <a:blip r:embed="rId2"/>
          <a:stretch>
            <a:fillRect/>
          </a:stretch>
        </p:blipFill>
        <p:spPr>
          <a:xfrm>
            <a:off x="5669280" y="1680747"/>
            <a:ext cx="3017520" cy="275126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865022"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LO BÁSICO</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000" b="1">
                <a:solidFill>
                  <a:srgbClr val="1F1E1E"/>
                </a:solidFill>
                <a:latin typeface="Helvetica"/>
              </a:rPr>
              <a:t>Instrucciones: ajustar el comportamiento sin repetirte</a:t>
            </a:r>
          </a:p>
        </p:txBody>
      </p:sp>
      <p:sp>
        <p:nvSpPr>
          <p:cNvPr id="5" name="TextBox 4"/>
          <p:cNvSpPr txBox="1"/>
          <p:nvPr/>
        </p:nvSpPr>
        <p:spPr>
          <a:xfrm>
            <a:off x="457200" y="1517904"/>
            <a:ext cx="5029200" cy="3396996"/>
          </a:xfrm>
          <a:prstGeom prst="rect">
            <a:avLst/>
          </a:prstGeom>
          <a:noFill/>
        </p:spPr>
        <p:txBody>
          <a:bodyPr wrap="square" anchor="t" lIns="0" rIns="0" tIns="0" bIns="0">
            <a:spAutoFit/>
          </a:bodyPr>
          <a:lstStyle/>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Concepto.</a:t>
            </a:r>
            <a:r>
              <a:rPr sz="1250" b="0" i="0">
                <a:solidFill>
                  <a:srgbClr val="3B3535"/>
                </a:solidFill>
                <a:latin typeface="Helvetica"/>
              </a:rPr>
              <a:t> Las Instrucciones son el "contrato de trabajo" del agente: reglas en lenguaje natural que valen para todo lo que hagas, sin tener que repetirlas en cada prompt.</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Ejemplo (Atlas) — qué podría decir un Instructions.</a:t>
            </a:r>
            <a:r>
              <a:rPr sz="1250" b="0" i="0">
                <a:solidFill>
                  <a:srgbClr val="3B3535"/>
                </a:solidFill>
                <a:latin typeface="Helvetica"/>
              </a:rPr>
              <a:t> Quién es Atlas, qué empresas sigue, su audiencia, su tono y su regla de oro:</a:t>
            </a:r>
          </a:p>
          <a:p>
            <a:pPr>
              <a:lnSpc>
                <a:spcPct val="103000"/>
              </a:lnSpc>
              <a:spcAft>
                <a:spcPts val="400"/>
              </a:spcAft>
            </a:pPr>
            <a:r>
              <a:rPr sz="1250" b="0" i="0">
                <a:solidFill>
                  <a:srgbClr val="3B3535"/>
                </a:solidFill>
                <a:latin typeface="Helvetica"/>
              </a:rPr>
              <a:t>Una sola vez escribís esto; vale para todos los prompts del Project.</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Cosas importantes a tener en cuenta.</a:t>
            </a:r>
          </a:p>
          <a:p>
            <a:pPr lvl="1">
              <a:lnSpc>
                <a:spcPct val="103000"/>
              </a:lnSpc>
              <a:spcBef>
                <a:spcPts val="0"/>
              </a:spcBef>
              <a:spcAft>
                <a:spcPts val="300"/>
              </a:spcAft>
            </a:pPr>
            <a:r>
              <a:rPr sz="1150">
                <a:solidFill>
                  <a:srgbClr val="6A737D"/>
                </a:solidFill>
                <a:latin typeface="Helvetica"/>
              </a:rPr>
              <a:t>–  </a:t>
            </a:r>
            <a:r>
              <a:rPr sz="1150" b="0" i="0">
                <a:solidFill>
                  <a:srgbClr val="3B3535"/>
                </a:solidFill>
                <a:latin typeface="Helvetica"/>
              </a:rPr>
              <a:t>Mantenelas cortas y claras; son lenguaje natural, no código.</a:t>
            </a:r>
          </a:p>
          <a:p>
            <a:pPr lvl="1">
              <a:lnSpc>
                <a:spcPct val="103000"/>
              </a:lnSpc>
              <a:spcBef>
                <a:spcPts val="0"/>
              </a:spcBef>
              <a:spcAft>
                <a:spcPts val="300"/>
              </a:spcAft>
            </a:pPr>
            <a:r>
              <a:rPr sz="1150">
                <a:solidFill>
                  <a:srgbClr val="6A737D"/>
                </a:solidFill>
                <a:latin typeface="Helvetica"/>
              </a:rPr>
              <a:t>–  </a:t>
            </a:r>
            <a:r>
              <a:rPr sz="1150" b="0" i="0">
                <a:solidFill>
                  <a:srgbClr val="3B3535"/>
                </a:solidFill>
                <a:latin typeface="Helvetica"/>
              </a:rPr>
              <a:t>Sirven para evitar repetir lo mismo en cada prompt: lo que decís una vez vale para todo el Project.</a:t>
            </a:r>
          </a:p>
          <a:p>
            <a:pPr lvl="1">
              <a:lnSpc>
                <a:spcPct val="103000"/>
              </a:lnSpc>
              <a:spcBef>
                <a:spcPts val="0"/>
              </a:spcBef>
              <a:spcAft>
                <a:spcPts val="300"/>
              </a:spcAft>
            </a:pPr>
            <a:r>
              <a:rPr sz="1150">
                <a:solidFill>
                  <a:srgbClr val="6A737D"/>
                </a:solidFill>
                <a:latin typeface="Helvetica"/>
              </a:rPr>
              <a:t>–  </a:t>
            </a:r>
            <a:r>
              <a:rPr sz="1150" b="0" i="0">
                <a:solidFill>
                  <a:srgbClr val="3B3535"/>
                </a:solidFill>
                <a:latin typeface="Helvetica"/>
              </a:rPr>
              <a:t>Es el lugar para fijar reglas no negociables (como el disclaimer legal).</a:t>
            </a:r>
          </a:p>
        </p:txBody>
      </p:sp>
      <p:sp>
        <p:nvSpPr>
          <p:cNvPr id="6" name="Rounded Rectangle 5"/>
          <p:cNvSpPr/>
          <p:nvPr/>
        </p:nvSpPr>
        <p:spPr>
          <a:xfrm>
            <a:off x="5623560" y="2238801"/>
            <a:ext cx="3108960" cy="1955202"/>
          </a:xfrm>
          <a:prstGeom prst="roundRect">
            <a:avLst/>
          </a:prstGeom>
          <a:solidFill>
            <a:srgbClr val="F2EEEE"/>
          </a:solidFill>
          <a:ln>
            <a:noFill/>
          </a:ln>
          <a:effectLst/>
        </p:spPr>
        <p:txBody>
          <a:bodyPr rtlCol="0" anchor="ctr"/>
          <a:lstStyle/>
          <a:p>
            <a:pPr algn="ctr"/>
          </a:p>
        </p:txBody>
      </p:sp>
      <p:pic>
        <p:nvPicPr>
          <p:cNvPr id="7" name="Picture 6" descr="s2-3-1-tarjeta-instrucciones.png"/>
          <p:cNvPicPr>
            <a:picLocks noChangeAspect="1"/>
          </p:cNvPicPr>
          <p:nvPr/>
        </p:nvPicPr>
        <p:blipFill>
          <a:blip r:embed="rId2"/>
          <a:stretch>
            <a:fillRect/>
          </a:stretch>
        </p:blipFill>
        <p:spPr>
          <a:xfrm>
            <a:off x="5669280" y="2284521"/>
            <a:ext cx="3017520" cy="186376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865022"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LO BÁSICO</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600" b="1">
                <a:solidFill>
                  <a:srgbClr val="1F1E1E"/>
                </a:solidFill>
                <a:latin typeface="Helvetica"/>
              </a:rPr>
              <a:t>Projects: guardar todo en un lugar fijo</a:t>
            </a:r>
          </a:p>
        </p:txBody>
      </p:sp>
      <p:sp>
        <p:nvSpPr>
          <p:cNvPr id="5" name="TextBox 4"/>
          <p:cNvSpPr txBox="1"/>
          <p:nvPr/>
        </p:nvSpPr>
        <p:spPr>
          <a:xfrm>
            <a:off x="457200" y="1261872"/>
            <a:ext cx="8229600" cy="3653027"/>
          </a:xfrm>
          <a:prstGeom prst="rect">
            <a:avLst/>
          </a:prstGeom>
          <a:noFill/>
        </p:spPr>
        <p:txBody>
          <a:bodyPr wrap="square" anchor="t" lIns="0" rIns="0" tIns="0" bIns="0">
            <a:spAutoFit/>
          </a:bodyPr>
          <a:lstStyle/>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Concepto.</a:t>
            </a:r>
            <a:r>
              <a:rPr sz="1100" b="0" i="0">
                <a:solidFill>
                  <a:srgbClr val="3B3535"/>
                </a:solidFill>
                <a:latin typeface="Helvetica"/>
              </a:rPr>
              <a:t> Un Project es un espacio de trabajo autocontenido: le da al agente una </a:t>
            </a:r>
            <a:r>
              <a:rPr sz="1100" b="1" i="0">
                <a:solidFill>
                  <a:srgbClr val="1F1E1E"/>
                </a:solidFill>
                <a:latin typeface="Helvetica"/>
              </a:rPr>
              <a:t>carpeta propia</a:t>
            </a:r>
            <a:r>
              <a:rPr sz="1100" b="0" i="0">
                <a:solidFill>
                  <a:srgbClr val="3B3535"/>
                </a:solidFill>
                <a:latin typeface="Helvetica"/>
              </a:rPr>
              <a:t>, </a:t>
            </a:r>
            <a:r>
              <a:rPr sz="1100" b="1" i="0">
                <a:solidFill>
                  <a:srgbClr val="1F1E1E"/>
                </a:solidFill>
                <a:latin typeface="Helvetica"/>
              </a:rPr>
              <a:t>memoria</a:t>
            </a:r>
            <a:r>
              <a:rPr sz="1100" b="0" i="0">
                <a:solidFill>
                  <a:srgbClr val="3B3535"/>
                </a:solidFill>
                <a:latin typeface="Helvetica"/>
              </a:rPr>
              <a:t> dentro del proyecto y un </a:t>
            </a:r>
            <a:r>
              <a:rPr sz="1100" b="1" i="0">
                <a:solidFill>
                  <a:srgbClr val="1F1E1E"/>
                </a:solidFill>
                <a:latin typeface="Helvetica"/>
              </a:rPr>
              <a:t>lugar fijo</a:t>
            </a:r>
            <a:r>
              <a:rPr sz="1100" b="0" i="0">
                <a:solidFill>
                  <a:srgbClr val="3B3535"/>
                </a:solidFill>
                <a:latin typeface="Helvetica"/>
              </a:rPr>
              <a:t> para sus tareas. Tiene tres capas persistentes: Instrucciones, base de conocimiento (Knowledge base) y Chats.</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Ventajas.</a:t>
            </a:r>
            <a:r>
              <a:rPr sz="1100" b="0" i="0">
                <a:solidFill>
                  <a:srgbClr val="3B3535"/>
                </a:solidFill>
                <a:latin typeface="Helvetica"/>
              </a:rPr>
              <a:t> Todo queda organizado y reutilizable: las Instrucciones valen para todo el Project, la memoria recuerda tus correcciones y preferencias, y los archivos viven en una carpeta concreta de tu disco.</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Cosas importantes a tener en cuenta.</a:t>
            </a:r>
          </a:p>
          <a:p>
            <a:pPr lvl="1">
              <a:lnSpc>
                <a:spcPct val="103000"/>
              </a:lnSpc>
              <a:spcBef>
                <a:spcPts val="0"/>
              </a:spcBef>
              <a:spcAft>
                <a:spcPts val="300"/>
              </a:spcAft>
            </a:pPr>
            <a:r>
              <a:rPr sz="1000">
                <a:solidFill>
                  <a:srgbClr val="6A737D"/>
                </a:solidFill>
                <a:latin typeface="Helvetica"/>
              </a:rPr>
              <a:t>–  </a:t>
            </a:r>
            <a:r>
              <a:rPr sz="1000" b="0" i="0">
                <a:solidFill>
                  <a:srgbClr val="3B3535"/>
                </a:solidFill>
                <a:latin typeface="Helvetica"/>
              </a:rPr>
              <a:t>Los chats dentro de un mismo Project </a:t>
            </a:r>
            <a:r>
              <a:rPr sz="1000" b="1" i="0">
                <a:solidFill>
                  <a:srgbClr val="1F1E1E"/>
                </a:solidFill>
                <a:latin typeface="Helvetica"/>
              </a:rPr>
              <a:t>no comparten contexto entre sí</a:t>
            </a:r>
            <a:r>
              <a:rPr sz="1000" b="0" i="0">
                <a:solidFill>
                  <a:srgbClr val="3B3535"/>
                </a:solidFill>
                <a:latin typeface="Helvetica"/>
              </a:rPr>
              <a:t> — solo se comparte la base de conocimiento.</a:t>
            </a:r>
          </a:p>
          <a:p>
            <a:pPr lvl="1">
              <a:lnSpc>
                <a:spcPct val="103000"/>
              </a:lnSpc>
              <a:spcBef>
                <a:spcPts val="0"/>
              </a:spcBef>
              <a:spcAft>
                <a:spcPts val="300"/>
              </a:spcAft>
            </a:pPr>
            <a:r>
              <a:rPr sz="1000">
                <a:solidFill>
                  <a:srgbClr val="6A737D"/>
                </a:solidFill>
                <a:latin typeface="Helvetica"/>
              </a:rPr>
              <a:t>–  </a:t>
            </a:r>
            <a:r>
              <a:rPr sz="1000" b="0" i="0">
                <a:solidFill>
                  <a:srgbClr val="3B3535"/>
                </a:solidFill>
                <a:latin typeface="Helvetica"/>
              </a:rPr>
              <a:t>En Cowork, qué carpetas se conceden lo controla el </a:t>
            </a:r>
            <a:r>
              <a:rPr sz="1000" b="1" i="0">
                <a:solidFill>
                  <a:srgbClr val="1F1E1E"/>
                </a:solidFill>
                <a:latin typeface="Helvetica"/>
              </a:rPr>
              <a:t>selector de carpetas del sistema operativo</a:t>
            </a:r>
            <a:r>
              <a:rPr sz="1000" b="0" i="0">
                <a:solidFill>
                  <a:srgbClr val="3B3535"/>
                </a:solidFill>
                <a:latin typeface="Helvetica"/>
              </a:rPr>
              <a:t>, no un archivo de configuración.</a:t>
            </a:r>
          </a:p>
          <a:p>
            <a:pPr lvl="1">
              <a:lnSpc>
                <a:spcPct val="103000"/>
              </a:lnSpc>
              <a:spcBef>
                <a:spcPts val="0"/>
              </a:spcBef>
              <a:spcAft>
                <a:spcPts val="300"/>
              </a:spcAft>
            </a:pPr>
            <a:r>
              <a:rPr sz="1000">
                <a:solidFill>
                  <a:srgbClr val="6A737D"/>
                </a:solidFill>
                <a:latin typeface="Helvetica"/>
              </a:rPr>
              <a:t>–  </a:t>
            </a:r>
            <a:r>
              <a:rPr sz="1000" b="0" i="0">
                <a:solidFill>
                  <a:srgbClr val="3B3535"/>
                </a:solidFill>
                <a:latin typeface="Helvetica"/>
              </a:rPr>
              <a:t>Buena práctica: una carpeta de trabajo dedicada, para saber siempre qué está en alcance (y nunca conceder una carpeta con datos confidenciales o credenciales).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865022"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LO BÁSICO</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250" b="1">
                <a:solidFill>
                  <a:srgbClr val="1F1E1E"/>
                </a:solidFill>
                <a:latin typeface="Helvetica"/>
              </a:rPr>
              <a:t>El selector de carpetas y el panel de contexto</a:t>
            </a:r>
          </a:p>
        </p:txBody>
      </p:sp>
      <p:sp>
        <p:nvSpPr>
          <p:cNvPr id="5" name="TextBox 4"/>
          <p:cNvSpPr txBox="1"/>
          <p:nvPr/>
        </p:nvSpPr>
        <p:spPr>
          <a:xfrm>
            <a:off x="457200" y="1197864"/>
            <a:ext cx="5029200" cy="3717035"/>
          </a:xfrm>
          <a:prstGeom prst="rect">
            <a:avLst/>
          </a:prstGeom>
          <a:noFill/>
        </p:spPr>
        <p:txBody>
          <a:bodyPr wrap="square" anchor="t" lIns="0" rIns="0" tIns="0" bIns="0">
            <a:spAutoFit/>
          </a:bodyPr>
          <a:lstStyle/>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Conceder una carpeta de trabajo.</a:t>
            </a:r>
            <a:r>
              <a:rPr sz="1100" b="0" i="0">
                <a:solidFill>
                  <a:srgbClr val="3B3535"/>
                </a:solidFill>
                <a:latin typeface="Helvetica"/>
              </a:rPr>
              <a:t> Cowork no toca tu disco por sí solo: vos le concedés una carpeta con el </a:t>
            </a:r>
            <a:r>
              <a:rPr sz="1100" b="1" i="0">
                <a:solidFill>
                  <a:srgbClr val="1F1E1E"/>
                </a:solidFill>
                <a:latin typeface="Helvetica"/>
              </a:rPr>
              <a:t>selector de carpetas del sistema operativo</a:t>
            </a:r>
            <a:r>
              <a:rPr sz="1100" b="0" i="0">
                <a:solidFill>
                  <a:srgbClr val="3B3535"/>
                </a:solidFill>
                <a:latin typeface="Helvetica"/>
              </a:rPr>
              <a:t> (el mismo folder picker que usás para abrir cualquier archivo). Lo que quede fuera de esa carpeta, Cowork no lo ve.</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El panel de contexto del Project.</a:t>
            </a:r>
            <a:r>
              <a:rPr sz="1100" b="0" i="0">
                <a:solidFill>
                  <a:srgbClr val="3B3535"/>
                </a:solidFill>
                <a:latin typeface="Helvetica"/>
              </a:rPr>
              <a:t> Es donde viven las Instrucciones, la base de conocimiento y la carpeta concedida — la "foto" de todo lo que el agente tiene a mano para ese Project.</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Nota de seguridad.</a:t>
            </a:r>
            <a:r>
              <a:rPr sz="1100" b="0" i="0">
                <a:solidFill>
                  <a:srgbClr val="3B3535"/>
                </a:solidFill>
                <a:latin typeface="Helvetica"/>
              </a:rPr>
              <a:t> El selector es a la vez tu garantía y tu límite: Cowork solo trabaja sobre lo que le concedés. </a:t>
            </a:r>
            <a:r>
              <a:rPr sz="1100" b="1" i="0">
                <a:solidFill>
                  <a:srgbClr val="1F1E1E"/>
                </a:solidFill>
                <a:latin typeface="Helvetica"/>
              </a:rPr>
              <a:t>Nunca concedas una carpeta con datos sensibles, credenciales o información bajo NDA.</a:t>
            </a:r>
            <a:r>
              <a:rPr sz="1100" b="0" i="0">
                <a:solidFill>
                  <a:srgbClr val="3B3535"/>
                </a:solidFill>
                <a:latin typeface="Helvetica"/>
              </a:rPr>
              <a:t> Buena práctica: una carpeta dedicada por Project, para saber siempre qué está en alcance.</a:t>
            </a:r>
          </a:p>
        </p:txBody>
      </p:sp>
      <p:sp>
        <p:nvSpPr>
          <p:cNvPr id="6" name="Rounded Rectangle 5"/>
          <p:cNvSpPr/>
          <p:nvPr/>
        </p:nvSpPr>
        <p:spPr>
          <a:xfrm>
            <a:off x="5623560" y="1390082"/>
            <a:ext cx="3108960" cy="1400929"/>
          </a:xfrm>
          <a:prstGeom prst="roundRect">
            <a:avLst/>
          </a:prstGeom>
          <a:solidFill>
            <a:srgbClr val="F2EEEE"/>
          </a:solidFill>
          <a:ln>
            <a:noFill/>
          </a:ln>
          <a:effectLst/>
        </p:spPr>
        <p:txBody>
          <a:bodyPr rtlCol="0" anchor="ctr"/>
          <a:lstStyle/>
          <a:p>
            <a:pPr algn="ctr"/>
          </a:p>
        </p:txBody>
      </p:sp>
      <p:pic>
        <p:nvPicPr>
          <p:cNvPr id="7" name="Picture 6" descr="project.png"/>
          <p:cNvPicPr>
            <a:picLocks noChangeAspect="1"/>
          </p:cNvPicPr>
          <p:nvPr/>
        </p:nvPicPr>
        <p:blipFill>
          <a:blip r:embed="rId2"/>
          <a:stretch>
            <a:fillRect/>
          </a:stretch>
        </p:blipFill>
        <p:spPr>
          <a:xfrm>
            <a:off x="5669280" y="1435802"/>
            <a:ext cx="3017520" cy="1309489"/>
          </a:xfrm>
          <a:prstGeom prst="rect">
            <a:avLst/>
          </a:prstGeom>
        </p:spPr>
      </p:pic>
      <p:sp>
        <p:nvSpPr>
          <p:cNvPr id="8" name="Rounded Rectangle 7"/>
          <p:cNvSpPr/>
          <p:nvPr/>
        </p:nvSpPr>
        <p:spPr>
          <a:xfrm>
            <a:off x="5623560" y="3321752"/>
            <a:ext cx="3108960" cy="1400929"/>
          </a:xfrm>
          <a:prstGeom prst="roundRect">
            <a:avLst/>
          </a:prstGeom>
          <a:solidFill>
            <a:srgbClr val="F2EEEE"/>
          </a:solidFill>
          <a:ln>
            <a:noFill/>
          </a:ln>
          <a:effectLst/>
        </p:spPr>
        <p:txBody>
          <a:bodyPr rtlCol="0" anchor="ctr"/>
          <a:lstStyle/>
          <a:p>
            <a:pPr algn="ctr"/>
          </a:p>
        </p:txBody>
      </p:sp>
      <p:pic>
        <p:nvPicPr>
          <p:cNvPr id="9" name="Picture 8" descr="context.png"/>
          <p:cNvPicPr>
            <a:picLocks noChangeAspect="1"/>
          </p:cNvPicPr>
          <p:nvPr/>
        </p:nvPicPr>
        <p:blipFill>
          <a:blip r:embed="rId3"/>
          <a:stretch>
            <a:fillRect/>
          </a:stretch>
        </p:blipFill>
        <p:spPr>
          <a:xfrm>
            <a:off x="5669280" y="3367472"/>
            <a:ext cx="3017520" cy="130948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TextBox 2"/>
          <p:cNvSpPr txBox="1"/>
          <p:nvPr/>
        </p:nvSpPr>
        <p:spPr>
          <a:xfrm>
            <a:off x="480974" y="504748"/>
            <a:ext cx="3246120" cy="365760"/>
          </a:xfrm>
          <a:prstGeom prst="rect">
            <a:avLst/>
          </a:prstGeom>
          <a:noFill/>
        </p:spPr>
        <p:txBody>
          <a:bodyPr wrap="square" anchor="t" lIns="0" rIns="0" tIns="0" bIns="0">
            <a:spAutoFit/>
          </a:bodyPr>
          <a:lstStyle/>
          <a:p>
            <a:r>
              <a:rPr sz="2150" b="1">
                <a:solidFill>
                  <a:srgbClr val="1F1E1E"/>
                </a:solidFill>
                <a:latin typeface="Helvetica"/>
              </a:rPr>
              <a:t>Agenda</a:t>
            </a:r>
          </a:p>
        </p:txBody>
      </p:sp>
      <p:sp>
        <p:nvSpPr>
          <p:cNvPr id="4" name="Rounded Rectangle 3"/>
          <p:cNvSpPr/>
          <p:nvPr/>
        </p:nvSpPr>
        <p:spPr>
          <a:xfrm>
            <a:off x="606103" y="994172"/>
            <a:ext cx="14288" cy="3644354"/>
          </a:xfrm>
          <a:prstGeom prst="roundRect">
            <a:avLst/>
          </a:prstGeom>
          <a:solidFill>
            <a:srgbClr val="D8D4D4"/>
          </a:solidFill>
          <a:ln>
            <a:noFill/>
          </a:ln>
          <a:effectLst/>
        </p:spPr>
        <p:txBody>
          <a:bodyPr rtlCol="0" anchor="ctr"/>
          <a:lstStyle/>
          <a:p>
            <a:pPr algn="ctr"/>
          </a:p>
        </p:txBody>
      </p:sp>
      <p:sp>
        <p:nvSpPr>
          <p:cNvPr id="5" name="Rounded Rectangle 4"/>
          <p:cNvSpPr/>
          <p:nvPr/>
        </p:nvSpPr>
        <p:spPr>
          <a:xfrm>
            <a:off x="480603" y="994172"/>
            <a:ext cx="250999" cy="250999"/>
          </a:xfrm>
          <a:prstGeom prst="roundRect">
            <a:avLst/>
          </a:prstGeom>
          <a:solidFill>
            <a:srgbClr val="F2EEEE"/>
          </a:solidFill>
          <a:ln>
            <a:noFill/>
          </a:ln>
          <a:effectLst/>
        </p:spPr>
        <p:txBody>
          <a:bodyPr rtlCol="0" anchor="ctr"/>
          <a:lstStyle/>
          <a:p>
            <a:pPr algn="ctr"/>
          </a:p>
        </p:txBody>
      </p:sp>
      <p:sp>
        <p:nvSpPr>
          <p:cNvPr id="6" name="TextBox 5"/>
          <p:cNvSpPr txBox="1"/>
          <p:nvPr/>
        </p:nvSpPr>
        <p:spPr>
          <a:xfrm>
            <a:off x="522387" y="1015045"/>
            <a:ext cx="167357" cy="209178"/>
          </a:xfrm>
          <a:prstGeom prst="rect">
            <a:avLst/>
          </a:prstGeom>
          <a:noFill/>
        </p:spPr>
        <p:txBody>
          <a:bodyPr wrap="none" anchor="ctr" lIns="0" rIns="0" tIns="0" bIns="0">
            <a:spAutoFit/>
          </a:bodyPr>
          <a:lstStyle/>
          <a:p>
            <a:pPr algn="ctr"/>
            <a:r>
              <a:rPr sz="1300" b="1">
                <a:solidFill>
                  <a:srgbClr val="3B3535"/>
                </a:solidFill>
                <a:latin typeface="Helvetica"/>
              </a:rPr>
              <a:t>1</a:t>
            </a:r>
          </a:p>
        </p:txBody>
      </p:sp>
      <p:sp>
        <p:nvSpPr>
          <p:cNvPr id="7" name="Rounded Rectangle 6"/>
          <p:cNvSpPr/>
          <p:nvPr/>
        </p:nvSpPr>
        <p:spPr>
          <a:xfrm>
            <a:off x="717314" y="1112491"/>
            <a:ext cx="334714" cy="14288"/>
          </a:xfrm>
          <a:prstGeom prst="roundRect">
            <a:avLst/>
          </a:prstGeom>
          <a:solidFill>
            <a:srgbClr val="D8D4D4"/>
          </a:solidFill>
          <a:ln>
            <a:noFill/>
          </a:ln>
          <a:effectLst/>
        </p:spPr>
        <p:txBody>
          <a:bodyPr rtlCol="0" anchor="ctr"/>
          <a:lstStyle/>
          <a:p>
            <a:pPr algn="ctr"/>
          </a:p>
        </p:txBody>
      </p:sp>
      <p:sp>
        <p:nvSpPr>
          <p:cNvPr id="8" name="TextBox 7"/>
          <p:cNvSpPr txBox="1"/>
          <p:nvPr/>
        </p:nvSpPr>
        <p:spPr>
          <a:xfrm>
            <a:off x="1164059" y="1004172"/>
            <a:ext cx="7400000" cy="220000"/>
          </a:xfrm>
          <a:prstGeom prst="rect">
            <a:avLst/>
          </a:prstGeom>
          <a:noFill/>
        </p:spPr>
        <p:txBody>
          <a:bodyPr wrap="square" anchor="t" lIns="0" rIns="0" tIns="0" bIns="0">
            <a:spAutoFit/>
          </a:bodyPr>
          <a:lstStyle/>
          <a:p>
            <a:r>
              <a:rPr sz="1150" b="1">
                <a:solidFill>
                  <a:srgbClr val="3B3535"/>
                </a:solidFill>
                <a:latin typeface="Helvetica"/>
              </a:rPr>
              <a:t>De chat a agente: dónde encaja Cowork</a:t>
            </a:r>
          </a:p>
        </p:txBody>
      </p:sp>
      <p:sp>
        <p:nvSpPr>
          <p:cNvPr id="9" name="TextBox 8"/>
          <p:cNvSpPr txBox="1"/>
          <p:nvPr/>
        </p:nvSpPr>
        <p:spPr>
          <a:xfrm>
            <a:off x="1164059" y="1244172"/>
            <a:ext cx="7499300" cy="180000"/>
          </a:xfrm>
          <a:prstGeom prst="rect">
            <a:avLst/>
          </a:prstGeom>
          <a:noFill/>
        </p:spPr>
        <p:txBody>
          <a:bodyPr wrap="square" anchor="t" lIns="0" rIns="0" tIns="0" bIns="0">
            <a:spAutoFit/>
          </a:bodyPr>
          <a:lstStyle/>
          <a:p>
            <a:r>
              <a:rPr sz="850">
                <a:solidFill>
                  <a:srgbClr val="3B3535"/>
                </a:solidFill>
                <a:latin typeface="Helvetica"/>
              </a:rPr>
              <a:t>De chatear a delegar: dónde vive Cowork</a:t>
            </a:r>
          </a:p>
        </p:txBody>
      </p:sp>
      <p:sp>
        <p:nvSpPr>
          <p:cNvPr id="10" name="Rounded Rectangle 9"/>
          <p:cNvSpPr/>
          <p:nvPr/>
        </p:nvSpPr>
        <p:spPr>
          <a:xfrm>
            <a:off x="480603" y="1534865"/>
            <a:ext cx="250999" cy="250999"/>
          </a:xfrm>
          <a:prstGeom prst="roundRect">
            <a:avLst/>
          </a:prstGeom>
          <a:solidFill>
            <a:srgbClr val="F2EEEE"/>
          </a:solidFill>
          <a:ln>
            <a:noFill/>
          </a:ln>
          <a:effectLst/>
        </p:spPr>
        <p:txBody>
          <a:bodyPr rtlCol="0" anchor="ctr"/>
          <a:lstStyle/>
          <a:p>
            <a:pPr algn="ctr"/>
          </a:p>
        </p:txBody>
      </p:sp>
      <p:sp>
        <p:nvSpPr>
          <p:cNvPr id="11" name="TextBox 10"/>
          <p:cNvSpPr txBox="1"/>
          <p:nvPr/>
        </p:nvSpPr>
        <p:spPr>
          <a:xfrm>
            <a:off x="522387" y="1555738"/>
            <a:ext cx="167357" cy="209178"/>
          </a:xfrm>
          <a:prstGeom prst="rect">
            <a:avLst/>
          </a:prstGeom>
          <a:noFill/>
        </p:spPr>
        <p:txBody>
          <a:bodyPr wrap="none" anchor="ctr" lIns="0" rIns="0" tIns="0" bIns="0">
            <a:spAutoFit/>
          </a:bodyPr>
          <a:lstStyle/>
          <a:p>
            <a:pPr algn="ctr"/>
            <a:r>
              <a:rPr sz="1300" b="1">
                <a:solidFill>
                  <a:srgbClr val="3B3535"/>
                </a:solidFill>
                <a:latin typeface="Helvetica"/>
              </a:rPr>
              <a:t>2</a:t>
            </a:r>
          </a:p>
        </p:txBody>
      </p:sp>
      <p:sp>
        <p:nvSpPr>
          <p:cNvPr id="12" name="Rounded Rectangle 11"/>
          <p:cNvSpPr/>
          <p:nvPr/>
        </p:nvSpPr>
        <p:spPr>
          <a:xfrm>
            <a:off x="717314" y="1653184"/>
            <a:ext cx="334714" cy="14288"/>
          </a:xfrm>
          <a:prstGeom prst="roundRect">
            <a:avLst/>
          </a:prstGeom>
          <a:solidFill>
            <a:srgbClr val="D8D4D4"/>
          </a:solidFill>
          <a:ln>
            <a:noFill/>
          </a:ln>
          <a:effectLst/>
        </p:spPr>
        <p:txBody>
          <a:bodyPr rtlCol="0" anchor="ctr"/>
          <a:lstStyle/>
          <a:p>
            <a:pPr algn="ctr"/>
          </a:p>
        </p:txBody>
      </p:sp>
      <p:sp>
        <p:nvSpPr>
          <p:cNvPr id="13" name="TextBox 12"/>
          <p:cNvSpPr txBox="1"/>
          <p:nvPr/>
        </p:nvSpPr>
        <p:spPr>
          <a:xfrm>
            <a:off x="1164059" y="1544865"/>
            <a:ext cx="7400000" cy="220000"/>
          </a:xfrm>
          <a:prstGeom prst="rect">
            <a:avLst/>
          </a:prstGeom>
          <a:noFill/>
        </p:spPr>
        <p:txBody>
          <a:bodyPr wrap="square" anchor="t" lIns="0" rIns="0" tIns="0" bIns="0">
            <a:spAutoFit/>
          </a:bodyPr>
          <a:lstStyle/>
          <a:p>
            <a:r>
              <a:rPr sz="1150" b="1">
                <a:solidFill>
                  <a:srgbClr val="3B3535"/>
                </a:solidFill>
                <a:latin typeface="Helvetica"/>
              </a:rPr>
              <a:t>Lo básico: interfaz, Instrucciones y Projects</a:t>
            </a:r>
          </a:p>
        </p:txBody>
      </p:sp>
      <p:sp>
        <p:nvSpPr>
          <p:cNvPr id="14" name="TextBox 13"/>
          <p:cNvSpPr txBox="1"/>
          <p:nvPr/>
        </p:nvSpPr>
        <p:spPr>
          <a:xfrm>
            <a:off x="1164059" y="1784865"/>
            <a:ext cx="7499300" cy="180000"/>
          </a:xfrm>
          <a:prstGeom prst="rect">
            <a:avLst/>
          </a:prstGeom>
          <a:noFill/>
        </p:spPr>
        <p:txBody>
          <a:bodyPr wrap="square" anchor="t" lIns="0" rIns="0" tIns="0" bIns="0">
            <a:spAutoFit/>
          </a:bodyPr>
          <a:lstStyle/>
          <a:p>
            <a:r>
              <a:rPr sz="850">
                <a:solidFill>
                  <a:srgbClr val="3B3535"/>
                </a:solidFill>
                <a:latin typeface="Helvetica"/>
              </a:rPr>
              <a:t>Interfaz, Instrucciones y Projects</a:t>
            </a:r>
          </a:p>
        </p:txBody>
      </p:sp>
      <p:sp>
        <p:nvSpPr>
          <p:cNvPr id="15" name="Rounded Rectangle 14"/>
          <p:cNvSpPr/>
          <p:nvPr/>
        </p:nvSpPr>
        <p:spPr>
          <a:xfrm>
            <a:off x="480603" y="2075558"/>
            <a:ext cx="250999" cy="250999"/>
          </a:xfrm>
          <a:prstGeom prst="roundRect">
            <a:avLst/>
          </a:prstGeom>
          <a:solidFill>
            <a:srgbClr val="DA1B2E"/>
          </a:solidFill>
          <a:ln>
            <a:noFill/>
          </a:ln>
          <a:effectLst/>
        </p:spPr>
        <p:txBody>
          <a:bodyPr rtlCol="0" anchor="ctr"/>
          <a:lstStyle/>
          <a:p>
            <a:pPr algn="ctr"/>
          </a:p>
        </p:txBody>
      </p:sp>
      <p:sp>
        <p:nvSpPr>
          <p:cNvPr id="16" name="TextBox 15"/>
          <p:cNvSpPr txBox="1"/>
          <p:nvPr/>
        </p:nvSpPr>
        <p:spPr>
          <a:xfrm>
            <a:off x="522387" y="2096431"/>
            <a:ext cx="167357" cy="209178"/>
          </a:xfrm>
          <a:prstGeom prst="rect">
            <a:avLst/>
          </a:prstGeom>
          <a:noFill/>
        </p:spPr>
        <p:txBody>
          <a:bodyPr wrap="none" anchor="ctr" lIns="0" rIns="0" tIns="0" bIns="0">
            <a:spAutoFit/>
          </a:bodyPr>
          <a:lstStyle/>
          <a:p>
            <a:pPr algn="ctr"/>
            <a:r>
              <a:rPr sz="1300" b="1">
                <a:solidFill>
                  <a:srgbClr val="FFFFFF"/>
                </a:solidFill>
                <a:latin typeface="Helvetica"/>
              </a:rPr>
              <a:t>3</a:t>
            </a:r>
          </a:p>
        </p:txBody>
      </p:sp>
      <p:sp>
        <p:nvSpPr>
          <p:cNvPr id="17" name="Rounded Rectangle 16"/>
          <p:cNvSpPr/>
          <p:nvPr/>
        </p:nvSpPr>
        <p:spPr>
          <a:xfrm>
            <a:off x="717314" y="2193877"/>
            <a:ext cx="334714" cy="14288"/>
          </a:xfrm>
          <a:prstGeom prst="roundRect">
            <a:avLst/>
          </a:prstGeom>
          <a:solidFill>
            <a:srgbClr val="F33447"/>
          </a:solidFill>
          <a:ln>
            <a:noFill/>
          </a:ln>
          <a:effectLst/>
        </p:spPr>
        <p:txBody>
          <a:bodyPr rtlCol="0" anchor="ctr"/>
          <a:lstStyle/>
          <a:p>
            <a:pPr algn="ctr"/>
          </a:p>
        </p:txBody>
      </p:sp>
      <p:sp>
        <p:nvSpPr>
          <p:cNvPr id="18" name="TextBox 17"/>
          <p:cNvSpPr txBox="1"/>
          <p:nvPr/>
        </p:nvSpPr>
        <p:spPr>
          <a:xfrm>
            <a:off x="1164059" y="2085558"/>
            <a:ext cx="7400000" cy="220000"/>
          </a:xfrm>
          <a:prstGeom prst="rect">
            <a:avLst/>
          </a:prstGeom>
          <a:noFill/>
        </p:spPr>
        <p:txBody>
          <a:bodyPr wrap="square" anchor="t" lIns="0" rIns="0" tIns="0" bIns="0">
            <a:spAutoFit/>
          </a:bodyPr>
          <a:lstStyle/>
          <a:p>
            <a:r>
              <a:rPr sz="1150" b="1">
                <a:solidFill>
                  <a:srgbClr val="1F1E1E"/>
                </a:solidFill>
                <a:latin typeface="Helvetica"/>
              </a:rPr>
              <a:t>Extender Cowork: Skills y el rol de los archivos MD / metadata</a:t>
            </a:r>
          </a:p>
        </p:txBody>
      </p:sp>
      <p:sp>
        <p:nvSpPr>
          <p:cNvPr id="19" name="TextBox 18"/>
          <p:cNvSpPr txBox="1"/>
          <p:nvPr/>
        </p:nvSpPr>
        <p:spPr>
          <a:xfrm>
            <a:off x="1164059" y="2325558"/>
            <a:ext cx="7499300" cy="180000"/>
          </a:xfrm>
          <a:prstGeom prst="rect">
            <a:avLst/>
          </a:prstGeom>
          <a:noFill/>
        </p:spPr>
        <p:txBody>
          <a:bodyPr wrap="square" anchor="t" lIns="0" rIns="0" tIns="0" bIns="0">
            <a:spAutoFit/>
          </a:bodyPr>
          <a:lstStyle/>
          <a:p>
            <a:r>
              <a:rPr sz="850">
                <a:solidFill>
                  <a:srgbClr val="3B3535"/>
                </a:solidFill>
                <a:latin typeface="Helvetica"/>
              </a:rPr>
              <a:t>Skills y los archivos MD / metadata</a:t>
            </a:r>
          </a:p>
        </p:txBody>
      </p:sp>
      <p:sp>
        <p:nvSpPr>
          <p:cNvPr id="20" name="Rounded Rectangle 19"/>
          <p:cNvSpPr/>
          <p:nvPr/>
        </p:nvSpPr>
        <p:spPr>
          <a:xfrm>
            <a:off x="480603" y="2616251"/>
            <a:ext cx="250999" cy="250999"/>
          </a:xfrm>
          <a:prstGeom prst="roundRect">
            <a:avLst/>
          </a:prstGeom>
          <a:solidFill>
            <a:srgbClr val="F2EEEE"/>
          </a:solidFill>
          <a:ln>
            <a:noFill/>
          </a:ln>
          <a:effectLst/>
        </p:spPr>
        <p:txBody>
          <a:bodyPr rtlCol="0" anchor="ctr"/>
          <a:lstStyle/>
          <a:p>
            <a:pPr algn="ctr"/>
          </a:p>
        </p:txBody>
      </p:sp>
      <p:sp>
        <p:nvSpPr>
          <p:cNvPr id="21" name="TextBox 20"/>
          <p:cNvSpPr txBox="1"/>
          <p:nvPr/>
        </p:nvSpPr>
        <p:spPr>
          <a:xfrm>
            <a:off x="522387" y="2637124"/>
            <a:ext cx="167357" cy="209178"/>
          </a:xfrm>
          <a:prstGeom prst="rect">
            <a:avLst/>
          </a:prstGeom>
          <a:noFill/>
        </p:spPr>
        <p:txBody>
          <a:bodyPr wrap="none" anchor="ctr" lIns="0" rIns="0" tIns="0" bIns="0">
            <a:spAutoFit/>
          </a:bodyPr>
          <a:lstStyle/>
          <a:p>
            <a:pPr algn="ctr"/>
            <a:r>
              <a:rPr sz="1300" b="1">
                <a:solidFill>
                  <a:srgbClr val="3B3535"/>
                </a:solidFill>
                <a:latin typeface="Helvetica"/>
              </a:rPr>
              <a:t>4</a:t>
            </a:r>
          </a:p>
        </p:txBody>
      </p:sp>
      <p:sp>
        <p:nvSpPr>
          <p:cNvPr id="22" name="Rounded Rectangle 21"/>
          <p:cNvSpPr/>
          <p:nvPr/>
        </p:nvSpPr>
        <p:spPr>
          <a:xfrm>
            <a:off x="717314" y="2734570"/>
            <a:ext cx="334714" cy="14288"/>
          </a:xfrm>
          <a:prstGeom prst="roundRect">
            <a:avLst/>
          </a:prstGeom>
          <a:solidFill>
            <a:srgbClr val="D8D4D4"/>
          </a:solidFill>
          <a:ln>
            <a:noFill/>
          </a:ln>
          <a:effectLst/>
        </p:spPr>
        <p:txBody>
          <a:bodyPr rtlCol="0" anchor="ctr"/>
          <a:lstStyle/>
          <a:p>
            <a:pPr algn="ctr"/>
          </a:p>
        </p:txBody>
      </p:sp>
      <p:sp>
        <p:nvSpPr>
          <p:cNvPr id="23" name="TextBox 22"/>
          <p:cNvSpPr txBox="1"/>
          <p:nvPr/>
        </p:nvSpPr>
        <p:spPr>
          <a:xfrm>
            <a:off x="1164059" y="2626251"/>
            <a:ext cx="7400000" cy="220000"/>
          </a:xfrm>
          <a:prstGeom prst="rect">
            <a:avLst/>
          </a:prstGeom>
          <a:noFill/>
        </p:spPr>
        <p:txBody>
          <a:bodyPr wrap="square" anchor="t" lIns="0" rIns="0" tIns="0" bIns="0">
            <a:spAutoFit/>
          </a:bodyPr>
          <a:lstStyle/>
          <a:p>
            <a:r>
              <a:rPr sz="1150" b="1">
                <a:solidFill>
                  <a:srgbClr val="3B3535"/>
                </a:solidFill>
                <a:latin typeface="Helvetica"/>
              </a:rPr>
              <a:t>Conectar y automatizar: Connectors/MCP y Schedule</a:t>
            </a:r>
          </a:p>
        </p:txBody>
      </p:sp>
      <p:sp>
        <p:nvSpPr>
          <p:cNvPr id="24" name="TextBox 23"/>
          <p:cNvSpPr txBox="1"/>
          <p:nvPr/>
        </p:nvSpPr>
        <p:spPr>
          <a:xfrm>
            <a:off x="1164059" y="2866251"/>
            <a:ext cx="7499300" cy="180000"/>
          </a:xfrm>
          <a:prstGeom prst="rect">
            <a:avLst/>
          </a:prstGeom>
          <a:noFill/>
        </p:spPr>
        <p:txBody>
          <a:bodyPr wrap="square" anchor="t" lIns="0" rIns="0" tIns="0" bIns="0">
            <a:spAutoFit/>
          </a:bodyPr>
          <a:lstStyle/>
          <a:p>
            <a:r>
              <a:rPr sz="850">
                <a:solidFill>
                  <a:srgbClr val="3B3535"/>
                </a:solidFill>
                <a:latin typeface="Helvetica"/>
              </a:rPr>
              <a:t>Connectors/MCP y Schedule</a:t>
            </a:r>
          </a:p>
        </p:txBody>
      </p:sp>
      <p:sp>
        <p:nvSpPr>
          <p:cNvPr id="25" name="Rounded Rectangle 24"/>
          <p:cNvSpPr/>
          <p:nvPr/>
        </p:nvSpPr>
        <p:spPr>
          <a:xfrm>
            <a:off x="480603" y="3156944"/>
            <a:ext cx="250999" cy="250999"/>
          </a:xfrm>
          <a:prstGeom prst="roundRect">
            <a:avLst/>
          </a:prstGeom>
          <a:solidFill>
            <a:srgbClr val="F2EEEE"/>
          </a:solidFill>
          <a:ln>
            <a:noFill/>
          </a:ln>
          <a:effectLst/>
        </p:spPr>
        <p:txBody>
          <a:bodyPr rtlCol="0" anchor="ctr"/>
          <a:lstStyle/>
          <a:p>
            <a:pPr algn="ctr"/>
          </a:p>
        </p:txBody>
      </p:sp>
      <p:sp>
        <p:nvSpPr>
          <p:cNvPr id="26" name="TextBox 25"/>
          <p:cNvSpPr txBox="1"/>
          <p:nvPr/>
        </p:nvSpPr>
        <p:spPr>
          <a:xfrm>
            <a:off x="522387" y="3177817"/>
            <a:ext cx="167357" cy="209178"/>
          </a:xfrm>
          <a:prstGeom prst="rect">
            <a:avLst/>
          </a:prstGeom>
          <a:noFill/>
        </p:spPr>
        <p:txBody>
          <a:bodyPr wrap="none" anchor="ctr" lIns="0" rIns="0" tIns="0" bIns="0">
            <a:spAutoFit/>
          </a:bodyPr>
          <a:lstStyle/>
          <a:p>
            <a:pPr algn="ctr"/>
            <a:r>
              <a:rPr sz="1300" b="1">
                <a:solidFill>
                  <a:srgbClr val="3B3535"/>
                </a:solidFill>
                <a:latin typeface="Helvetica"/>
              </a:rPr>
              <a:t>5</a:t>
            </a:r>
          </a:p>
        </p:txBody>
      </p:sp>
      <p:sp>
        <p:nvSpPr>
          <p:cNvPr id="27" name="Rounded Rectangle 26"/>
          <p:cNvSpPr/>
          <p:nvPr/>
        </p:nvSpPr>
        <p:spPr>
          <a:xfrm>
            <a:off x="717314" y="3275263"/>
            <a:ext cx="334714" cy="14288"/>
          </a:xfrm>
          <a:prstGeom prst="roundRect">
            <a:avLst/>
          </a:prstGeom>
          <a:solidFill>
            <a:srgbClr val="D8D4D4"/>
          </a:solidFill>
          <a:ln>
            <a:noFill/>
          </a:ln>
          <a:effectLst/>
        </p:spPr>
        <p:txBody>
          <a:bodyPr rtlCol="0" anchor="ctr"/>
          <a:lstStyle/>
          <a:p>
            <a:pPr algn="ctr"/>
          </a:p>
        </p:txBody>
      </p:sp>
      <p:sp>
        <p:nvSpPr>
          <p:cNvPr id="28" name="TextBox 27"/>
          <p:cNvSpPr txBox="1"/>
          <p:nvPr/>
        </p:nvSpPr>
        <p:spPr>
          <a:xfrm>
            <a:off x="1164059" y="3166944"/>
            <a:ext cx="7400000" cy="220000"/>
          </a:xfrm>
          <a:prstGeom prst="rect">
            <a:avLst/>
          </a:prstGeom>
          <a:noFill/>
        </p:spPr>
        <p:txBody>
          <a:bodyPr wrap="square" anchor="t" lIns="0" rIns="0" tIns="0" bIns="0">
            <a:spAutoFit/>
          </a:bodyPr>
          <a:lstStyle/>
          <a:p>
            <a:r>
              <a:rPr sz="1150" b="1">
                <a:solidFill>
                  <a:srgbClr val="3B3535"/>
                </a:solidFill>
                <a:latin typeface="Helvetica"/>
              </a:rPr>
              <a:t>Compartir resultados: Live Artifacts</a:t>
            </a:r>
          </a:p>
        </p:txBody>
      </p:sp>
      <p:sp>
        <p:nvSpPr>
          <p:cNvPr id="29" name="TextBox 28"/>
          <p:cNvSpPr txBox="1"/>
          <p:nvPr/>
        </p:nvSpPr>
        <p:spPr>
          <a:xfrm>
            <a:off x="1164059" y="3406944"/>
            <a:ext cx="7499300" cy="180000"/>
          </a:xfrm>
          <a:prstGeom prst="rect">
            <a:avLst/>
          </a:prstGeom>
          <a:noFill/>
        </p:spPr>
        <p:txBody>
          <a:bodyPr wrap="square" anchor="t" lIns="0" rIns="0" tIns="0" bIns="0">
            <a:spAutoFit/>
          </a:bodyPr>
          <a:lstStyle/>
          <a:p>
            <a:r>
              <a:rPr sz="850">
                <a:solidFill>
                  <a:srgbClr val="3B3535"/>
                </a:solidFill>
                <a:latin typeface="Helvetica"/>
              </a:rPr>
              <a:t>Live Artifacts: compartir el resultado</a:t>
            </a:r>
          </a:p>
        </p:txBody>
      </p:sp>
      <p:sp>
        <p:nvSpPr>
          <p:cNvPr id="30" name="Rounded Rectangle 29"/>
          <p:cNvSpPr/>
          <p:nvPr/>
        </p:nvSpPr>
        <p:spPr>
          <a:xfrm>
            <a:off x="480603" y="3697637"/>
            <a:ext cx="250999" cy="250999"/>
          </a:xfrm>
          <a:prstGeom prst="roundRect">
            <a:avLst/>
          </a:prstGeom>
          <a:solidFill>
            <a:srgbClr val="F2EEEE"/>
          </a:solidFill>
          <a:ln>
            <a:noFill/>
          </a:ln>
          <a:effectLst/>
        </p:spPr>
        <p:txBody>
          <a:bodyPr rtlCol="0" anchor="ctr"/>
          <a:lstStyle/>
          <a:p>
            <a:pPr algn="ctr"/>
          </a:p>
        </p:txBody>
      </p:sp>
      <p:sp>
        <p:nvSpPr>
          <p:cNvPr id="31" name="TextBox 30"/>
          <p:cNvSpPr txBox="1"/>
          <p:nvPr/>
        </p:nvSpPr>
        <p:spPr>
          <a:xfrm>
            <a:off x="522387" y="3718510"/>
            <a:ext cx="167357" cy="209178"/>
          </a:xfrm>
          <a:prstGeom prst="rect">
            <a:avLst/>
          </a:prstGeom>
          <a:noFill/>
        </p:spPr>
        <p:txBody>
          <a:bodyPr wrap="none" anchor="ctr" lIns="0" rIns="0" tIns="0" bIns="0">
            <a:spAutoFit/>
          </a:bodyPr>
          <a:lstStyle/>
          <a:p>
            <a:pPr algn="ctr"/>
            <a:r>
              <a:rPr sz="1300" b="1">
                <a:solidFill>
                  <a:srgbClr val="3B3535"/>
                </a:solidFill>
                <a:latin typeface="Helvetica"/>
              </a:rPr>
              <a:t>6</a:t>
            </a:r>
          </a:p>
        </p:txBody>
      </p:sp>
      <p:sp>
        <p:nvSpPr>
          <p:cNvPr id="32" name="Rounded Rectangle 31"/>
          <p:cNvSpPr/>
          <p:nvPr/>
        </p:nvSpPr>
        <p:spPr>
          <a:xfrm>
            <a:off x="717314" y="3815956"/>
            <a:ext cx="334714" cy="14288"/>
          </a:xfrm>
          <a:prstGeom prst="roundRect">
            <a:avLst/>
          </a:prstGeom>
          <a:solidFill>
            <a:srgbClr val="D8D4D4"/>
          </a:solidFill>
          <a:ln>
            <a:noFill/>
          </a:ln>
          <a:effectLst/>
        </p:spPr>
        <p:txBody>
          <a:bodyPr rtlCol="0" anchor="ctr"/>
          <a:lstStyle/>
          <a:p>
            <a:pPr algn="ctr"/>
          </a:p>
        </p:txBody>
      </p:sp>
      <p:sp>
        <p:nvSpPr>
          <p:cNvPr id="33" name="TextBox 32"/>
          <p:cNvSpPr txBox="1"/>
          <p:nvPr/>
        </p:nvSpPr>
        <p:spPr>
          <a:xfrm>
            <a:off x="1164059" y="3707637"/>
            <a:ext cx="7400000" cy="220000"/>
          </a:xfrm>
          <a:prstGeom prst="rect">
            <a:avLst/>
          </a:prstGeom>
          <a:noFill/>
        </p:spPr>
        <p:txBody>
          <a:bodyPr wrap="square" anchor="t" lIns="0" rIns="0" tIns="0" bIns="0">
            <a:spAutoFit/>
          </a:bodyPr>
          <a:lstStyle/>
          <a:p>
            <a:r>
              <a:rPr sz="1150" b="1">
                <a:solidFill>
                  <a:srgbClr val="3B3535"/>
                </a:solidFill>
                <a:latin typeface="Helvetica"/>
              </a:rPr>
              <a:t>Advanced: Subagentes y Plugins</a:t>
            </a:r>
          </a:p>
        </p:txBody>
      </p:sp>
      <p:sp>
        <p:nvSpPr>
          <p:cNvPr id="34" name="TextBox 33"/>
          <p:cNvSpPr txBox="1"/>
          <p:nvPr/>
        </p:nvSpPr>
        <p:spPr>
          <a:xfrm>
            <a:off x="1164059" y="3947637"/>
            <a:ext cx="7499300" cy="180000"/>
          </a:xfrm>
          <a:prstGeom prst="rect">
            <a:avLst/>
          </a:prstGeom>
          <a:noFill/>
        </p:spPr>
        <p:txBody>
          <a:bodyPr wrap="square" anchor="t" lIns="0" rIns="0" tIns="0" bIns="0">
            <a:spAutoFit/>
          </a:bodyPr>
          <a:lstStyle/>
          <a:p>
            <a:r>
              <a:rPr sz="850">
                <a:solidFill>
                  <a:srgbClr val="3B3535"/>
                </a:solidFill>
                <a:latin typeface="Helvetica"/>
              </a:rPr>
              <a:t>Subagentes y Plugins</a:t>
            </a:r>
          </a:p>
        </p:txBody>
      </p:sp>
      <p:sp>
        <p:nvSpPr>
          <p:cNvPr id="35" name="Rounded Rectangle 34"/>
          <p:cNvSpPr/>
          <p:nvPr/>
        </p:nvSpPr>
        <p:spPr>
          <a:xfrm>
            <a:off x="480603" y="4238330"/>
            <a:ext cx="250999" cy="250999"/>
          </a:xfrm>
          <a:prstGeom prst="roundRect">
            <a:avLst/>
          </a:prstGeom>
          <a:solidFill>
            <a:srgbClr val="F2EEEE"/>
          </a:solidFill>
          <a:ln>
            <a:noFill/>
          </a:ln>
          <a:effectLst/>
        </p:spPr>
        <p:txBody>
          <a:bodyPr rtlCol="0" anchor="ctr"/>
          <a:lstStyle/>
          <a:p>
            <a:pPr algn="ctr"/>
          </a:p>
        </p:txBody>
      </p:sp>
      <p:sp>
        <p:nvSpPr>
          <p:cNvPr id="36" name="TextBox 35"/>
          <p:cNvSpPr txBox="1"/>
          <p:nvPr/>
        </p:nvSpPr>
        <p:spPr>
          <a:xfrm>
            <a:off x="522387" y="4259203"/>
            <a:ext cx="167357" cy="209178"/>
          </a:xfrm>
          <a:prstGeom prst="rect">
            <a:avLst/>
          </a:prstGeom>
          <a:noFill/>
        </p:spPr>
        <p:txBody>
          <a:bodyPr wrap="none" anchor="ctr" lIns="0" rIns="0" tIns="0" bIns="0">
            <a:spAutoFit/>
          </a:bodyPr>
          <a:lstStyle/>
          <a:p>
            <a:pPr algn="ctr"/>
            <a:r>
              <a:rPr sz="1300" b="1">
                <a:solidFill>
                  <a:srgbClr val="3B3535"/>
                </a:solidFill>
                <a:latin typeface="Helvetica"/>
              </a:rPr>
              <a:t>7</a:t>
            </a:r>
          </a:p>
        </p:txBody>
      </p:sp>
      <p:sp>
        <p:nvSpPr>
          <p:cNvPr id="37" name="Rounded Rectangle 36"/>
          <p:cNvSpPr/>
          <p:nvPr/>
        </p:nvSpPr>
        <p:spPr>
          <a:xfrm>
            <a:off x="717314" y="4356649"/>
            <a:ext cx="334714" cy="14288"/>
          </a:xfrm>
          <a:prstGeom prst="roundRect">
            <a:avLst/>
          </a:prstGeom>
          <a:solidFill>
            <a:srgbClr val="D8D4D4"/>
          </a:solidFill>
          <a:ln>
            <a:noFill/>
          </a:ln>
          <a:effectLst/>
        </p:spPr>
        <p:txBody>
          <a:bodyPr rtlCol="0" anchor="ctr"/>
          <a:lstStyle/>
          <a:p>
            <a:pPr algn="ctr"/>
          </a:p>
        </p:txBody>
      </p:sp>
      <p:sp>
        <p:nvSpPr>
          <p:cNvPr id="38" name="TextBox 37"/>
          <p:cNvSpPr txBox="1"/>
          <p:nvPr/>
        </p:nvSpPr>
        <p:spPr>
          <a:xfrm>
            <a:off x="1164059" y="4248330"/>
            <a:ext cx="7400000" cy="220000"/>
          </a:xfrm>
          <a:prstGeom prst="rect">
            <a:avLst/>
          </a:prstGeom>
          <a:noFill/>
        </p:spPr>
        <p:txBody>
          <a:bodyPr wrap="square" anchor="t" lIns="0" rIns="0" tIns="0" bIns="0">
            <a:spAutoFit/>
          </a:bodyPr>
          <a:lstStyle/>
          <a:p>
            <a:r>
              <a:rPr sz="1150" b="1">
                <a:solidFill>
                  <a:srgbClr val="3B3535"/>
                </a:solidFill>
                <a:latin typeface="Helvetica"/>
              </a:rPr>
              <a:t>Conclusions</a:t>
            </a:r>
          </a:p>
        </p:txBody>
      </p:sp>
      <p:sp>
        <p:nvSpPr>
          <p:cNvPr id="39" name="TextBox 38"/>
          <p:cNvSpPr txBox="1"/>
          <p:nvPr/>
        </p:nvSpPr>
        <p:spPr>
          <a:xfrm>
            <a:off x="1164059" y="4488330"/>
            <a:ext cx="7499300" cy="180000"/>
          </a:xfrm>
          <a:prstGeom prst="rect">
            <a:avLst/>
          </a:prstGeom>
          <a:noFill/>
        </p:spPr>
        <p:txBody>
          <a:bodyPr wrap="square" anchor="t" lIns="0" rIns="0" tIns="0" bIns="0">
            <a:spAutoFit/>
          </a:bodyPr>
          <a:lstStyle/>
          <a:p>
            <a:r>
              <a:rPr sz="850">
                <a:solidFill>
                  <a:srgbClr val="3B3535"/>
                </a:solidFill>
                <a:latin typeface="Helvetica"/>
              </a:rPr>
              <a:t>El loop completo y la gobernanza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271016"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EXTENDER COWORK</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400" b="1">
                <a:solidFill>
                  <a:srgbClr val="1F1E1E"/>
                </a:solidFill>
                <a:latin typeface="Helvetica"/>
              </a:rPr>
              <a:t>Skills: enseñarle a Claude algo una sola vez</a:t>
            </a:r>
          </a:p>
        </p:txBody>
      </p:sp>
      <p:sp>
        <p:nvSpPr>
          <p:cNvPr id="5" name="TextBox 4"/>
          <p:cNvSpPr txBox="1"/>
          <p:nvPr/>
        </p:nvSpPr>
        <p:spPr>
          <a:xfrm>
            <a:off x="457200" y="1225296"/>
            <a:ext cx="8229600" cy="3689604"/>
          </a:xfrm>
          <a:prstGeom prst="rect">
            <a:avLst/>
          </a:prstGeom>
          <a:noFill/>
        </p:spPr>
        <p:txBody>
          <a:bodyPr wrap="square" anchor="t" lIns="0" rIns="0" tIns="0" bIns="0">
            <a:spAutoFit/>
          </a:bodyPr>
          <a:lstStyle/>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Concepto.</a:t>
            </a:r>
            <a:r>
              <a:rPr sz="1000" b="0" i="0">
                <a:solidFill>
                  <a:srgbClr val="3B3535"/>
                </a:solidFill>
                <a:latin typeface="Helvetica"/>
              </a:rPr>
              <a:t> Una Skill es una instrucción reutilizable (+ scripts opcionales) que el agente carga cuando tu pedido coincide con su descripción. Un trabajo por Skill: "si escribís 'y además', dividila en dos". La frase clave: </a:t>
            </a:r>
            <a:r>
              <a:rPr sz="1000" b="0" i="1">
                <a:solidFill>
                  <a:srgbClr val="3B3535"/>
                </a:solidFill>
                <a:latin typeface="Helvetica"/>
              </a:rPr>
              <a:t>"Todo lo que le explicás a Claude dos veces es una Skill que deberías escribir una vez."</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Cómo se crea una Skill en Cowork.</a:t>
            </a:r>
            <a:r>
              <a:rPr sz="1000" b="0" i="0">
                <a:solidFill>
                  <a:srgbClr val="3B3535"/>
                </a:solidFill>
                <a:latin typeface="Helvetica"/>
              </a:rPr>
              <a:t> Dos caminos reales (Cowork es GUI: </a:t>
            </a:r>
            <a:r>
              <a:rPr sz="1000" b="1" i="0">
                <a:solidFill>
                  <a:srgbClr val="1F1E1E"/>
                </a:solidFill>
                <a:latin typeface="Helvetica"/>
              </a:rPr>
              <a:t>no hay slash commands</a:t>
            </a:r>
            <a:r>
              <a:rPr sz="1000" b="0" i="0">
                <a:solidFill>
                  <a:srgbClr val="3B3535"/>
                </a:solidFill>
                <a:latin typeface="Helvetica"/>
              </a:rPr>
              <a:t>):</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Pedísela en lenguaje natural</a:t>
            </a:r>
            <a:r>
              <a:rPr sz="900" b="0" i="0">
                <a:solidFill>
                  <a:srgbClr val="3B3535"/>
                </a:solidFill>
                <a:latin typeface="Helvetica"/>
              </a:rPr>
              <a:t> — "armame una Skill que haga X". Claude </a:t>
            </a:r>
            <a:r>
              <a:rPr sz="900" b="1" i="0">
                <a:solidFill>
                  <a:srgbClr val="1F1E1E"/>
                </a:solidFill>
                <a:latin typeface="Helvetica"/>
              </a:rPr>
              <a:t>escribe el archivo </a:t>
            </a:r>
            <a:r>
              <a:rPr sz="900" b="1" i="0">
                <a:solidFill>
                  <a:srgbClr val="000000"/>
                </a:solidFill>
                <a:latin typeface="Courier New"/>
              </a:rPr>
              <a:t>SKILL.md</a:t>
            </a:r>
            <a:r>
              <a:rPr sz="900" b="0" i="0">
                <a:solidFill>
                  <a:srgbClr val="3B3535"/>
                </a:solidFill>
                <a:latin typeface="Helvetica"/>
              </a:rPr>
              <a:t>, pero Cowork </a:t>
            </a:r>
            <a:r>
              <a:rPr sz="900" b="1" i="0">
                <a:solidFill>
                  <a:srgbClr val="1F1E1E"/>
                </a:solidFill>
                <a:latin typeface="Helvetica"/>
              </a:rPr>
              <a:t>NO la registra/habilita</a:t>
            </a:r>
            <a:r>
              <a:rPr sz="900" b="0" i="0">
                <a:solidFill>
                  <a:srgbClr val="3B3535"/>
                </a:solidFill>
                <a:latin typeface="Helvetica"/>
              </a:rPr>
              <a:t> solo. Tenés que </a:t>
            </a:r>
            <a:r>
              <a:rPr sz="900" b="1" i="0">
                <a:solidFill>
                  <a:srgbClr val="1F1E1E"/>
                </a:solidFill>
                <a:latin typeface="Helvetica"/>
              </a:rPr>
              <a:t>habilitarla</a:t>
            </a:r>
            <a:r>
              <a:rPr sz="900" b="0" i="0">
                <a:solidFill>
                  <a:srgbClr val="3B3535"/>
                </a:solidFill>
                <a:latin typeface="Helvetica"/>
              </a:rPr>
              <a:t> en </a:t>
            </a:r>
            <a:r>
              <a:rPr sz="900" b="1" i="0">
                <a:solidFill>
                  <a:srgbClr val="1F1E1E"/>
                </a:solidFill>
                <a:latin typeface="Helvetica"/>
              </a:rPr>
              <a:t>Customize Skills</a:t>
            </a:r>
            <a:r>
              <a:rPr sz="900" b="0" i="0">
                <a:solidFill>
                  <a:srgbClr val="3B3535"/>
                </a:solidFill>
                <a:latin typeface="Helvetica"/>
              </a:rPr>
              <a:t> (el botón </a:t>
            </a:r>
            <a:r>
              <a:rPr sz="900" b="1" i="0">
                <a:solidFill>
                  <a:srgbClr val="1F1E1E"/>
                </a:solidFill>
                <a:latin typeface="Helvetica"/>
              </a:rPr>
              <a:t>Save skill / Save to enable</a:t>
            </a:r>
            <a:r>
              <a:rPr sz="900" b="0" i="0">
                <a:solidFill>
                  <a:srgbClr val="3B3535"/>
                </a:solidFill>
                <a:latin typeface="Helvetica"/>
              </a:rPr>
              <a:t>). Recién ahí queda activa.</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Subís un ZIP</a:t>
            </a:r>
            <a:r>
              <a:rPr sz="900" b="0" i="0">
                <a:solidFill>
                  <a:srgbClr val="3B3535"/>
                </a:solidFill>
                <a:latin typeface="Helvetica"/>
              </a:rPr>
              <a:t> — empaquetás la carpeta de la Skill como </a:t>
            </a:r>
            <a:r>
              <a:rPr sz="900" b="0" i="0">
                <a:solidFill>
                  <a:srgbClr val="000000"/>
                </a:solidFill>
                <a:latin typeface="Courier New"/>
              </a:rPr>
              <a:t>.zip</a:t>
            </a:r>
            <a:r>
              <a:rPr sz="900" b="0" i="0">
                <a:solidFill>
                  <a:srgbClr val="3B3535"/>
                </a:solidFill>
                <a:latin typeface="Helvetica"/>
              </a:rPr>
              <a:t> y la cargás en </a:t>
            </a:r>
            <a:r>
              <a:rPr sz="900" b="1" i="0">
                <a:solidFill>
                  <a:srgbClr val="1F1E1E"/>
                </a:solidFill>
                <a:latin typeface="Helvetica"/>
              </a:rPr>
              <a:t>Customize Skills "+" Create skill Upload a skill</a:t>
            </a:r>
            <a:r>
              <a:rPr sz="900" b="0" i="0">
                <a:solidFill>
                  <a:srgbClr val="3B3535"/>
                </a:solidFill>
                <a:latin typeface="Helvetica"/>
              </a:rPr>
              <a:t>, y la activás con el toggle.</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Requisito.</a:t>
            </a:r>
            <a:r>
              <a:rPr sz="1000" b="0" i="0">
                <a:solidFill>
                  <a:srgbClr val="3B3535"/>
                </a:solidFill>
                <a:latin typeface="Helvetica"/>
              </a:rPr>
              <a:t> Las Skills necesitan </a:t>
            </a:r>
            <a:r>
              <a:rPr sz="1000" b="1" i="0">
                <a:solidFill>
                  <a:srgbClr val="1F1E1E"/>
                </a:solidFill>
                <a:latin typeface="Helvetica"/>
              </a:rPr>
              <a:t>Code execution</a:t>
            </a:r>
            <a:r>
              <a:rPr sz="1000" b="0" i="0">
                <a:solidFill>
                  <a:srgbClr val="3B3535"/>
                </a:solidFill>
                <a:latin typeface="Helvetica"/>
              </a:rPr>
              <a:t> habilitado (Settings Capabilities).</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OJO — la trampa del Save (camino 1).</a:t>
            </a:r>
            <a:r>
              <a:rPr sz="1000" b="0" i="0">
                <a:solidFill>
                  <a:srgbClr val="3B3535"/>
                </a:solidFill>
                <a:latin typeface="Helvetica"/>
              </a:rPr>
              <a:t> Es el error más común: pedís la Skill, Claude escribe el archivo… pero si no le das </a:t>
            </a:r>
            <a:r>
              <a:rPr sz="1000" b="1" i="0">
                <a:solidFill>
                  <a:srgbClr val="1F1E1E"/>
                </a:solidFill>
                <a:latin typeface="Helvetica"/>
              </a:rPr>
              <a:t>Save / enable</a:t>
            </a:r>
            <a:r>
              <a:rPr sz="1000" b="0" i="0">
                <a:solidFill>
                  <a:srgbClr val="3B3535"/>
                </a:solidFill>
                <a:latin typeface="Helvetica"/>
              </a:rPr>
              <a:t> en Customize, no queda habilitada y parece que "no funciona".</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Ejemplo (Atlas).</a:t>
            </a:r>
            <a:r>
              <a:rPr sz="1000" b="0" i="0">
                <a:solidFill>
                  <a:srgbClr val="3B3535"/>
                </a:solidFill>
                <a:latin typeface="Helvetica"/>
              </a:rPr>
              <a:t> La Skill </a:t>
            </a:r>
            <a:r>
              <a:rPr sz="1000" b="0" i="0">
                <a:solidFill>
                  <a:srgbClr val="000000"/>
                </a:solidFill>
                <a:latin typeface="Courier New"/>
              </a:rPr>
              <a:t>reporte-semanal</a:t>
            </a:r>
            <a:r>
              <a:rPr sz="1000" b="0" i="0">
                <a:solidFill>
                  <a:srgbClr val="3B3535"/>
                </a:solidFill>
                <a:latin typeface="Helvetica"/>
              </a:rPr>
              <a:t>: lee TODOS los archivos crudos de una carpeta </a:t>
            </a:r>
            <a:r>
              <a:rPr sz="1000" b="0" i="0">
                <a:solidFill>
                  <a:srgbClr val="000000"/>
                </a:solidFill>
                <a:latin typeface="Courier New"/>
              </a:rPr>
              <a:t>fuentes/</a:t>
            </a:r>
            <a:r>
              <a:rPr sz="1000" b="0" i="0">
                <a:solidFill>
                  <a:srgbClr val="3B3535"/>
                </a:solidFill>
                <a:latin typeface="Helvetica"/>
              </a:rPr>
              <a:t> (uno por portal), consolida por empresa y genera un reporte con formato fijo. La empresa más relevante va primera (). Guarda con sufijo </a:t>
            </a:r>
            <a:r>
              <a:rPr sz="1000" b="0" i="0">
                <a:solidFill>
                  <a:srgbClr val="000000"/>
                </a:solidFill>
                <a:latin typeface="Courier New"/>
              </a:rPr>
              <a:t>-new</a:t>
            </a:r>
            <a:r>
              <a:rPr sz="1000" b="0" i="0">
                <a:solidFill>
                  <a:srgbClr val="3B3535"/>
                </a:solidFill>
                <a:latin typeface="Helvetica"/>
              </a:rPr>
              <a:t> para no pisar el ejemplo.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271016"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EXTENDER COWORK</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1700" b="1">
                <a:solidFill>
                  <a:srgbClr val="1F1E1E"/>
                </a:solidFill>
                <a:latin typeface="Helvetica"/>
              </a:rPr>
              <a:t>(Sideway) Archivos MD y metadata: el lenguaje común del mundo LLM</a:t>
            </a:r>
          </a:p>
        </p:txBody>
      </p:sp>
      <p:sp>
        <p:nvSpPr>
          <p:cNvPr id="5" name="TextBox 4"/>
          <p:cNvSpPr txBox="1"/>
          <p:nvPr/>
        </p:nvSpPr>
        <p:spPr>
          <a:xfrm>
            <a:off x="457200" y="1408176"/>
            <a:ext cx="8229600" cy="3506724"/>
          </a:xfrm>
          <a:prstGeom prst="rect">
            <a:avLst/>
          </a:prstGeom>
          <a:noFill/>
        </p:spPr>
        <p:txBody>
          <a:bodyPr wrap="square" anchor="t" lIns="0" rIns="0" tIns="0" bIns="0">
            <a:spAutoFit/>
          </a:bodyPr>
          <a:lstStyle/>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Concepto.</a:t>
            </a:r>
            <a:r>
              <a:rPr sz="1000" b="0" i="0">
                <a:solidFill>
                  <a:srgbClr val="3B3535"/>
                </a:solidFill>
                <a:latin typeface="Helvetica"/>
              </a:rPr>
              <a:t> Casi todo lo que configurás alrededor de un agente — Instrucciones, Skills (</a:t>
            </a:r>
            <a:r>
              <a:rPr sz="1000" b="0" i="0">
                <a:solidFill>
                  <a:srgbClr val="000000"/>
                </a:solidFill>
                <a:latin typeface="Courier New"/>
              </a:rPr>
              <a:t>SKILL.md</a:t>
            </a:r>
            <a:r>
              <a:rPr sz="1000" b="0" i="0">
                <a:solidFill>
                  <a:srgbClr val="3B3535"/>
                </a:solidFill>
                <a:latin typeface="Helvetica"/>
              </a:rPr>
              <a:t>), archivos de agentes, docs de plugins, salidas — es texto plano en </a:t>
            </a:r>
            <a:r>
              <a:rPr sz="1000" b="1" i="0">
                <a:solidFill>
                  <a:srgbClr val="1F1E1E"/>
                </a:solidFill>
                <a:latin typeface="Helvetica"/>
              </a:rPr>
              <a:t>Markdown</a:t>
            </a:r>
            <a:r>
              <a:rPr sz="1000" b="0" i="0">
                <a:solidFill>
                  <a:srgbClr val="3B3535"/>
                </a:solidFill>
                <a:latin typeface="Helvetica"/>
              </a:rPr>
              <a:t> (</a:t>
            </a:r>
            <a:r>
              <a:rPr sz="1000" b="0" i="0">
                <a:solidFill>
                  <a:srgbClr val="000000"/>
                </a:solidFill>
                <a:latin typeface="Courier New"/>
              </a:rPr>
              <a:t>.md</a:t>
            </a:r>
            <a:r>
              <a:rPr sz="1000" b="0" i="0">
                <a:solidFill>
                  <a:srgbClr val="3B3535"/>
                </a:solidFill>
                <a:latin typeface="Helvetica"/>
              </a:rPr>
              <a:t>). Markdown es la </a:t>
            </a:r>
            <a:r>
              <a:rPr sz="1000" b="0" i="1">
                <a:solidFill>
                  <a:srgbClr val="3B3535"/>
                </a:solidFill>
                <a:latin typeface="Helvetica"/>
              </a:rPr>
              <a:t>lingua franca</a:t>
            </a:r>
            <a:r>
              <a:rPr sz="1000" b="0" i="0">
                <a:solidFill>
                  <a:srgbClr val="3B3535"/>
                </a:solidFill>
                <a:latin typeface="Helvetica"/>
              </a:rPr>
              <a:t> del mundo LLM.</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Qué es la metadata / los headers.</a:t>
            </a:r>
            <a:r>
              <a:rPr sz="1000" b="0" i="0">
                <a:solidFill>
                  <a:srgbClr val="3B3535"/>
                </a:solidFill>
                <a:latin typeface="Helvetica"/>
              </a:rPr>
              <a:t> Muchos de esos archivos arrancan con un bloque de </a:t>
            </a:r>
            <a:r>
              <a:rPr sz="1000" b="1" i="0">
                <a:solidFill>
                  <a:srgbClr val="1F1E1E"/>
                </a:solidFill>
                <a:latin typeface="Helvetica"/>
              </a:rPr>
              <a:t>metadata</a:t>
            </a:r>
            <a:r>
              <a:rPr sz="1000" b="0" i="0">
                <a:solidFill>
                  <a:srgbClr val="3B3535"/>
                </a:solidFill>
                <a:latin typeface="Helvetica"/>
              </a:rPr>
              <a:t> (un "header" en YAML): por ejemplo, un </a:t>
            </a:r>
            <a:r>
              <a:rPr sz="1000" b="0" i="0">
                <a:solidFill>
                  <a:srgbClr val="000000"/>
                </a:solidFill>
                <a:latin typeface="Courier New"/>
              </a:rPr>
              <a:t>SKILL.md</a:t>
            </a:r>
            <a:r>
              <a:rPr sz="1000" b="0" i="0">
                <a:solidFill>
                  <a:srgbClr val="3B3535"/>
                </a:solidFill>
                <a:latin typeface="Helvetica"/>
              </a:rPr>
              <a:t> declara </a:t>
            </a:r>
            <a:r>
              <a:rPr sz="1000" b="0" i="0">
                <a:solidFill>
                  <a:srgbClr val="000000"/>
                </a:solidFill>
                <a:latin typeface="Courier New"/>
              </a:rPr>
              <a:t>name</a:t>
            </a:r>
            <a:r>
              <a:rPr sz="1000" b="0" i="0">
                <a:solidFill>
                  <a:srgbClr val="3B3535"/>
                </a:solidFill>
                <a:latin typeface="Helvetica"/>
              </a:rPr>
              <a:t> y </a:t>
            </a:r>
            <a:r>
              <a:rPr sz="1000" b="0" i="0">
                <a:solidFill>
                  <a:srgbClr val="000000"/>
                </a:solidFill>
                <a:latin typeface="Courier New"/>
              </a:rPr>
              <a:t>description</a:t>
            </a:r>
            <a:r>
              <a:rPr sz="1000" b="0" i="0">
                <a:solidFill>
                  <a:srgbClr val="3B3535"/>
                </a:solidFill>
                <a:latin typeface="Helvetica"/>
              </a:rPr>
              <a:t>. Esa descripción es lo que dispara la Skill — de forma semántica, no por palabra clave.</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Por qué esto es importante en el mundo LLM.</a:t>
            </a:r>
          </a:p>
          <a:p>
            <a:pPr lvl="1">
              <a:lnSpc>
                <a:spcPct val="103000"/>
              </a:lnSpc>
              <a:spcBef>
                <a:spcPts val="0"/>
              </a:spcBef>
              <a:spcAft>
                <a:spcPts val="300"/>
              </a:spcAft>
            </a:pPr>
            <a:r>
              <a:rPr sz="900">
                <a:solidFill>
                  <a:srgbClr val="6A737D"/>
                </a:solidFill>
                <a:latin typeface="Helvetica"/>
              </a:rPr>
              <a:t>–  </a:t>
            </a:r>
            <a:r>
              <a:rPr sz="900" b="0" i="0">
                <a:solidFill>
                  <a:srgbClr val="3B3535"/>
                </a:solidFill>
                <a:latin typeface="Helvetica"/>
              </a:rPr>
              <a:t>El modelo lee texto: si la configuración es texto plano legible, el agente la entiende directamente, sin formato propietario.</a:t>
            </a:r>
          </a:p>
          <a:p>
            <a:pPr lvl="1">
              <a:lnSpc>
                <a:spcPct val="103000"/>
              </a:lnSpc>
              <a:spcBef>
                <a:spcPts val="0"/>
              </a:spcBef>
              <a:spcAft>
                <a:spcPts val="300"/>
              </a:spcAft>
            </a:pPr>
            <a:r>
              <a:rPr sz="900">
                <a:solidFill>
                  <a:srgbClr val="6A737D"/>
                </a:solidFill>
                <a:latin typeface="Helvetica"/>
              </a:rPr>
              <a:t>–  </a:t>
            </a:r>
            <a:r>
              <a:rPr sz="900" b="0" i="0">
                <a:solidFill>
                  <a:srgbClr val="3B3535"/>
                </a:solidFill>
                <a:latin typeface="Helvetica"/>
              </a:rPr>
              <a:t>La metadata le dice al sistema </a:t>
            </a:r>
            <a:r>
              <a:rPr sz="900" b="0" i="1">
                <a:solidFill>
                  <a:srgbClr val="3B3535"/>
                </a:solidFill>
                <a:latin typeface="Helvetica"/>
              </a:rPr>
              <a:t>qué es</a:t>
            </a:r>
            <a:r>
              <a:rPr sz="900" b="0" i="0">
                <a:solidFill>
                  <a:srgbClr val="3B3535"/>
                </a:solidFill>
                <a:latin typeface="Helvetica"/>
              </a:rPr>
              <a:t> cada archivo y </a:t>
            </a:r>
            <a:r>
              <a:rPr sz="900" b="0" i="1">
                <a:solidFill>
                  <a:srgbClr val="3B3535"/>
                </a:solidFill>
                <a:latin typeface="Helvetica"/>
              </a:rPr>
              <a:t>cuándo</a:t>
            </a:r>
            <a:r>
              <a:rPr sz="900" b="0" i="0">
                <a:solidFill>
                  <a:srgbClr val="3B3535"/>
                </a:solidFill>
                <a:latin typeface="Helvetica"/>
              </a:rPr>
              <a:t> usarlo (la </a:t>
            </a:r>
            <a:r>
              <a:rPr sz="900" b="0" i="0">
                <a:solidFill>
                  <a:srgbClr val="000000"/>
                </a:solidFill>
                <a:latin typeface="Courier New"/>
              </a:rPr>
              <a:t>description</a:t>
            </a:r>
            <a:r>
              <a:rPr sz="900" b="0" i="0">
                <a:solidFill>
                  <a:srgbClr val="3B3535"/>
                </a:solidFill>
                <a:latin typeface="Helvetica"/>
              </a:rPr>
              <a:t> de una Skill decide cuándo se activa).</a:t>
            </a:r>
          </a:p>
          <a:p>
            <a:pPr lvl="1">
              <a:lnSpc>
                <a:spcPct val="103000"/>
              </a:lnSpc>
              <a:spcBef>
                <a:spcPts val="0"/>
              </a:spcBef>
              <a:spcAft>
                <a:spcPts val="300"/>
              </a:spcAft>
            </a:pPr>
            <a:r>
              <a:rPr sz="900">
                <a:solidFill>
                  <a:srgbClr val="6A737D"/>
                </a:solidFill>
                <a:latin typeface="Helvetica"/>
              </a:rPr>
              <a:t>–  </a:t>
            </a:r>
            <a:r>
              <a:rPr sz="900" b="0" i="0">
                <a:solidFill>
                  <a:srgbClr val="3B3535"/>
                </a:solidFill>
                <a:latin typeface="Helvetica"/>
              </a:rPr>
              <a:t>Es portable y versionable: el mismo estándar </a:t>
            </a:r>
            <a:r>
              <a:rPr sz="900" b="0" i="0">
                <a:solidFill>
                  <a:srgbClr val="000000"/>
                </a:solidFill>
                <a:latin typeface="Courier New"/>
              </a:rPr>
              <a:t>SKILL.md</a:t>
            </a:r>
            <a:r>
              <a:rPr sz="900" b="0" i="0">
                <a:solidFill>
                  <a:srgbClr val="3B3535"/>
                </a:solidFill>
                <a:latin typeface="Helvetica"/>
              </a:rPr>
              <a:t> funciona entre herramientas (Cowork y Codex usan el mismo formato).</a:t>
            </a:r>
          </a:p>
          <a:p>
            <a:pPr>
              <a:lnSpc>
                <a:spcPct val="103000"/>
              </a:lnSpc>
              <a:spcBef>
                <a:spcPts val="0"/>
              </a:spcBef>
              <a:spcAft>
                <a:spcPts val="300"/>
              </a:spcAft>
            </a:pPr>
            <a:r>
              <a:rPr sz="1000" b="1">
                <a:solidFill>
                  <a:srgbClr val="DA1B2E"/>
                </a:solidFill>
                <a:latin typeface="Helvetica"/>
              </a:rPr>
              <a:t>▪  </a:t>
            </a:r>
            <a:r>
              <a:rPr sz="1000" b="0" i="1">
                <a:solidFill>
                  <a:srgbClr val="3B3535"/>
                </a:solidFill>
                <a:latin typeface="Helvetica"/>
              </a:rPr>
              <a:t>Nota de alcance:</a:t>
            </a:r>
            <a:r>
              <a:rPr sz="1000" b="0" i="0">
                <a:solidFill>
                  <a:srgbClr val="3B3535"/>
                </a:solidFill>
                <a:latin typeface="Helvetica"/>
              </a:rPr>
              <a:t> esto es un sideway de alto nivel — qué es y por qué importa. No entramos en el detalle del formato de archivos.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271016"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EXTENDER COWORK</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3100" b="1">
                <a:solidFill>
                  <a:srgbClr val="1F1E1E"/>
                </a:solidFill>
                <a:latin typeface="Helvetica"/>
              </a:rPr>
              <a:t>Anatomía de un SKILL.md</a:t>
            </a:r>
          </a:p>
        </p:txBody>
      </p:sp>
      <p:sp>
        <p:nvSpPr>
          <p:cNvPr id="5" name="TextBox 4"/>
          <p:cNvSpPr txBox="1"/>
          <p:nvPr/>
        </p:nvSpPr>
        <p:spPr>
          <a:xfrm>
            <a:off x="457200" y="1353312"/>
            <a:ext cx="5029200" cy="3561587"/>
          </a:xfrm>
          <a:prstGeom prst="rect">
            <a:avLst/>
          </a:prstGeom>
          <a:noFill/>
        </p:spPr>
        <p:txBody>
          <a:bodyPr wrap="square" anchor="t" lIns="0" rIns="0" tIns="0" bIns="0">
            <a:spAutoFit/>
          </a:bodyPr>
          <a:lstStyle/>
          <a:p>
            <a:pPr>
              <a:lnSpc>
                <a:spcPct val="103000"/>
              </a:lnSpc>
              <a:spcBef>
                <a:spcPts val="0"/>
              </a:spcBef>
              <a:spcAft>
                <a:spcPts val="300"/>
              </a:spcAft>
            </a:pPr>
            <a:r>
              <a:rPr sz="1250" b="1">
                <a:solidFill>
                  <a:srgbClr val="DA1B2E"/>
                </a:solidFill>
                <a:latin typeface="Helvetica"/>
              </a:rPr>
              <a:t>▪  </a:t>
            </a:r>
            <a:r>
              <a:rPr sz="1250" b="0" i="0">
                <a:solidFill>
                  <a:srgbClr val="3B3535"/>
                </a:solidFill>
                <a:latin typeface="Helvetica"/>
              </a:rPr>
              <a:t>Así se ve un </a:t>
            </a:r>
            <a:r>
              <a:rPr sz="1250" b="0" i="0">
                <a:solidFill>
                  <a:srgbClr val="000000"/>
                </a:solidFill>
                <a:latin typeface="Courier New"/>
              </a:rPr>
              <a:t>SKILL.md</a:t>
            </a:r>
            <a:r>
              <a:rPr sz="1250" b="0" i="0">
                <a:solidFill>
                  <a:srgbClr val="3B3535"/>
                </a:solidFill>
                <a:latin typeface="Helvetica"/>
              </a:rPr>
              <a:t> por dentro: un </a:t>
            </a:r>
            <a:r>
              <a:rPr sz="1250" b="1" i="0">
                <a:solidFill>
                  <a:srgbClr val="1F1E1E"/>
                </a:solidFill>
                <a:latin typeface="Helvetica"/>
              </a:rPr>
              <a:t>bloque de metadata</a:t>
            </a:r>
            <a:r>
              <a:rPr sz="1250" b="0" i="0">
                <a:solidFill>
                  <a:srgbClr val="3B3535"/>
                </a:solidFill>
                <a:latin typeface="Helvetica"/>
              </a:rPr>
              <a:t> arriba y el </a:t>
            </a:r>
            <a:r>
              <a:rPr sz="1250" b="1" i="0">
                <a:solidFill>
                  <a:srgbClr val="1F1E1E"/>
                </a:solidFill>
                <a:latin typeface="Helvetica"/>
              </a:rPr>
              <a:t>cuerpo de instrucciones</a:t>
            </a:r>
            <a:r>
              <a:rPr sz="1250" b="0" i="0">
                <a:solidFill>
                  <a:srgbClr val="3B3535"/>
                </a:solidFill>
                <a:latin typeface="Helvetica"/>
              </a:rPr>
              <a:t> abajo. Nada más — es texto plano.</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La metadata (el header).</a:t>
            </a:r>
            <a:r>
              <a:rPr sz="1250" b="0" i="0">
                <a:solidFill>
                  <a:srgbClr val="3B3535"/>
                </a:solidFill>
                <a:latin typeface="Helvetica"/>
              </a:rPr>
              <a:t> </a:t>
            </a:r>
            <a:r>
              <a:rPr sz="1250" b="0" i="0">
                <a:solidFill>
                  <a:srgbClr val="000000"/>
                </a:solidFill>
                <a:latin typeface="Courier New"/>
              </a:rPr>
              <a:t>name</a:t>
            </a:r>
            <a:r>
              <a:rPr sz="1250" b="0" i="0">
                <a:solidFill>
                  <a:srgbClr val="3B3535"/>
                </a:solidFill>
                <a:latin typeface="Helvetica"/>
              </a:rPr>
              <a:t> identifica la Skill; </a:t>
            </a:r>
            <a:r>
              <a:rPr sz="1250" b="0" i="0">
                <a:solidFill>
                  <a:srgbClr val="000000"/>
                </a:solidFill>
                <a:latin typeface="Courier New"/>
              </a:rPr>
              <a:t>description</a:t>
            </a:r>
            <a:r>
              <a:rPr sz="1250" b="0" i="0">
                <a:solidFill>
                  <a:srgbClr val="3B3535"/>
                </a:solidFill>
                <a:latin typeface="Helvetica"/>
              </a:rPr>
              <a:t> es lo que </a:t>
            </a:r>
            <a:r>
              <a:rPr sz="1250" b="1" i="0">
                <a:solidFill>
                  <a:srgbClr val="1F1E1E"/>
                </a:solidFill>
                <a:latin typeface="Helvetica"/>
              </a:rPr>
              <a:t>decide cuándo se activa</a:t>
            </a:r>
            <a:r>
              <a:rPr sz="1250" b="0" i="0">
                <a:solidFill>
                  <a:srgbClr val="3B3535"/>
                </a:solidFill>
                <a:latin typeface="Helvetica"/>
              </a:rPr>
              <a:t> — de forma semántica, no por palabra clave exacta. Una buena </a:t>
            </a:r>
            <a:r>
              <a:rPr sz="1250" b="0" i="0">
                <a:solidFill>
                  <a:srgbClr val="000000"/>
                </a:solidFill>
                <a:latin typeface="Courier New"/>
              </a:rPr>
              <a:t>description</a:t>
            </a:r>
            <a:r>
              <a:rPr sz="1250" b="0" i="0">
                <a:solidFill>
                  <a:srgbClr val="3B3535"/>
                </a:solidFill>
                <a:latin typeface="Helvetica"/>
              </a:rPr>
              <a:t> = la Skill se dispara cuando corresponde.</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El cuerpo.</a:t>
            </a:r>
            <a:r>
              <a:rPr sz="1250" b="0" i="0">
                <a:solidFill>
                  <a:srgbClr val="3B3535"/>
                </a:solidFill>
                <a:latin typeface="Helvetica"/>
              </a:rPr>
              <a:t> Markdown común: los pasos que el agente sigue cuando la Skill se activa.</a:t>
            </a:r>
          </a:p>
          <a:p>
            <a:pPr>
              <a:lnSpc>
                <a:spcPct val="103000"/>
              </a:lnSpc>
              <a:spcBef>
                <a:spcPts val="0"/>
              </a:spcBef>
              <a:spcAft>
                <a:spcPts val="300"/>
              </a:spcAft>
            </a:pPr>
            <a:r>
              <a:rPr sz="1250" b="1">
                <a:solidFill>
                  <a:srgbClr val="DA1B2E"/>
                </a:solidFill>
                <a:latin typeface="Helvetica"/>
              </a:rPr>
              <a:t>▪  </a:t>
            </a:r>
            <a:r>
              <a:rPr sz="1250" b="0" i="1">
                <a:solidFill>
                  <a:srgbClr val="3B3535"/>
                </a:solidFill>
                <a:latin typeface="Helvetica"/>
              </a:rPr>
              <a:t>Nota de alcance:</a:t>
            </a:r>
            <a:r>
              <a:rPr sz="1250" b="0" i="0">
                <a:solidFill>
                  <a:srgbClr val="3B3535"/>
                </a:solidFill>
                <a:latin typeface="Helvetica"/>
              </a:rPr>
              <a:t> reforzamos el sideway anterior (MD + metadata) con un ejemplo tangible — no entramos en el detalle fino del formato.</a:t>
            </a:r>
          </a:p>
        </p:txBody>
      </p:sp>
      <p:sp>
        <p:nvSpPr>
          <p:cNvPr id="6" name="Rounded Rectangle 5"/>
          <p:cNvSpPr/>
          <p:nvPr/>
        </p:nvSpPr>
        <p:spPr>
          <a:xfrm>
            <a:off x="5623560" y="2045566"/>
            <a:ext cx="3108960" cy="2177078"/>
          </a:xfrm>
          <a:prstGeom prst="roundRect">
            <a:avLst/>
          </a:prstGeom>
          <a:solidFill>
            <a:srgbClr val="F2EEEE"/>
          </a:solidFill>
          <a:ln>
            <a:noFill/>
          </a:ln>
          <a:effectLst/>
        </p:spPr>
        <p:txBody>
          <a:bodyPr rtlCol="0" anchor="ctr"/>
          <a:lstStyle/>
          <a:p>
            <a:pPr algn="ctr"/>
          </a:p>
        </p:txBody>
      </p:sp>
      <p:pic>
        <p:nvPicPr>
          <p:cNvPr id="7" name="Picture 6" descr="s3-3-1-anatomia-skill-md.png"/>
          <p:cNvPicPr>
            <a:picLocks noChangeAspect="1"/>
          </p:cNvPicPr>
          <p:nvPr/>
        </p:nvPicPr>
        <p:blipFill>
          <a:blip r:embed="rId2"/>
          <a:stretch>
            <a:fillRect/>
          </a:stretch>
        </p:blipFill>
        <p:spPr>
          <a:xfrm>
            <a:off x="5669280" y="2091286"/>
            <a:ext cx="3017520" cy="208563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TextBox 2"/>
          <p:cNvSpPr txBox="1"/>
          <p:nvPr/>
        </p:nvSpPr>
        <p:spPr>
          <a:xfrm>
            <a:off x="480974" y="504748"/>
            <a:ext cx="3246120" cy="365760"/>
          </a:xfrm>
          <a:prstGeom prst="rect">
            <a:avLst/>
          </a:prstGeom>
          <a:noFill/>
        </p:spPr>
        <p:txBody>
          <a:bodyPr wrap="square" anchor="t" lIns="0" rIns="0" tIns="0" bIns="0">
            <a:spAutoFit/>
          </a:bodyPr>
          <a:lstStyle/>
          <a:p>
            <a:r>
              <a:rPr sz="2150" b="1">
                <a:solidFill>
                  <a:srgbClr val="1F1E1E"/>
                </a:solidFill>
                <a:latin typeface="Helvetica"/>
              </a:rPr>
              <a:t>Agenda</a:t>
            </a:r>
          </a:p>
        </p:txBody>
      </p:sp>
      <p:sp>
        <p:nvSpPr>
          <p:cNvPr id="4" name="Rounded Rectangle 3"/>
          <p:cNvSpPr/>
          <p:nvPr/>
        </p:nvSpPr>
        <p:spPr>
          <a:xfrm>
            <a:off x="606103" y="994172"/>
            <a:ext cx="14288" cy="3644354"/>
          </a:xfrm>
          <a:prstGeom prst="roundRect">
            <a:avLst/>
          </a:prstGeom>
          <a:solidFill>
            <a:srgbClr val="D8D4D4"/>
          </a:solidFill>
          <a:ln>
            <a:noFill/>
          </a:ln>
          <a:effectLst/>
        </p:spPr>
        <p:txBody>
          <a:bodyPr rtlCol="0" anchor="ctr"/>
          <a:lstStyle/>
          <a:p>
            <a:pPr algn="ctr"/>
          </a:p>
        </p:txBody>
      </p:sp>
      <p:sp>
        <p:nvSpPr>
          <p:cNvPr id="5" name="Rounded Rectangle 4"/>
          <p:cNvSpPr/>
          <p:nvPr/>
        </p:nvSpPr>
        <p:spPr>
          <a:xfrm>
            <a:off x="480603" y="994172"/>
            <a:ext cx="250999" cy="250999"/>
          </a:xfrm>
          <a:prstGeom prst="roundRect">
            <a:avLst/>
          </a:prstGeom>
          <a:solidFill>
            <a:srgbClr val="F2EEEE"/>
          </a:solidFill>
          <a:ln>
            <a:noFill/>
          </a:ln>
          <a:effectLst/>
        </p:spPr>
        <p:txBody>
          <a:bodyPr rtlCol="0" anchor="ctr"/>
          <a:lstStyle/>
          <a:p>
            <a:pPr algn="ctr"/>
          </a:p>
        </p:txBody>
      </p:sp>
      <p:sp>
        <p:nvSpPr>
          <p:cNvPr id="6" name="TextBox 5"/>
          <p:cNvSpPr txBox="1"/>
          <p:nvPr/>
        </p:nvSpPr>
        <p:spPr>
          <a:xfrm>
            <a:off x="522387" y="1015045"/>
            <a:ext cx="167357" cy="209178"/>
          </a:xfrm>
          <a:prstGeom prst="rect">
            <a:avLst/>
          </a:prstGeom>
          <a:noFill/>
        </p:spPr>
        <p:txBody>
          <a:bodyPr wrap="none" anchor="ctr" lIns="0" rIns="0" tIns="0" bIns="0">
            <a:spAutoFit/>
          </a:bodyPr>
          <a:lstStyle/>
          <a:p>
            <a:pPr algn="ctr"/>
            <a:r>
              <a:rPr sz="1300" b="1">
                <a:solidFill>
                  <a:srgbClr val="3B3535"/>
                </a:solidFill>
                <a:latin typeface="Helvetica"/>
              </a:rPr>
              <a:t>1</a:t>
            </a:r>
          </a:p>
        </p:txBody>
      </p:sp>
      <p:sp>
        <p:nvSpPr>
          <p:cNvPr id="7" name="Rounded Rectangle 6"/>
          <p:cNvSpPr/>
          <p:nvPr/>
        </p:nvSpPr>
        <p:spPr>
          <a:xfrm>
            <a:off x="717314" y="1112491"/>
            <a:ext cx="334714" cy="14288"/>
          </a:xfrm>
          <a:prstGeom prst="roundRect">
            <a:avLst/>
          </a:prstGeom>
          <a:solidFill>
            <a:srgbClr val="D8D4D4"/>
          </a:solidFill>
          <a:ln>
            <a:noFill/>
          </a:ln>
          <a:effectLst/>
        </p:spPr>
        <p:txBody>
          <a:bodyPr rtlCol="0" anchor="ctr"/>
          <a:lstStyle/>
          <a:p>
            <a:pPr algn="ctr"/>
          </a:p>
        </p:txBody>
      </p:sp>
      <p:sp>
        <p:nvSpPr>
          <p:cNvPr id="8" name="TextBox 7"/>
          <p:cNvSpPr txBox="1"/>
          <p:nvPr/>
        </p:nvSpPr>
        <p:spPr>
          <a:xfrm>
            <a:off x="1164059" y="1004172"/>
            <a:ext cx="7400000" cy="220000"/>
          </a:xfrm>
          <a:prstGeom prst="rect">
            <a:avLst/>
          </a:prstGeom>
          <a:noFill/>
        </p:spPr>
        <p:txBody>
          <a:bodyPr wrap="square" anchor="t" lIns="0" rIns="0" tIns="0" bIns="0">
            <a:spAutoFit/>
          </a:bodyPr>
          <a:lstStyle/>
          <a:p>
            <a:r>
              <a:rPr sz="1150" b="1">
                <a:solidFill>
                  <a:srgbClr val="3B3535"/>
                </a:solidFill>
                <a:latin typeface="Helvetica"/>
              </a:rPr>
              <a:t>De chat a agente: dónde encaja Cowork</a:t>
            </a:r>
          </a:p>
        </p:txBody>
      </p:sp>
      <p:sp>
        <p:nvSpPr>
          <p:cNvPr id="9" name="TextBox 8"/>
          <p:cNvSpPr txBox="1"/>
          <p:nvPr/>
        </p:nvSpPr>
        <p:spPr>
          <a:xfrm>
            <a:off x="1164059" y="1244172"/>
            <a:ext cx="7499300" cy="180000"/>
          </a:xfrm>
          <a:prstGeom prst="rect">
            <a:avLst/>
          </a:prstGeom>
          <a:noFill/>
        </p:spPr>
        <p:txBody>
          <a:bodyPr wrap="square" anchor="t" lIns="0" rIns="0" tIns="0" bIns="0">
            <a:spAutoFit/>
          </a:bodyPr>
          <a:lstStyle/>
          <a:p>
            <a:r>
              <a:rPr sz="850">
                <a:solidFill>
                  <a:srgbClr val="3B3535"/>
                </a:solidFill>
                <a:latin typeface="Helvetica"/>
              </a:rPr>
              <a:t>De chatear a delegar: dónde vive Cowork</a:t>
            </a:r>
          </a:p>
        </p:txBody>
      </p:sp>
      <p:sp>
        <p:nvSpPr>
          <p:cNvPr id="10" name="Rounded Rectangle 9"/>
          <p:cNvSpPr/>
          <p:nvPr/>
        </p:nvSpPr>
        <p:spPr>
          <a:xfrm>
            <a:off x="480603" y="1534865"/>
            <a:ext cx="250999" cy="250999"/>
          </a:xfrm>
          <a:prstGeom prst="roundRect">
            <a:avLst/>
          </a:prstGeom>
          <a:solidFill>
            <a:srgbClr val="F2EEEE"/>
          </a:solidFill>
          <a:ln>
            <a:noFill/>
          </a:ln>
          <a:effectLst/>
        </p:spPr>
        <p:txBody>
          <a:bodyPr rtlCol="0" anchor="ctr"/>
          <a:lstStyle/>
          <a:p>
            <a:pPr algn="ctr"/>
          </a:p>
        </p:txBody>
      </p:sp>
      <p:sp>
        <p:nvSpPr>
          <p:cNvPr id="11" name="TextBox 10"/>
          <p:cNvSpPr txBox="1"/>
          <p:nvPr/>
        </p:nvSpPr>
        <p:spPr>
          <a:xfrm>
            <a:off x="522387" y="1555738"/>
            <a:ext cx="167357" cy="209178"/>
          </a:xfrm>
          <a:prstGeom prst="rect">
            <a:avLst/>
          </a:prstGeom>
          <a:noFill/>
        </p:spPr>
        <p:txBody>
          <a:bodyPr wrap="none" anchor="ctr" lIns="0" rIns="0" tIns="0" bIns="0">
            <a:spAutoFit/>
          </a:bodyPr>
          <a:lstStyle/>
          <a:p>
            <a:pPr algn="ctr"/>
            <a:r>
              <a:rPr sz="1300" b="1">
                <a:solidFill>
                  <a:srgbClr val="3B3535"/>
                </a:solidFill>
                <a:latin typeface="Helvetica"/>
              </a:rPr>
              <a:t>2</a:t>
            </a:r>
          </a:p>
        </p:txBody>
      </p:sp>
      <p:sp>
        <p:nvSpPr>
          <p:cNvPr id="12" name="Rounded Rectangle 11"/>
          <p:cNvSpPr/>
          <p:nvPr/>
        </p:nvSpPr>
        <p:spPr>
          <a:xfrm>
            <a:off x="717314" y="1653184"/>
            <a:ext cx="334714" cy="14288"/>
          </a:xfrm>
          <a:prstGeom prst="roundRect">
            <a:avLst/>
          </a:prstGeom>
          <a:solidFill>
            <a:srgbClr val="D8D4D4"/>
          </a:solidFill>
          <a:ln>
            <a:noFill/>
          </a:ln>
          <a:effectLst/>
        </p:spPr>
        <p:txBody>
          <a:bodyPr rtlCol="0" anchor="ctr"/>
          <a:lstStyle/>
          <a:p>
            <a:pPr algn="ctr"/>
          </a:p>
        </p:txBody>
      </p:sp>
      <p:sp>
        <p:nvSpPr>
          <p:cNvPr id="13" name="TextBox 12"/>
          <p:cNvSpPr txBox="1"/>
          <p:nvPr/>
        </p:nvSpPr>
        <p:spPr>
          <a:xfrm>
            <a:off x="1164059" y="1544865"/>
            <a:ext cx="7400000" cy="220000"/>
          </a:xfrm>
          <a:prstGeom prst="rect">
            <a:avLst/>
          </a:prstGeom>
          <a:noFill/>
        </p:spPr>
        <p:txBody>
          <a:bodyPr wrap="square" anchor="t" lIns="0" rIns="0" tIns="0" bIns="0">
            <a:spAutoFit/>
          </a:bodyPr>
          <a:lstStyle/>
          <a:p>
            <a:r>
              <a:rPr sz="1150" b="1">
                <a:solidFill>
                  <a:srgbClr val="3B3535"/>
                </a:solidFill>
                <a:latin typeface="Helvetica"/>
              </a:rPr>
              <a:t>Lo básico: interfaz, Instrucciones y Projects</a:t>
            </a:r>
          </a:p>
        </p:txBody>
      </p:sp>
      <p:sp>
        <p:nvSpPr>
          <p:cNvPr id="14" name="TextBox 13"/>
          <p:cNvSpPr txBox="1"/>
          <p:nvPr/>
        </p:nvSpPr>
        <p:spPr>
          <a:xfrm>
            <a:off x="1164059" y="1784865"/>
            <a:ext cx="7499300" cy="180000"/>
          </a:xfrm>
          <a:prstGeom prst="rect">
            <a:avLst/>
          </a:prstGeom>
          <a:noFill/>
        </p:spPr>
        <p:txBody>
          <a:bodyPr wrap="square" anchor="t" lIns="0" rIns="0" tIns="0" bIns="0">
            <a:spAutoFit/>
          </a:bodyPr>
          <a:lstStyle/>
          <a:p>
            <a:r>
              <a:rPr sz="850">
                <a:solidFill>
                  <a:srgbClr val="3B3535"/>
                </a:solidFill>
                <a:latin typeface="Helvetica"/>
              </a:rPr>
              <a:t>Interfaz, Instrucciones y Projects</a:t>
            </a:r>
          </a:p>
        </p:txBody>
      </p:sp>
      <p:sp>
        <p:nvSpPr>
          <p:cNvPr id="15" name="Rounded Rectangle 14"/>
          <p:cNvSpPr/>
          <p:nvPr/>
        </p:nvSpPr>
        <p:spPr>
          <a:xfrm>
            <a:off x="480603" y="2075558"/>
            <a:ext cx="250999" cy="250999"/>
          </a:xfrm>
          <a:prstGeom prst="roundRect">
            <a:avLst/>
          </a:prstGeom>
          <a:solidFill>
            <a:srgbClr val="F2EEEE"/>
          </a:solidFill>
          <a:ln>
            <a:noFill/>
          </a:ln>
          <a:effectLst/>
        </p:spPr>
        <p:txBody>
          <a:bodyPr rtlCol="0" anchor="ctr"/>
          <a:lstStyle/>
          <a:p>
            <a:pPr algn="ctr"/>
          </a:p>
        </p:txBody>
      </p:sp>
      <p:sp>
        <p:nvSpPr>
          <p:cNvPr id="16" name="TextBox 15"/>
          <p:cNvSpPr txBox="1"/>
          <p:nvPr/>
        </p:nvSpPr>
        <p:spPr>
          <a:xfrm>
            <a:off x="522387" y="2096431"/>
            <a:ext cx="167357" cy="209178"/>
          </a:xfrm>
          <a:prstGeom prst="rect">
            <a:avLst/>
          </a:prstGeom>
          <a:noFill/>
        </p:spPr>
        <p:txBody>
          <a:bodyPr wrap="none" anchor="ctr" lIns="0" rIns="0" tIns="0" bIns="0">
            <a:spAutoFit/>
          </a:bodyPr>
          <a:lstStyle/>
          <a:p>
            <a:pPr algn="ctr"/>
            <a:r>
              <a:rPr sz="1300" b="1">
                <a:solidFill>
                  <a:srgbClr val="3B3535"/>
                </a:solidFill>
                <a:latin typeface="Helvetica"/>
              </a:rPr>
              <a:t>3</a:t>
            </a:r>
          </a:p>
        </p:txBody>
      </p:sp>
      <p:sp>
        <p:nvSpPr>
          <p:cNvPr id="17" name="Rounded Rectangle 16"/>
          <p:cNvSpPr/>
          <p:nvPr/>
        </p:nvSpPr>
        <p:spPr>
          <a:xfrm>
            <a:off x="717314" y="2193877"/>
            <a:ext cx="334714" cy="14288"/>
          </a:xfrm>
          <a:prstGeom prst="roundRect">
            <a:avLst/>
          </a:prstGeom>
          <a:solidFill>
            <a:srgbClr val="D8D4D4"/>
          </a:solidFill>
          <a:ln>
            <a:noFill/>
          </a:ln>
          <a:effectLst/>
        </p:spPr>
        <p:txBody>
          <a:bodyPr rtlCol="0" anchor="ctr"/>
          <a:lstStyle/>
          <a:p>
            <a:pPr algn="ctr"/>
          </a:p>
        </p:txBody>
      </p:sp>
      <p:sp>
        <p:nvSpPr>
          <p:cNvPr id="18" name="TextBox 17"/>
          <p:cNvSpPr txBox="1"/>
          <p:nvPr/>
        </p:nvSpPr>
        <p:spPr>
          <a:xfrm>
            <a:off x="1164059" y="2085558"/>
            <a:ext cx="7400000" cy="220000"/>
          </a:xfrm>
          <a:prstGeom prst="rect">
            <a:avLst/>
          </a:prstGeom>
          <a:noFill/>
        </p:spPr>
        <p:txBody>
          <a:bodyPr wrap="square" anchor="t" lIns="0" rIns="0" tIns="0" bIns="0">
            <a:spAutoFit/>
          </a:bodyPr>
          <a:lstStyle/>
          <a:p>
            <a:r>
              <a:rPr sz="1150" b="1">
                <a:solidFill>
                  <a:srgbClr val="3B3535"/>
                </a:solidFill>
                <a:latin typeface="Helvetica"/>
              </a:rPr>
              <a:t>Extender Cowork: Skills y el rol de los archivos MD / metadata</a:t>
            </a:r>
          </a:p>
        </p:txBody>
      </p:sp>
      <p:sp>
        <p:nvSpPr>
          <p:cNvPr id="19" name="TextBox 18"/>
          <p:cNvSpPr txBox="1"/>
          <p:nvPr/>
        </p:nvSpPr>
        <p:spPr>
          <a:xfrm>
            <a:off x="1164059" y="2325558"/>
            <a:ext cx="7499300" cy="180000"/>
          </a:xfrm>
          <a:prstGeom prst="rect">
            <a:avLst/>
          </a:prstGeom>
          <a:noFill/>
        </p:spPr>
        <p:txBody>
          <a:bodyPr wrap="square" anchor="t" lIns="0" rIns="0" tIns="0" bIns="0">
            <a:spAutoFit/>
          </a:bodyPr>
          <a:lstStyle/>
          <a:p>
            <a:r>
              <a:rPr sz="850">
                <a:solidFill>
                  <a:srgbClr val="3B3535"/>
                </a:solidFill>
                <a:latin typeface="Helvetica"/>
              </a:rPr>
              <a:t>Skills y los archivos MD / metadata</a:t>
            </a:r>
          </a:p>
        </p:txBody>
      </p:sp>
      <p:sp>
        <p:nvSpPr>
          <p:cNvPr id="20" name="Rounded Rectangle 19"/>
          <p:cNvSpPr/>
          <p:nvPr/>
        </p:nvSpPr>
        <p:spPr>
          <a:xfrm>
            <a:off x="480603" y="2616251"/>
            <a:ext cx="250999" cy="250999"/>
          </a:xfrm>
          <a:prstGeom prst="roundRect">
            <a:avLst/>
          </a:prstGeom>
          <a:solidFill>
            <a:srgbClr val="DA1B2E"/>
          </a:solidFill>
          <a:ln>
            <a:noFill/>
          </a:ln>
          <a:effectLst/>
        </p:spPr>
        <p:txBody>
          <a:bodyPr rtlCol="0" anchor="ctr"/>
          <a:lstStyle/>
          <a:p>
            <a:pPr algn="ctr"/>
          </a:p>
        </p:txBody>
      </p:sp>
      <p:sp>
        <p:nvSpPr>
          <p:cNvPr id="21" name="TextBox 20"/>
          <p:cNvSpPr txBox="1"/>
          <p:nvPr/>
        </p:nvSpPr>
        <p:spPr>
          <a:xfrm>
            <a:off x="522387" y="2637124"/>
            <a:ext cx="167357" cy="209178"/>
          </a:xfrm>
          <a:prstGeom prst="rect">
            <a:avLst/>
          </a:prstGeom>
          <a:noFill/>
        </p:spPr>
        <p:txBody>
          <a:bodyPr wrap="none" anchor="ctr" lIns="0" rIns="0" tIns="0" bIns="0">
            <a:spAutoFit/>
          </a:bodyPr>
          <a:lstStyle/>
          <a:p>
            <a:pPr algn="ctr"/>
            <a:r>
              <a:rPr sz="1300" b="1">
                <a:solidFill>
                  <a:srgbClr val="FFFFFF"/>
                </a:solidFill>
                <a:latin typeface="Helvetica"/>
              </a:rPr>
              <a:t>4</a:t>
            </a:r>
          </a:p>
        </p:txBody>
      </p:sp>
      <p:sp>
        <p:nvSpPr>
          <p:cNvPr id="22" name="Rounded Rectangle 21"/>
          <p:cNvSpPr/>
          <p:nvPr/>
        </p:nvSpPr>
        <p:spPr>
          <a:xfrm>
            <a:off x="717314" y="2734570"/>
            <a:ext cx="334714" cy="14288"/>
          </a:xfrm>
          <a:prstGeom prst="roundRect">
            <a:avLst/>
          </a:prstGeom>
          <a:solidFill>
            <a:srgbClr val="F33447"/>
          </a:solidFill>
          <a:ln>
            <a:noFill/>
          </a:ln>
          <a:effectLst/>
        </p:spPr>
        <p:txBody>
          <a:bodyPr rtlCol="0" anchor="ctr"/>
          <a:lstStyle/>
          <a:p>
            <a:pPr algn="ctr"/>
          </a:p>
        </p:txBody>
      </p:sp>
      <p:sp>
        <p:nvSpPr>
          <p:cNvPr id="23" name="TextBox 22"/>
          <p:cNvSpPr txBox="1"/>
          <p:nvPr/>
        </p:nvSpPr>
        <p:spPr>
          <a:xfrm>
            <a:off x="1164059" y="2626251"/>
            <a:ext cx="7400000" cy="220000"/>
          </a:xfrm>
          <a:prstGeom prst="rect">
            <a:avLst/>
          </a:prstGeom>
          <a:noFill/>
        </p:spPr>
        <p:txBody>
          <a:bodyPr wrap="square" anchor="t" lIns="0" rIns="0" tIns="0" bIns="0">
            <a:spAutoFit/>
          </a:bodyPr>
          <a:lstStyle/>
          <a:p>
            <a:r>
              <a:rPr sz="1150" b="1">
                <a:solidFill>
                  <a:srgbClr val="1F1E1E"/>
                </a:solidFill>
                <a:latin typeface="Helvetica"/>
              </a:rPr>
              <a:t>Conectar y automatizar: Connectors/MCP y Schedule</a:t>
            </a:r>
          </a:p>
        </p:txBody>
      </p:sp>
      <p:sp>
        <p:nvSpPr>
          <p:cNvPr id="24" name="TextBox 23"/>
          <p:cNvSpPr txBox="1"/>
          <p:nvPr/>
        </p:nvSpPr>
        <p:spPr>
          <a:xfrm>
            <a:off x="1164059" y="2866251"/>
            <a:ext cx="7499300" cy="180000"/>
          </a:xfrm>
          <a:prstGeom prst="rect">
            <a:avLst/>
          </a:prstGeom>
          <a:noFill/>
        </p:spPr>
        <p:txBody>
          <a:bodyPr wrap="square" anchor="t" lIns="0" rIns="0" tIns="0" bIns="0">
            <a:spAutoFit/>
          </a:bodyPr>
          <a:lstStyle/>
          <a:p>
            <a:r>
              <a:rPr sz="850">
                <a:solidFill>
                  <a:srgbClr val="3B3535"/>
                </a:solidFill>
                <a:latin typeface="Helvetica"/>
              </a:rPr>
              <a:t>Connectors/MCP y Schedule</a:t>
            </a:r>
          </a:p>
        </p:txBody>
      </p:sp>
      <p:sp>
        <p:nvSpPr>
          <p:cNvPr id="25" name="Rounded Rectangle 24"/>
          <p:cNvSpPr/>
          <p:nvPr/>
        </p:nvSpPr>
        <p:spPr>
          <a:xfrm>
            <a:off x="480603" y="3156944"/>
            <a:ext cx="250999" cy="250999"/>
          </a:xfrm>
          <a:prstGeom prst="roundRect">
            <a:avLst/>
          </a:prstGeom>
          <a:solidFill>
            <a:srgbClr val="F2EEEE"/>
          </a:solidFill>
          <a:ln>
            <a:noFill/>
          </a:ln>
          <a:effectLst/>
        </p:spPr>
        <p:txBody>
          <a:bodyPr rtlCol="0" anchor="ctr"/>
          <a:lstStyle/>
          <a:p>
            <a:pPr algn="ctr"/>
          </a:p>
        </p:txBody>
      </p:sp>
      <p:sp>
        <p:nvSpPr>
          <p:cNvPr id="26" name="TextBox 25"/>
          <p:cNvSpPr txBox="1"/>
          <p:nvPr/>
        </p:nvSpPr>
        <p:spPr>
          <a:xfrm>
            <a:off x="522387" y="3177817"/>
            <a:ext cx="167357" cy="209178"/>
          </a:xfrm>
          <a:prstGeom prst="rect">
            <a:avLst/>
          </a:prstGeom>
          <a:noFill/>
        </p:spPr>
        <p:txBody>
          <a:bodyPr wrap="none" anchor="ctr" lIns="0" rIns="0" tIns="0" bIns="0">
            <a:spAutoFit/>
          </a:bodyPr>
          <a:lstStyle/>
          <a:p>
            <a:pPr algn="ctr"/>
            <a:r>
              <a:rPr sz="1300" b="1">
                <a:solidFill>
                  <a:srgbClr val="3B3535"/>
                </a:solidFill>
                <a:latin typeface="Helvetica"/>
              </a:rPr>
              <a:t>5</a:t>
            </a:r>
          </a:p>
        </p:txBody>
      </p:sp>
      <p:sp>
        <p:nvSpPr>
          <p:cNvPr id="27" name="Rounded Rectangle 26"/>
          <p:cNvSpPr/>
          <p:nvPr/>
        </p:nvSpPr>
        <p:spPr>
          <a:xfrm>
            <a:off x="717314" y="3275263"/>
            <a:ext cx="334714" cy="14288"/>
          </a:xfrm>
          <a:prstGeom prst="roundRect">
            <a:avLst/>
          </a:prstGeom>
          <a:solidFill>
            <a:srgbClr val="D8D4D4"/>
          </a:solidFill>
          <a:ln>
            <a:noFill/>
          </a:ln>
          <a:effectLst/>
        </p:spPr>
        <p:txBody>
          <a:bodyPr rtlCol="0" anchor="ctr"/>
          <a:lstStyle/>
          <a:p>
            <a:pPr algn="ctr"/>
          </a:p>
        </p:txBody>
      </p:sp>
      <p:sp>
        <p:nvSpPr>
          <p:cNvPr id="28" name="TextBox 27"/>
          <p:cNvSpPr txBox="1"/>
          <p:nvPr/>
        </p:nvSpPr>
        <p:spPr>
          <a:xfrm>
            <a:off x="1164059" y="3166944"/>
            <a:ext cx="7400000" cy="220000"/>
          </a:xfrm>
          <a:prstGeom prst="rect">
            <a:avLst/>
          </a:prstGeom>
          <a:noFill/>
        </p:spPr>
        <p:txBody>
          <a:bodyPr wrap="square" anchor="t" lIns="0" rIns="0" tIns="0" bIns="0">
            <a:spAutoFit/>
          </a:bodyPr>
          <a:lstStyle/>
          <a:p>
            <a:r>
              <a:rPr sz="1150" b="1">
                <a:solidFill>
                  <a:srgbClr val="3B3535"/>
                </a:solidFill>
                <a:latin typeface="Helvetica"/>
              </a:rPr>
              <a:t>Compartir resultados: Live Artifacts</a:t>
            </a:r>
          </a:p>
        </p:txBody>
      </p:sp>
      <p:sp>
        <p:nvSpPr>
          <p:cNvPr id="29" name="TextBox 28"/>
          <p:cNvSpPr txBox="1"/>
          <p:nvPr/>
        </p:nvSpPr>
        <p:spPr>
          <a:xfrm>
            <a:off x="1164059" y="3406944"/>
            <a:ext cx="7499300" cy="180000"/>
          </a:xfrm>
          <a:prstGeom prst="rect">
            <a:avLst/>
          </a:prstGeom>
          <a:noFill/>
        </p:spPr>
        <p:txBody>
          <a:bodyPr wrap="square" anchor="t" lIns="0" rIns="0" tIns="0" bIns="0">
            <a:spAutoFit/>
          </a:bodyPr>
          <a:lstStyle/>
          <a:p>
            <a:r>
              <a:rPr sz="850">
                <a:solidFill>
                  <a:srgbClr val="3B3535"/>
                </a:solidFill>
                <a:latin typeface="Helvetica"/>
              </a:rPr>
              <a:t>Live Artifacts: compartir el resultado</a:t>
            </a:r>
          </a:p>
        </p:txBody>
      </p:sp>
      <p:sp>
        <p:nvSpPr>
          <p:cNvPr id="30" name="Rounded Rectangle 29"/>
          <p:cNvSpPr/>
          <p:nvPr/>
        </p:nvSpPr>
        <p:spPr>
          <a:xfrm>
            <a:off x="480603" y="3697637"/>
            <a:ext cx="250999" cy="250999"/>
          </a:xfrm>
          <a:prstGeom prst="roundRect">
            <a:avLst/>
          </a:prstGeom>
          <a:solidFill>
            <a:srgbClr val="F2EEEE"/>
          </a:solidFill>
          <a:ln>
            <a:noFill/>
          </a:ln>
          <a:effectLst/>
        </p:spPr>
        <p:txBody>
          <a:bodyPr rtlCol="0" anchor="ctr"/>
          <a:lstStyle/>
          <a:p>
            <a:pPr algn="ctr"/>
          </a:p>
        </p:txBody>
      </p:sp>
      <p:sp>
        <p:nvSpPr>
          <p:cNvPr id="31" name="TextBox 30"/>
          <p:cNvSpPr txBox="1"/>
          <p:nvPr/>
        </p:nvSpPr>
        <p:spPr>
          <a:xfrm>
            <a:off x="522387" y="3718510"/>
            <a:ext cx="167357" cy="209178"/>
          </a:xfrm>
          <a:prstGeom prst="rect">
            <a:avLst/>
          </a:prstGeom>
          <a:noFill/>
        </p:spPr>
        <p:txBody>
          <a:bodyPr wrap="none" anchor="ctr" lIns="0" rIns="0" tIns="0" bIns="0">
            <a:spAutoFit/>
          </a:bodyPr>
          <a:lstStyle/>
          <a:p>
            <a:pPr algn="ctr"/>
            <a:r>
              <a:rPr sz="1300" b="1">
                <a:solidFill>
                  <a:srgbClr val="3B3535"/>
                </a:solidFill>
                <a:latin typeface="Helvetica"/>
              </a:rPr>
              <a:t>6</a:t>
            </a:r>
          </a:p>
        </p:txBody>
      </p:sp>
      <p:sp>
        <p:nvSpPr>
          <p:cNvPr id="32" name="Rounded Rectangle 31"/>
          <p:cNvSpPr/>
          <p:nvPr/>
        </p:nvSpPr>
        <p:spPr>
          <a:xfrm>
            <a:off x="717314" y="3815956"/>
            <a:ext cx="334714" cy="14288"/>
          </a:xfrm>
          <a:prstGeom prst="roundRect">
            <a:avLst/>
          </a:prstGeom>
          <a:solidFill>
            <a:srgbClr val="D8D4D4"/>
          </a:solidFill>
          <a:ln>
            <a:noFill/>
          </a:ln>
          <a:effectLst/>
        </p:spPr>
        <p:txBody>
          <a:bodyPr rtlCol="0" anchor="ctr"/>
          <a:lstStyle/>
          <a:p>
            <a:pPr algn="ctr"/>
          </a:p>
        </p:txBody>
      </p:sp>
      <p:sp>
        <p:nvSpPr>
          <p:cNvPr id="33" name="TextBox 32"/>
          <p:cNvSpPr txBox="1"/>
          <p:nvPr/>
        </p:nvSpPr>
        <p:spPr>
          <a:xfrm>
            <a:off x="1164059" y="3707637"/>
            <a:ext cx="7400000" cy="220000"/>
          </a:xfrm>
          <a:prstGeom prst="rect">
            <a:avLst/>
          </a:prstGeom>
          <a:noFill/>
        </p:spPr>
        <p:txBody>
          <a:bodyPr wrap="square" anchor="t" lIns="0" rIns="0" tIns="0" bIns="0">
            <a:spAutoFit/>
          </a:bodyPr>
          <a:lstStyle/>
          <a:p>
            <a:r>
              <a:rPr sz="1150" b="1">
                <a:solidFill>
                  <a:srgbClr val="3B3535"/>
                </a:solidFill>
                <a:latin typeface="Helvetica"/>
              </a:rPr>
              <a:t>Advanced: Subagentes y Plugins</a:t>
            </a:r>
          </a:p>
        </p:txBody>
      </p:sp>
      <p:sp>
        <p:nvSpPr>
          <p:cNvPr id="34" name="TextBox 33"/>
          <p:cNvSpPr txBox="1"/>
          <p:nvPr/>
        </p:nvSpPr>
        <p:spPr>
          <a:xfrm>
            <a:off x="1164059" y="3947637"/>
            <a:ext cx="7499300" cy="180000"/>
          </a:xfrm>
          <a:prstGeom prst="rect">
            <a:avLst/>
          </a:prstGeom>
          <a:noFill/>
        </p:spPr>
        <p:txBody>
          <a:bodyPr wrap="square" anchor="t" lIns="0" rIns="0" tIns="0" bIns="0">
            <a:spAutoFit/>
          </a:bodyPr>
          <a:lstStyle/>
          <a:p>
            <a:r>
              <a:rPr sz="850">
                <a:solidFill>
                  <a:srgbClr val="3B3535"/>
                </a:solidFill>
                <a:latin typeface="Helvetica"/>
              </a:rPr>
              <a:t>Subagentes y Plugins</a:t>
            </a:r>
          </a:p>
        </p:txBody>
      </p:sp>
      <p:sp>
        <p:nvSpPr>
          <p:cNvPr id="35" name="Rounded Rectangle 34"/>
          <p:cNvSpPr/>
          <p:nvPr/>
        </p:nvSpPr>
        <p:spPr>
          <a:xfrm>
            <a:off x="480603" y="4238330"/>
            <a:ext cx="250999" cy="250999"/>
          </a:xfrm>
          <a:prstGeom prst="roundRect">
            <a:avLst/>
          </a:prstGeom>
          <a:solidFill>
            <a:srgbClr val="F2EEEE"/>
          </a:solidFill>
          <a:ln>
            <a:noFill/>
          </a:ln>
          <a:effectLst/>
        </p:spPr>
        <p:txBody>
          <a:bodyPr rtlCol="0" anchor="ctr"/>
          <a:lstStyle/>
          <a:p>
            <a:pPr algn="ctr"/>
          </a:p>
        </p:txBody>
      </p:sp>
      <p:sp>
        <p:nvSpPr>
          <p:cNvPr id="36" name="TextBox 35"/>
          <p:cNvSpPr txBox="1"/>
          <p:nvPr/>
        </p:nvSpPr>
        <p:spPr>
          <a:xfrm>
            <a:off x="522387" y="4259203"/>
            <a:ext cx="167357" cy="209178"/>
          </a:xfrm>
          <a:prstGeom prst="rect">
            <a:avLst/>
          </a:prstGeom>
          <a:noFill/>
        </p:spPr>
        <p:txBody>
          <a:bodyPr wrap="none" anchor="ctr" lIns="0" rIns="0" tIns="0" bIns="0">
            <a:spAutoFit/>
          </a:bodyPr>
          <a:lstStyle/>
          <a:p>
            <a:pPr algn="ctr"/>
            <a:r>
              <a:rPr sz="1300" b="1">
                <a:solidFill>
                  <a:srgbClr val="3B3535"/>
                </a:solidFill>
                <a:latin typeface="Helvetica"/>
              </a:rPr>
              <a:t>7</a:t>
            </a:r>
          </a:p>
        </p:txBody>
      </p:sp>
      <p:sp>
        <p:nvSpPr>
          <p:cNvPr id="37" name="Rounded Rectangle 36"/>
          <p:cNvSpPr/>
          <p:nvPr/>
        </p:nvSpPr>
        <p:spPr>
          <a:xfrm>
            <a:off x="717314" y="4356649"/>
            <a:ext cx="334714" cy="14288"/>
          </a:xfrm>
          <a:prstGeom prst="roundRect">
            <a:avLst/>
          </a:prstGeom>
          <a:solidFill>
            <a:srgbClr val="D8D4D4"/>
          </a:solidFill>
          <a:ln>
            <a:noFill/>
          </a:ln>
          <a:effectLst/>
        </p:spPr>
        <p:txBody>
          <a:bodyPr rtlCol="0" anchor="ctr"/>
          <a:lstStyle/>
          <a:p>
            <a:pPr algn="ctr"/>
          </a:p>
        </p:txBody>
      </p:sp>
      <p:sp>
        <p:nvSpPr>
          <p:cNvPr id="38" name="TextBox 37"/>
          <p:cNvSpPr txBox="1"/>
          <p:nvPr/>
        </p:nvSpPr>
        <p:spPr>
          <a:xfrm>
            <a:off x="1164059" y="4248330"/>
            <a:ext cx="7400000" cy="220000"/>
          </a:xfrm>
          <a:prstGeom prst="rect">
            <a:avLst/>
          </a:prstGeom>
          <a:noFill/>
        </p:spPr>
        <p:txBody>
          <a:bodyPr wrap="square" anchor="t" lIns="0" rIns="0" tIns="0" bIns="0">
            <a:spAutoFit/>
          </a:bodyPr>
          <a:lstStyle/>
          <a:p>
            <a:r>
              <a:rPr sz="1150" b="1">
                <a:solidFill>
                  <a:srgbClr val="3B3535"/>
                </a:solidFill>
                <a:latin typeface="Helvetica"/>
              </a:rPr>
              <a:t>Conclusions</a:t>
            </a:r>
          </a:p>
        </p:txBody>
      </p:sp>
      <p:sp>
        <p:nvSpPr>
          <p:cNvPr id="39" name="TextBox 38"/>
          <p:cNvSpPr txBox="1"/>
          <p:nvPr/>
        </p:nvSpPr>
        <p:spPr>
          <a:xfrm>
            <a:off x="1164059" y="4488330"/>
            <a:ext cx="7499300" cy="180000"/>
          </a:xfrm>
          <a:prstGeom prst="rect">
            <a:avLst/>
          </a:prstGeom>
          <a:noFill/>
        </p:spPr>
        <p:txBody>
          <a:bodyPr wrap="square" anchor="t" lIns="0" rIns="0" tIns="0" bIns="0">
            <a:spAutoFit/>
          </a:bodyPr>
          <a:lstStyle/>
          <a:p>
            <a:r>
              <a:rPr sz="850">
                <a:solidFill>
                  <a:srgbClr val="3B3535"/>
                </a:solidFill>
                <a:latin typeface="Helvetica"/>
              </a:rPr>
              <a:t>El loop completo y la gobernanza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744675"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CONECTAR Y AUTOMATIZAR</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600" b="1">
                <a:solidFill>
                  <a:srgbClr val="1F1E1E"/>
                </a:solidFill>
                <a:latin typeface="Helvetica"/>
              </a:rPr>
              <a:t>Connectors y MCP: las "manos" del agente</a:t>
            </a:r>
          </a:p>
        </p:txBody>
      </p:sp>
      <p:sp>
        <p:nvSpPr>
          <p:cNvPr id="5" name="TextBox 4"/>
          <p:cNvSpPr txBox="1"/>
          <p:nvPr/>
        </p:nvSpPr>
        <p:spPr>
          <a:xfrm>
            <a:off x="457200" y="1261872"/>
            <a:ext cx="5029200" cy="3653027"/>
          </a:xfrm>
          <a:prstGeom prst="rect">
            <a:avLst/>
          </a:prstGeom>
          <a:noFill/>
        </p:spPr>
        <p:txBody>
          <a:bodyPr wrap="square" anchor="t" lIns="0" rIns="0" tIns="0" bIns="0">
            <a:spAutoFit/>
          </a:bodyPr>
          <a:lstStyle/>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Qué son los Connectors.</a:t>
            </a:r>
            <a:r>
              <a:rPr sz="1100" b="0" i="0">
                <a:solidFill>
                  <a:srgbClr val="3B3535"/>
                </a:solidFill>
                <a:latin typeface="Helvetica"/>
              </a:rPr>
              <a:t> Son lo que le permite al agente tocar sistemas externos que de otro modo no podría: Drive, Gmail, Slack, bases de datos, APIs. "Las manos: lo que el agente puede tocar que de otro modo no podría."</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Qué es MCP (Model Context Protocol).</a:t>
            </a:r>
            <a:r>
              <a:rPr sz="1100" b="0" i="0">
                <a:solidFill>
                  <a:srgbClr val="3B3535"/>
                </a:solidFill>
                <a:latin typeface="Helvetica"/>
              </a:rPr>
              <a:t> El estándar detrás de los Connectors: una forma estandarizada de conectar Claude con sistemas externos. Cualquier app que exponga un servidor MCP se vuelve algo con lo que podés "hablar" (Figma, Vercel, Cal.com, Home Assistant…). El patrón: la plataforma abre sus internals como herramientas MCP; el agente no gana una capacidad nueva, la plataforma se vuelve conversacional.</a:t>
            </a:r>
          </a:p>
          <a:p>
            <a:pPr>
              <a:lnSpc>
                <a:spcPct val="103000"/>
              </a:lnSpc>
              <a:spcBef>
                <a:spcPts val="0"/>
              </a:spcBef>
              <a:spcAft>
                <a:spcPts val="300"/>
              </a:spcAft>
            </a:pPr>
            <a:r>
              <a:rPr sz="1100" b="1">
                <a:solidFill>
                  <a:srgbClr val="DA1B2E"/>
                </a:solidFill>
                <a:latin typeface="Helvetica"/>
              </a:rPr>
              <a:t>▪  </a:t>
            </a:r>
            <a:r>
              <a:rPr sz="1100" b="0" i="0">
                <a:solidFill>
                  <a:srgbClr val="3B3535"/>
                </a:solidFill>
                <a:latin typeface="Helvetica"/>
              </a:rPr>
              <a:t>En la próxima slide vemos </a:t>
            </a:r>
            <a:r>
              <a:rPr sz="1100" b="1" i="0">
                <a:solidFill>
                  <a:srgbClr val="1F1E1E"/>
                </a:solidFill>
                <a:latin typeface="Helvetica"/>
              </a:rPr>
              <a:t>cómo se registra un Connector</a:t>
            </a:r>
            <a:r>
              <a:rPr sz="1100" b="0" i="0">
                <a:solidFill>
                  <a:srgbClr val="3B3535"/>
                </a:solidFill>
                <a:latin typeface="Helvetica"/>
              </a:rPr>
              <a:t> en la práctica (directorio + un clic).</a:t>
            </a:r>
          </a:p>
        </p:txBody>
      </p:sp>
      <p:sp>
        <p:nvSpPr>
          <p:cNvPr id="6" name="Rounded Rectangle 5"/>
          <p:cNvSpPr/>
          <p:nvPr/>
        </p:nvSpPr>
        <p:spPr>
          <a:xfrm>
            <a:off x="5623560" y="2465787"/>
            <a:ext cx="3108960" cy="1245197"/>
          </a:xfrm>
          <a:prstGeom prst="roundRect">
            <a:avLst/>
          </a:prstGeom>
          <a:solidFill>
            <a:srgbClr val="F2EEEE"/>
          </a:solidFill>
          <a:ln>
            <a:noFill/>
          </a:ln>
          <a:effectLst/>
        </p:spPr>
        <p:txBody>
          <a:bodyPr rtlCol="0" anchor="ctr"/>
          <a:lstStyle/>
          <a:p>
            <a:pPr algn="ctr"/>
          </a:p>
        </p:txBody>
      </p:sp>
      <p:pic>
        <p:nvPicPr>
          <p:cNvPr id="7" name="Picture 6" descr="s4-1-1-flujo-connector-mcp.png"/>
          <p:cNvPicPr>
            <a:picLocks noChangeAspect="1"/>
          </p:cNvPicPr>
          <p:nvPr/>
        </p:nvPicPr>
        <p:blipFill>
          <a:blip r:embed="rId2"/>
          <a:stretch>
            <a:fillRect/>
          </a:stretch>
        </p:blipFill>
        <p:spPr>
          <a:xfrm>
            <a:off x="5669280" y="2511507"/>
            <a:ext cx="3017520" cy="1153757"/>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744675"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CONECTAR Y AUTOMATIZAR</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3100" b="1">
                <a:solidFill>
                  <a:srgbClr val="1F1E1E"/>
                </a:solidFill>
                <a:latin typeface="Helvetica"/>
              </a:rPr>
              <a:t>Cómo se registra un Connector</a:t>
            </a:r>
          </a:p>
        </p:txBody>
      </p:sp>
      <p:sp>
        <p:nvSpPr>
          <p:cNvPr id="5" name="TextBox 4"/>
          <p:cNvSpPr txBox="1"/>
          <p:nvPr/>
        </p:nvSpPr>
        <p:spPr>
          <a:xfrm>
            <a:off x="457200" y="1353312"/>
            <a:ext cx="5029200" cy="3561587"/>
          </a:xfrm>
          <a:prstGeom prst="rect">
            <a:avLst/>
          </a:prstGeom>
          <a:noFill/>
        </p:spPr>
        <p:txBody>
          <a:bodyPr wrap="square" anchor="t" lIns="0" rIns="0" tIns="0" bIns="0">
            <a:spAutoFit/>
          </a:bodyPr>
          <a:lstStyle/>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No estás programando: te conectás.</a:t>
            </a:r>
            <a:r>
              <a:rPr sz="1100" b="0" i="0">
                <a:solidFill>
                  <a:srgbClr val="3B3535"/>
                </a:solidFill>
                <a:latin typeface="Helvetica"/>
              </a:rPr>
              <a:t> Registrar un Connector es como conectar Gmail a una app nueva — buscás el servicio en un directorio y le das </a:t>
            </a:r>
            <a:r>
              <a:rPr sz="1100" b="1" i="0">
                <a:solidFill>
                  <a:srgbClr val="1F1E1E"/>
                </a:solidFill>
                <a:latin typeface="Helvetica"/>
              </a:rPr>
              <a:t>Connect</a:t>
            </a:r>
            <a:r>
              <a:rPr sz="1100" b="0" i="0">
                <a:solidFill>
                  <a:srgbClr val="3B3535"/>
                </a:solidFill>
                <a:latin typeface="Helvetica"/>
              </a:rPr>
              <a:t>. Configurado por la UI; no hay archivo local que editar.</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El directorio de Connectors.</a:t>
            </a:r>
            <a:r>
              <a:rPr sz="1100" b="0" i="0">
                <a:solidFill>
                  <a:srgbClr val="3B3535"/>
                </a:solidFill>
                <a:latin typeface="Helvetica"/>
              </a:rPr>
              <a:t> Cowork trae un </a:t>
            </a:r>
            <a:r>
              <a:rPr sz="1100" b="1" i="0">
                <a:solidFill>
                  <a:srgbClr val="1F1E1E"/>
                </a:solidFill>
                <a:latin typeface="Helvetica"/>
              </a:rPr>
              <a:t>directorio</a:t>
            </a:r>
            <a:r>
              <a:rPr sz="1100" b="0" i="0">
                <a:solidFill>
                  <a:srgbClr val="3B3535"/>
                </a:solidFill>
                <a:latin typeface="Helvetica"/>
              </a:rPr>
              <a:t> con servicios listos para conectar de un clic:</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Conexión de un clic.</a:t>
            </a:r>
            <a:r>
              <a:rPr sz="1100" b="0" i="0">
                <a:solidFill>
                  <a:srgbClr val="3B3535"/>
                </a:solidFill>
                <a:latin typeface="Helvetica"/>
              </a:rPr>
              <a:t> Buscás el servicio, le das </a:t>
            </a:r>
            <a:r>
              <a:rPr sz="1100" b="1" i="0">
                <a:solidFill>
                  <a:srgbClr val="1F1E1E"/>
                </a:solidFill>
                <a:latin typeface="Helvetica"/>
              </a:rPr>
              <a:t>Connect</a:t>
            </a:r>
            <a:r>
              <a:rPr sz="1100" b="0" i="0">
                <a:solidFill>
                  <a:srgbClr val="3B3535"/>
                </a:solidFill>
                <a:latin typeface="Helvetica"/>
              </a:rPr>
              <a:t> y autorizás — y queda disponible para el agente:</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Ejemplo (Atlas).</a:t>
            </a:r>
            <a:r>
              <a:rPr sz="1100" b="0" i="0">
                <a:solidFill>
                  <a:srgbClr val="3B3535"/>
                </a:solidFill>
                <a:latin typeface="Helvetica"/>
              </a:rPr>
              <a:t> </a:t>
            </a:r>
            <a:r>
              <a:rPr sz="1100" b="1" i="0">
                <a:solidFill>
                  <a:srgbClr val="1F1E1E"/>
                </a:solidFill>
                <a:latin typeface="Helvetica"/>
              </a:rPr>
              <a:t>MT Newswires</a:t>
            </a:r>
            <a:r>
              <a:rPr sz="1100" b="0" i="0">
                <a:solidFill>
                  <a:srgbClr val="3B3535"/>
                </a:solidFill>
                <a:latin typeface="Helvetica"/>
              </a:rPr>
              <a:t> ya tiene un connector listo: lo buscás y le das Connect, como cualquier app. </a:t>
            </a:r>
            <a:r>
              <a:rPr sz="1100" b="1" i="0">
                <a:solidFill>
                  <a:srgbClr val="1F1E1E"/>
                </a:solidFill>
                <a:latin typeface="Helvetica"/>
              </a:rPr>
              <a:t>Gmail</a:t>
            </a:r>
            <a:r>
              <a:rPr sz="1100" b="0" i="0">
                <a:solidFill>
                  <a:srgbClr val="3B3535"/>
                </a:solidFill>
                <a:latin typeface="Helvetica"/>
              </a:rPr>
              <a:t>, igual: un clic en el directorio. Con eso, Atlas pasa a leer noticias de mercado y a dejar borradores de correo — sin que vos programes nada.</a:t>
            </a:r>
          </a:p>
        </p:txBody>
      </p:sp>
      <p:sp>
        <p:nvSpPr>
          <p:cNvPr id="6" name="Rounded Rectangle 5"/>
          <p:cNvSpPr/>
          <p:nvPr/>
        </p:nvSpPr>
        <p:spPr>
          <a:xfrm>
            <a:off x="6024193" y="1307592"/>
            <a:ext cx="2307693" cy="1799081"/>
          </a:xfrm>
          <a:prstGeom prst="roundRect">
            <a:avLst/>
          </a:prstGeom>
          <a:solidFill>
            <a:srgbClr val="F2EEEE"/>
          </a:solidFill>
          <a:ln>
            <a:noFill/>
          </a:ln>
          <a:effectLst/>
        </p:spPr>
        <p:txBody>
          <a:bodyPr rtlCol="0" anchor="ctr"/>
          <a:lstStyle/>
          <a:p>
            <a:pPr algn="ctr"/>
          </a:p>
        </p:txBody>
      </p:sp>
      <p:pic>
        <p:nvPicPr>
          <p:cNvPr id="7" name="Picture 6" descr="connectors_directory.png"/>
          <p:cNvPicPr>
            <a:picLocks noChangeAspect="1"/>
          </p:cNvPicPr>
          <p:nvPr/>
        </p:nvPicPr>
        <p:blipFill>
          <a:blip r:embed="rId2"/>
          <a:stretch>
            <a:fillRect/>
          </a:stretch>
        </p:blipFill>
        <p:spPr>
          <a:xfrm>
            <a:off x="6069913" y="1353312"/>
            <a:ext cx="2216253" cy="1707641"/>
          </a:xfrm>
          <a:prstGeom prst="rect">
            <a:avLst/>
          </a:prstGeom>
        </p:spPr>
      </p:pic>
      <p:sp>
        <p:nvSpPr>
          <p:cNvPr id="8" name="Rounded Rectangle 7"/>
          <p:cNvSpPr/>
          <p:nvPr/>
        </p:nvSpPr>
        <p:spPr>
          <a:xfrm>
            <a:off x="5623560" y="3349509"/>
            <a:ext cx="3108960" cy="1423138"/>
          </a:xfrm>
          <a:prstGeom prst="roundRect">
            <a:avLst/>
          </a:prstGeom>
          <a:solidFill>
            <a:srgbClr val="F2EEEE"/>
          </a:solidFill>
          <a:ln>
            <a:noFill/>
          </a:ln>
          <a:effectLst/>
        </p:spPr>
        <p:txBody>
          <a:bodyPr rtlCol="0" anchor="ctr"/>
          <a:lstStyle/>
          <a:p>
            <a:pPr algn="ctr"/>
          </a:p>
        </p:txBody>
      </p:sp>
      <p:pic>
        <p:nvPicPr>
          <p:cNvPr id="9" name="Picture 8" descr="connector_browser.png"/>
          <p:cNvPicPr>
            <a:picLocks noChangeAspect="1"/>
          </p:cNvPicPr>
          <p:nvPr/>
        </p:nvPicPr>
        <p:blipFill>
          <a:blip r:embed="rId3"/>
          <a:stretch>
            <a:fillRect/>
          </a:stretch>
        </p:blipFill>
        <p:spPr>
          <a:xfrm>
            <a:off x="5669280" y="3395229"/>
            <a:ext cx="3017520" cy="133169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744675"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CONECTAR Y AUTOMATIZAR</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3100" b="1">
                <a:solidFill>
                  <a:srgbClr val="1F1E1E"/>
                </a:solidFill>
                <a:latin typeface="Helvetica"/>
              </a:rPr>
              <a:t>Schedule: que Cowork trabaje solo</a:t>
            </a:r>
          </a:p>
        </p:txBody>
      </p:sp>
      <p:sp>
        <p:nvSpPr>
          <p:cNvPr id="5" name="TextBox 4"/>
          <p:cNvSpPr txBox="1"/>
          <p:nvPr/>
        </p:nvSpPr>
        <p:spPr>
          <a:xfrm>
            <a:off x="457200" y="1353312"/>
            <a:ext cx="5029200" cy="3561587"/>
          </a:xfrm>
          <a:prstGeom prst="rect">
            <a:avLst/>
          </a:prstGeom>
          <a:noFill/>
        </p:spPr>
        <p:txBody>
          <a:bodyPr wrap="square" anchor="t" lIns="0" rIns="0" tIns="0" bIns="0">
            <a:spAutoFit/>
          </a:bodyPr>
          <a:lstStyle/>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Para qué sirve.</a:t>
            </a:r>
            <a:r>
              <a:rPr sz="1000" b="0" i="0">
                <a:solidFill>
                  <a:srgbClr val="3B3535"/>
                </a:solidFill>
                <a:latin typeface="Helvetica"/>
              </a:rPr>
              <a:t> Todo lo anterior es reactivo (vos pedís, Claude hace). Schedule hace a Cowork </a:t>
            </a:r>
            <a:r>
              <a:rPr sz="1000" b="1" i="0">
                <a:solidFill>
                  <a:srgbClr val="1F1E1E"/>
                </a:solidFill>
                <a:latin typeface="Helvetica"/>
              </a:rPr>
              <a:t>proactivo</a:t>
            </a:r>
            <a:r>
              <a:rPr sz="1000" b="0" i="0">
                <a:solidFill>
                  <a:srgbClr val="3B3535"/>
                </a:solidFill>
                <a:latin typeface="Helvetica"/>
              </a:rPr>
              <a:t>: describís una tarea una vez, elegís una cadencia, y Claude la corre solo.</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Cómo funciona.</a:t>
            </a:r>
          </a:p>
          <a:p>
            <a:pPr lvl="1">
              <a:lnSpc>
                <a:spcPct val="103000"/>
              </a:lnSpc>
              <a:spcBef>
                <a:spcPts val="0"/>
              </a:spcBef>
              <a:spcAft>
                <a:spcPts val="300"/>
              </a:spcAft>
            </a:pPr>
            <a:r>
              <a:rPr sz="900">
                <a:solidFill>
                  <a:srgbClr val="6A737D"/>
                </a:solidFill>
                <a:latin typeface="Helvetica"/>
              </a:rPr>
              <a:t>–  </a:t>
            </a:r>
            <a:r>
              <a:rPr sz="900" b="0" i="0">
                <a:solidFill>
                  <a:srgbClr val="3B3535"/>
                </a:solidFill>
                <a:latin typeface="Helvetica"/>
              </a:rPr>
              <a:t>Describís la tarea una vez; Claude guarda el prompt como las instrucciones de la tarea.</a:t>
            </a:r>
          </a:p>
          <a:p>
            <a:pPr lvl="1">
              <a:lnSpc>
                <a:spcPct val="103000"/>
              </a:lnSpc>
              <a:spcBef>
                <a:spcPts val="0"/>
              </a:spcBef>
              <a:spcAft>
                <a:spcPts val="300"/>
              </a:spcAft>
            </a:pPr>
            <a:r>
              <a:rPr sz="900">
                <a:solidFill>
                  <a:srgbClr val="6A737D"/>
                </a:solidFill>
                <a:latin typeface="Helvetica"/>
              </a:rPr>
              <a:t>–  </a:t>
            </a:r>
            <a:r>
              <a:rPr sz="900" b="0" i="0">
                <a:solidFill>
                  <a:srgbClr val="3B3535"/>
                </a:solidFill>
                <a:latin typeface="Helvetica"/>
              </a:rPr>
              <a:t>Elegís cadencia: por hora · diaria · semanal · días de semana · o </a:t>
            </a:r>
            <a:r>
              <a:rPr sz="900" b="1" i="0">
                <a:solidFill>
                  <a:srgbClr val="1F1E1E"/>
                </a:solidFill>
                <a:latin typeface="Helvetica"/>
              </a:rPr>
              <a:t>a demanda</a:t>
            </a:r>
            <a:r>
              <a:rPr sz="900" b="0" i="0">
                <a:solidFill>
                  <a:srgbClr val="3B3535"/>
                </a:solidFill>
                <a:latin typeface="Helvetica"/>
              </a:rPr>
              <a:t> ("Run now").</a:t>
            </a:r>
          </a:p>
          <a:p>
            <a:pPr lvl="1">
              <a:lnSpc>
                <a:spcPct val="103000"/>
              </a:lnSpc>
              <a:spcBef>
                <a:spcPts val="0"/>
              </a:spcBef>
              <a:spcAft>
                <a:spcPts val="300"/>
              </a:spcAft>
            </a:pPr>
            <a:r>
              <a:rPr sz="900">
                <a:solidFill>
                  <a:srgbClr val="6A737D"/>
                </a:solidFill>
                <a:latin typeface="Helvetica"/>
              </a:rPr>
              <a:t>–  </a:t>
            </a:r>
            <a:r>
              <a:rPr sz="900" b="0" i="0">
                <a:solidFill>
                  <a:srgbClr val="3B3535"/>
                </a:solidFill>
                <a:latin typeface="Helvetica"/>
              </a:rPr>
              <a:t>Cada corrida abre su </a:t>
            </a:r>
            <a:r>
              <a:rPr sz="900" b="1" i="0">
                <a:solidFill>
                  <a:srgbClr val="1F1E1E"/>
                </a:solidFill>
                <a:latin typeface="Helvetica"/>
              </a:rPr>
              <a:t>propia sesión fresca de Cowork</a:t>
            </a:r>
            <a:r>
              <a:rPr sz="900" b="0" i="0">
                <a:solidFill>
                  <a:srgbClr val="3B3535"/>
                </a:solidFill>
                <a:latin typeface="Helvetica"/>
              </a:rPr>
              <a:t> y avisa al terminar.</a:t>
            </a:r>
          </a:p>
          <a:p>
            <a:pPr lvl="1">
              <a:lnSpc>
                <a:spcPct val="103000"/>
              </a:lnSpc>
              <a:spcBef>
                <a:spcPts val="0"/>
              </a:spcBef>
              <a:spcAft>
                <a:spcPts val="300"/>
              </a:spcAft>
            </a:pPr>
            <a:r>
              <a:rPr sz="900">
                <a:solidFill>
                  <a:srgbClr val="6A737D"/>
                </a:solidFill>
                <a:latin typeface="Helvetica"/>
              </a:rPr>
              <a:t>–  </a:t>
            </a:r>
            <a:r>
              <a:rPr sz="900" b="0" i="0">
                <a:solidFill>
                  <a:srgbClr val="3B3535"/>
                </a:solidFill>
                <a:latin typeface="Helvetica"/>
              </a:rPr>
              <a:t>Tiene los </a:t>
            </a:r>
            <a:r>
              <a:rPr sz="900" b="1" i="0">
                <a:solidFill>
                  <a:srgbClr val="1F1E1E"/>
                </a:solidFill>
                <a:latin typeface="Helvetica"/>
              </a:rPr>
              <a:t>mismos poderes</a:t>
            </a:r>
            <a:r>
              <a:rPr sz="900" b="0" i="0">
                <a:solidFill>
                  <a:srgbClr val="3B3535"/>
                </a:solidFill>
                <a:latin typeface="Helvetica"/>
              </a:rPr>
              <a:t> que una tarea normal: connectors, skills, plugins instalados.</a:t>
            </a:r>
          </a:p>
          <a:p>
            <a:pPr lvl="1">
              <a:lnSpc>
                <a:spcPct val="103000"/>
              </a:lnSpc>
              <a:spcBef>
                <a:spcPts val="0"/>
              </a:spcBef>
              <a:spcAft>
                <a:spcPts val="300"/>
              </a:spcAft>
            </a:pPr>
            <a:r>
              <a:rPr sz="900">
                <a:solidFill>
                  <a:srgbClr val="6A737D"/>
                </a:solidFill>
                <a:latin typeface="Helvetica"/>
              </a:rPr>
              <a:t>–  </a:t>
            </a:r>
            <a:r>
              <a:rPr sz="900" b="0" i="0">
                <a:solidFill>
                  <a:srgbClr val="3B3535"/>
                </a:solidFill>
                <a:latin typeface="Helvetica"/>
              </a:rPr>
              <a:t>Vive en la pestaña </a:t>
            </a:r>
            <a:r>
              <a:rPr sz="900" b="1" i="0">
                <a:solidFill>
                  <a:srgbClr val="1F1E1E"/>
                </a:solidFill>
                <a:latin typeface="Helvetica"/>
              </a:rPr>
              <a:t>Scheduled</a:t>
            </a:r>
            <a:r>
              <a:rPr sz="900" b="0" i="0">
                <a:solidFill>
                  <a:srgbClr val="3B3535"/>
                </a:solidFill>
                <a:latin typeface="Helvetica"/>
              </a:rPr>
              <a:t> de la barra lateral.</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 LA trampa — corre LOCAL, no en la nube.</a:t>
            </a:r>
            <a:r>
              <a:rPr sz="1000" b="0" i="0">
                <a:solidFill>
                  <a:srgbClr val="3B3535"/>
                </a:solidFill>
                <a:latin typeface="Helvetica"/>
              </a:rPr>
              <a:t> Las tareas programadas de Cowork corren </a:t>
            </a:r>
            <a:r>
              <a:rPr sz="1000" b="1" i="0">
                <a:solidFill>
                  <a:srgbClr val="1F1E1E"/>
                </a:solidFill>
                <a:latin typeface="Helvetica"/>
              </a:rPr>
              <a:t>en tu computadora</a:t>
            </a:r>
            <a:r>
              <a:rPr sz="1000" b="0" i="0">
                <a:solidFill>
                  <a:srgbClr val="3B3535"/>
                </a:solidFill>
                <a:latin typeface="Helvetica"/>
              </a:rPr>
              <a:t>, no en servidores de Anthropic. Solo se disparan </a:t>
            </a:r>
            <a:r>
              <a:rPr sz="1000" b="1" i="0">
                <a:solidFill>
                  <a:srgbClr val="1F1E1E"/>
                </a:solidFill>
                <a:latin typeface="Helvetica"/>
              </a:rPr>
              <a:t>con la máquina encendida y la app de Claude Desktop abierta</a:t>
            </a:r>
            <a:r>
              <a:rPr sz="1000" b="0" i="0">
                <a:solidFill>
                  <a:srgbClr val="3B3535"/>
                </a:solidFill>
                <a:latin typeface="Helvetica"/>
              </a:rPr>
              <a:t>. Si estaba dormida/cerrada a la hora prevista, la corrida se </a:t>
            </a:r>
            <a:r>
              <a:rPr sz="1000" b="1" i="0">
                <a:solidFill>
                  <a:srgbClr val="1F1E1E"/>
                </a:solidFill>
                <a:latin typeface="Helvetica"/>
              </a:rPr>
              <a:t>saltea</a:t>
            </a:r>
            <a:r>
              <a:rPr sz="1000" b="0" i="0">
                <a:solidFill>
                  <a:srgbClr val="3B3535"/>
                </a:solidFill>
                <a:latin typeface="Helvetica"/>
              </a:rPr>
              <a:t> — y se ejecuta automáticamente apenas la máquina despierta o reabrís la app (con aviso de "esto se saltó"). No esperes que tu laptop apagada genere el reporte del lunes.</a:t>
            </a:r>
          </a:p>
          <a:p>
            <a:pPr lvl="1">
              <a:lnSpc>
                <a:spcPct val="103000"/>
              </a:lnSpc>
              <a:spcBef>
                <a:spcPts val="0"/>
              </a:spcBef>
              <a:spcAft>
                <a:spcPts val="300"/>
              </a:spcAft>
            </a:pPr>
            <a:r>
              <a:rPr sz="900">
                <a:solidFill>
                  <a:srgbClr val="6A737D"/>
                </a:solidFill>
                <a:latin typeface="Helvetica"/>
              </a:rPr>
              <a:t>–  </a:t>
            </a:r>
            <a:r>
              <a:rPr sz="900" b="0" i="1">
                <a:solidFill>
                  <a:srgbClr val="3B3535"/>
                </a:solidFill>
                <a:latin typeface="Helvetica"/>
              </a:rPr>
              <a:t>(Aparte, fuera de alcance:)</a:t>
            </a:r>
            <a:r>
              <a:rPr sz="900" b="0" i="0">
                <a:solidFill>
                  <a:srgbClr val="3B3535"/>
                </a:solidFill>
                <a:latin typeface="Helvetica"/>
              </a:rPr>
              <a:t> existen agentes programados </a:t>
            </a:r>
            <a:r>
              <a:rPr sz="900" b="1" i="0">
                <a:solidFill>
                  <a:srgbClr val="1F1E1E"/>
                </a:solidFill>
                <a:latin typeface="Helvetica"/>
              </a:rPr>
              <a:t>alojados en la nube</a:t>
            </a:r>
            <a:r>
              <a:rPr sz="900" b="0" i="0">
                <a:solidFill>
                  <a:srgbClr val="3B3535"/>
                </a:solidFill>
                <a:latin typeface="Helvetica"/>
              </a:rPr>
              <a:t>, pero son una funcionalidad separada — no es lo que hace el Schedule de Cowork.</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Ejemplo (Atlas).</a:t>
            </a:r>
            <a:r>
              <a:rPr sz="1000" b="0" i="0">
                <a:solidFill>
                  <a:srgbClr val="3B3535"/>
                </a:solidFill>
                <a:latin typeface="Helvetica"/>
              </a:rPr>
              <a:t> Cada lunes 8:00: </a:t>
            </a:r>
            <a:r>
              <a:rPr sz="1000" b="0" i="0">
                <a:solidFill>
                  <a:srgbClr val="000000"/>
                </a:solidFill>
                <a:latin typeface="Courier New"/>
              </a:rPr>
              <a:t>buscar-accion</a:t>
            </a:r>
            <a:r>
              <a:rPr sz="1000" b="0" i="0">
                <a:solidFill>
                  <a:srgbClr val="3B3535"/>
                </a:solidFill>
                <a:latin typeface="Helvetica"/>
              </a:rPr>
              <a:t> </a:t>
            </a:r>
            <a:r>
              <a:rPr sz="1000" b="0" i="0">
                <a:solidFill>
                  <a:srgbClr val="000000"/>
                </a:solidFill>
                <a:latin typeface="Courier New"/>
              </a:rPr>
              <a:t>reporte-semanal</a:t>
            </a:r>
            <a:r>
              <a:rPr sz="1000" b="0" i="0">
                <a:solidFill>
                  <a:srgbClr val="3B3535"/>
                </a:solidFill>
                <a:latin typeface="Helvetica"/>
              </a:rPr>
              <a:t> dejar el reporte como borrador en Gmail, listo antes de la reunión de las 9:00. Tip de demo: no esperar al lunes, usar "Run on demand".</a:t>
            </a:r>
          </a:p>
        </p:txBody>
      </p:sp>
      <p:sp>
        <p:nvSpPr>
          <p:cNvPr id="6" name="Rounded Rectangle 5"/>
          <p:cNvSpPr/>
          <p:nvPr/>
        </p:nvSpPr>
        <p:spPr>
          <a:xfrm>
            <a:off x="5623560" y="1855264"/>
            <a:ext cx="3108960" cy="2557682"/>
          </a:xfrm>
          <a:prstGeom prst="roundRect">
            <a:avLst/>
          </a:prstGeom>
          <a:solidFill>
            <a:srgbClr val="F2EEEE"/>
          </a:solidFill>
          <a:ln>
            <a:noFill/>
          </a:ln>
          <a:effectLst/>
        </p:spPr>
        <p:txBody>
          <a:bodyPr rtlCol="0" anchor="ctr"/>
          <a:lstStyle/>
          <a:p>
            <a:pPr algn="ctr"/>
          </a:p>
        </p:txBody>
      </p:sp>
      <p:pic>
        <p:nvPicPr>
          <p:cNvPr id="7" name="Picture 6" descr="schedule.png"/>
          <p:cNvPicPr>
            <a:picLocks noChangeAspect="1"/>
          </p:cNvPicPr>
          <p:nvPr/>
        </p:nvPicPr>
        <p:blipFill>
          <a:blip r:embed="rId2"/>
          <a:stretch>
            <a:fillRect/>
          </a:stretch>
        </p:blipFill>
        <p:spPr>
          <a:xfrm>
            <a:off x="5669280" y="1900984"/>
            <a:ext cx="3017520" cy="246624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TextBox 2"/>
          <p:cNvSpPr txBox="1"/>
          <p:nvPr/>
        </p:nvSpPr>
        <p:spPr>
          <a:xfrm>
            <a:off x="480974" y="504748"/>
            <a:ext cx="3246120" cy="365760"/>
          </a:xfrm>
          <a:prstGeom prst="rect">
            <a:avLst/>
          </a:prstGeom>
          <a:noFill/>
        </p:spPr>
        <p:txBody>
          <a:bodyPr wrap="square" anchor="t" lIns="0" rIns="0" tIns="0" bIns="0">
            <a:spAutoFit/>
          </a:bodyPr>
          <a:lstStyle/>
          <a:p>
            <a:r>
              <a:rPr sz="2150" b="1">
                <a:solidFill>
                  <a:srgbClr val="1F1E1E"/>
                </a:solidFill>
                <a:latin typeface="Helvetica"/>
              </a:rPr>
              <a:t>Agenda</a:t>
            </a:r>
          </a:p>
        </p:txBody>
      </p:sp>
      <p:sp>
        <p:nvSpPr>
          <p:cNvPr id="4" name="Rounded Rectangle 3"/>
          <p:cNvSpPr/>
          <p:nvPr/>
        </p:nvSpPr>
        <p:spPr>
          <a:xfrm>
            <a:off x="606103" y="994172"/>
            <a:ext cx="14288" cy="3644354"/>
          </a:xfrm>
          <a:prstGeom prst="roundRect">
            <a:avLst/>
          </a:prstGeom>
          <a:solidFill>
            <a:srgbClr val="D8D4D4"/>
          </a:solidFill>
          <a:ln>
            <a:noFill/>
          </a:ln>
          <a:effectLst/>
        </p:spPr>
        <p:txBody>
          <a:bodyPr rtlCol="0" anchor="ctr"/>
          <a:lstStyle/>
          <a:p>
            <a:pPr algn="ctr"/>
          </a:p>
        </p:txBody>
      </p:sp>
      <p:sp>
        <p:nvSpPr>
          <p:cNvPr id="5" name="Rounded Rectangle 4"/>
          <p:cNvSpPr/>
          <p:nvPr/>
        </p:nvSpPr>
        <p:spPr>
          <a:xfrm>
            <a:off x="480603" y="994172"/>
            <a:ext cx="250999" cy="250999"/>
          </a:xfrm>
          <a:prstGeom prst="roundRect">
            <a:avLst/>
          </a:prstGeom>
          <a:solidFill>
            <a:srgbClr val="F2EEEE"/>
          </a:solidFill>
          <a:ln>
            <a:noFill/>
          </a:ln>
          <a:effectLst/>
        </p:spPr>
        <p:txBody>
          <a:bodyPr rtlCol="0" anchor="ctr"/>
          <a:lstStyle/>
          <a:p>
            <a:pPr algn="ctr"/>
          </a:p>
        </p:txBody>
      </p:sp>
      <p:sp>
        <p:nvSpPr>
          <p:cNvPr id="6" name="TextBox 5"/>
          <p:cNvSpPr txBox="1"/>
          <p:nvPr/>
        </p:nvSpPr>
        <p:spPr>
          <a:xfrm>
            <a:off x="522387" y="1015045"/>
            <a:ext cx="167357" cy="209178"/>
          </a:xfrm>
          <a:prstGeom prst="rect">
            <a:avLst/>
          </a:prstGeom>
          <a:noFill/>
        </p:spPr>
        <p:txBody>
          <a:bodyPr wrap="none" anchor="ctr" lIns="0" rIns="0" tIns="0" bIns="0">
            <a:spAutoFit/>
          </a:bodyPr>
          <a:lstStyle/>
          <a:p>
            <a:pPr algn="ctr"/>
            <a:r>
              <a:rPr sz="1300" b="1">
                <a:solidFill>
                  <a:srgbClr val="3B3535"/>
                </a:solidFill>
                <a:latin typeface="Helvetica"/>
              </a:rPr>
              <a:t>1</a:t>
            </a:r>
          </a:p>
        </p:txBody>
      </p:sp>
      <p:sp>
        <p:nvSpPr>
          <p:cNvPr id="7" name="Rounded Rectangle 6"/>
          <p:cNvSpPr/>
          <p:nvPr/>
        </p:nvSpPr>
        <p:spPr>
          <a:xfrm>
            <a:off x="717314" y="1112491"/>
            <a:ext cx="334714" cy="14288"/>
          </a:xfrm>
          <a:prstGeom prst="roundRect">
            <a:avLst/>
          </a:prstGeom>
          <a:solidFill>
            <a:srgbClr val="D8D4D4"/>
          </a:solidFill>
          <a:ln>
            <a:noFill/>
          </a:ln>
          <a:effectLst/>
        </p:spPr>
        <p:txBody>
          <a:bodyPr rtlCol="0" anchor="ctr"/>
          <a:lstStyle/>
          <a:p>
            <a:pPr algn="ctr"/>
          </a:p>
        </p:txBody>
      </p:sp>
      <p:sp>
        <p:nvSpPr>
          <p:cNvPr id="8" name="TextBox 7"/>
          <p:cNvSpPr txBox="1"/>
          <p:nvPr/>
        </p:nvSpPr>
        <p:spPr>
          <a:xfrm>
            <a:off x="1164059" y="1004172"/>
            <a:ext cx="7400000" cy="220000"/>
          </a:xfrm>
          <a:prstGeom prst="rect">
            <a:avLst/>
          </a:prstGeom>
          <a:noFill/>
        </p:spPr>
        <p:txBody>
          <a:bodyPr wrap="square" anchor="t" lIns="0" rIns="0" tIns="0" bIns="0">
            <a:spAutoFit/>
          </a:bodyPr>
          <a:lstStyle/>
          <a:p>
            <a:r>
              <a:rPr sz="1150" b="1">
                <a:solidFill>
                  <a:srgbClr val="3B3535"/>
                </a:solidFill>
                <a:latin typeface="Helvetica"/>
              </a:rPr>
              <a:t>De chat a agente: dónde encaja Cowork</a:t>
            </a:r>
          </a:p>
        </p:txBody>
      </p:sp>
      <p:sp>
        <p:nvSpPr>
          <p:cNvPr id="9" name="TextBox 8"/>
          <p:cNvSpPr txBox="1"/>
          <p:nvPr/>
        </p:nvSpPr>
        <p:spPr>
          <a:xfrm>
            <a:off x="1164059" y="1244172"/>
            <a:ext cx="7499300" cy="180000"/>
          </a:xfrm>
          <a:prstGeom prst="rect">
            <a:avLst/>
          </a:prstGeom>
          <a:noFill/>
        </p:spPr>
        <p:txBody>
          <a:bodyPr wrap="square" anchor="t" lIns="0" rIns="0" tIns="0" bIns="0">
            <a:spAutoFit/>
          </a:bodyPr>
          <a:lstStyle/>
          <a:p>
            <a:r>
              <a:rPr sz="850">
                <a:solidFill>
                  <a:srgbClr val="3B3535"/>
                </a:solidFill>
                <a:latin typeface="Helvetica"/>
              </a:rPr>
              <a:t>De chatear a delegar: dónde vive Cowork</a:t>
            </a:r>
          </a:p>
        </p:txBody>
      </p:sp>
      <p:sp>
        <p:nvSpPr>
          <p:cNvPr id="10" name="Rounded Rectangle 9"/>
          <p:cNvSpPr/>
          <p:nvPr/>
        </p:nvSpPr>
        <p:spPr>
          <a:xfrm>
            <a:off x="480603" y="1534865"/>
            <a:ext cx="250999" cy="250999"/>
          </a:xfrm>
          <a:prstGeom prst="roundRect">
            <a:avLst/>
          </a:prstGeom>
          <a:solidFill>
            <a:srgbClr val="F2EEEE"/>
          </a:solidFill>
          <a:ln>
            <a:noFill/>
          </a:ln>
          <a:effectLst/>
        </p:spPr>
        <p:txBody>
          <a:bodyPr rtlCol="0" anchor="ctr"/>
          <a:lstStyle/>
          <a:p>
            <a:pPr algn="ctr"/>
          </a:p>
        </p:txBody>
      </p:sp>
      <p:sp>
        <p:nvSpPr>
          <p:cNvPr id="11" name="TextBox 10"/>
          <p:cNvSpPr txBox="1"/>
          <p:nvPr/>
        </p:nvSpPr>
        <p:spPr>
          <a:xfrm>
            <a:off x="522387" y="1555738"/>
            <a:ext cx="167357" cy="209178"/>
          </a:xfrm>
          <a:prstGeom prst="rect">
            <a:avLst/>
          </a:prstGeom>
          <a:noFill/>
        </p:spPr>
        <p:txBody>
          <a:bodyPr wrap="none" anchor="ctr" lIns="0" rIns="0" tIns="0" bIns="0">
            <a:spAutoFit/>
          </a:bodyPr>
          <a:lstStyle/>
          <a:p>
            <a:pPr algn="ctr"/>
            <a:r>
              <a:rPr sz="1300" b="1">
                <a:solidFill>
                  <a:srgbClr val="3B3535"/>
                </a:solidFill>
                <a:latin typeface="Helvetica"/>
              </a:rPr>
              <a:t>2</a:t>
            </a:r>
          </a:p>
        </p:txBody>
      </p:sp>
      <p:sp>
        <p:nvSpPr>
          <p:cNvPr id="12" name="Rounded Rectangle 11"/>
          <p:cNvSpPr/>
          <p:nvPr/>
        </p:nvSpPr>
        <p:spPr>
          <a:xfrm>
            <a:off x="717314" y="1653184"/>
            <a:ext cx="334714" cy="14288"/>
          </a:xfrm>
          <a:prstGeom prst="roundRect">
            <a:avLst/>
          </a:prstGeom>
          <a:solidFill>
            <a:srgbClr val="D8D4D4"/>
          </a:solidFill>
          <a:ln>
            <a:noFill/>
          </a:ln>
          <a:effectLst/>
        </p:spPr>
        <p:txBody>
          <a:bodyPr rtlCol="0" anchor="ctr"/>
          <a:lstStyle/>
          <a:p>
            <a:pPr algn="ctr"/>
          </a:p>
        </p:txBody>
      </p:sp>
      <p:sp>
        <p:nvSpPr>
          <p:cNvPr id="13" name="TextBox 12"/>
          <p:cNvSpPr txBox="1"/>
          <p:nvPr/>
        </p:nvSpPr>
        <p:spPr>
          <a:xfrm>
            <a:off x="1164059" y="1544865"/>
            <a:ext cx="7400000" cy="220000"/>
          </a:xfrm>
          <a:prstGeom prst="rect">
            <a:avLst/>
          </a:prstGeom>
          <a:noFill/>
        </p:spPr>
        <p:txBody>
          <a:bodyPr wrap="square" anchor="t" lIns="0" rIns="0" tIns="0" bIns="0">
            <a:spAutoFit/>
          </a:bodyPr>
          <a:lstStyle/>
          <a:p>
            <a:r>
              <a:rPr sz="1150" b="1">
                <a:solidFill>
                  <a:srgbClr val="3B3535"/>
                </a:solidFill>
                <a:latin typeface="Helvetica"/>
              </a:rPr>
              <a:t>Lo básico: interfaz, Instrucciones y Projects</a:t>
            </a:r>
          </a:p>
        </p:txBody>
      </p:sp>
      <p:sp>
        <p:nvSpPr>
          <p:cNvPr id="14" name="TextBox 13"/>
          <p:cNvSpPr txBox="1"/>
          <p:nvPr/>
        </p:nvSpPr>
        <p:spPr>
          <a:xfrm>
            <a:off x="1164059" y="1784865"/>
            <a:ext cx="7499300" cy="180000"/>
          </a:xfrm>
          <a:prstGeom prst="rect">
            <a:avLst/>
          </a:prstGeom>
          <a:noFill/>
        </p:spPr>
        <p:txBody>
          <a:bodyPr wrap="square" anchor="t" lIns="0" rIns="0" tIns="0" bIns="0">
            <a:spAutoFit/>
          </a:bodyPr>
          <a:lstStyle/>
          <a:p>
            <a:r>
              <a:rPr sz="850">
                <a:solidFill>
                  <a:srgbClr val="3B3535"/>
                </a:solidFill>
                <a:latin typeface="Helvetica"/>
              </a:rPr>
              <a:t>Interfaz, Instrucciones y Projects</a:t>
            </a:r>
          </a:p>
        </p:txBody>
      </p:sp>
      <p:sp>
        <p:nvSpPr>
          <p:cNvPr id="15" name="Rounded Rectangle 14"/>
          <p:cNvSpPr/>
          <p:nvPr/>
        </p:nvSpPr>
        <p:spPr>
          <a:xfrm>
            <a:off x="480603" y="2075558"/>
            <a:ext cx="250999" cy="250999"/>
          </a:xfrm>
          <a:prstGeom prst="roundRect">
            <a:avLst/>
          </a:prstGeom>
          <a:solidFill>
            <a:srgbClr val="F2EEEE"/>
          </a:solidFill>
          <a:ln>
            <a:noFill/>
          </a:ln>
          <a:effectLst/>
        </p:spPr>
        <p:txBody>
          <a:bodyPr rtlCol="0" anchor="ctr"/>
          <a:lstStyle/>
          <a:p>
            <a:pPr algn="ctr"/>
          </a:p>
        </p:txBody>
      </p:sp>
      <p:sp>
        <p:nvSpPr>
          <p:cNvPr id="16" name="TextBox 15"/>
          <p:cNvSpPr txBox="1"/>
          <p:nvPr/>
        </p:nvSpPr>
        <p:spPr>
          <a:xfrm>
            <a:off x="522387" y="2096431"/>
            <a:ext cx="167357" cy="209178"/>
          </a:xfrm>
          <a:prstGeom prst="rect">
            <a:avLst/>
          </a:prstGeom>
          <a:noFill/>
        </p:spPr>
        <p:txBody>
          <a:bodyPr wrap="none" anchor="ctr" lIns="0" rIns="0" tIns="0" bIns="0">
            <a:spAutoFit/>
          </a:bodyPr>
          <a:lstStyle/>
          <a:p>
            <a:pPr algn="ctr"/>
            <a:r>
              <a:rPr sz="1300" b="1">
                <a:solidFill>
                  <a:srgbClr val="3B3535"/>
                </a:solidFill>
                <a:latin typeface="Helvetica"/>
              </a:rPr>
              <a:t>3</a:t>
            </a:r>
          </a:p>
        </p:txBody>
      </p:sp>
      <p:sp>
        <p:nvSpPr>
          <p:cNvPr id="17" name="Rounded Rectangle 16"/>
          <p:cNvSpPr/>
          <p:nvPr/>
        </p:nvSpPr>
        <p:spPr>
          <a:xfrm>
            <a:off x="717314" y="2193877"/>
            <a:ext cx="334714" cy="14288"/>
          </a:xfrm>
          <a:prstGeom prst="roundRect">
            <a:avLst/>
          </a:prstGeom>
          <a:solidFill>
            <a:srgbClr val="D8D4D4"/>
          </a:solidFill>
          <a:ln>
            <a:noFill/>
          </a:ln>
          <a:effectLst/>
        </p:spPr>
        <p:txBody>
          <a:bodyPr rtlCol="0" anchor="ctr"/>
          <a:lstStyle/>
          <a:p>
            <a:pPr algn="ctr"/>
          </a:p>
        </p:txBody>
      </p:sp>
      <p:sp>
        <p:nvSpPr>
          <p:cNvPr id="18" name="TextBox 17"/>
          <p:cNvSpPr txBox="1"/>
          <p:nvPr/>
        </p:nvSpPr>
        <p:spPr>
          <a:xfrm>
            <a:off x="1164059" y="2085558"/>
            <a:ext cx="7400000" cy="220000"/>
          </a:xfrm>
          <a:prstGeom prst="rect">
            <a:avLst/>
          </a:prstGeom>
          <a:noFill/>
        </p:spPr>
        <p:txBody>
          <a:bodyPr wrap="square" anchor="t" lIns="0" rIns="0" tIns="0" bIns="0">
            <a:spAutoFit/>
          </a:bodyPr>
          <a:lstStyle/>
          <a:p>
            <a:r>
              <a:rPr sz="1150" b="1">
                <a:solidFill>
                  <a:srgbClr val="3B3535"/>
                </a:solidFill>
                <a:latin typeface="Helvetica"/>
              </a:rPr>
              <a:t>Extender Cowork: Skills y el rol de los archivos MD / metadata</a:t>
            </a:r>
          </a:p>
        </p:txBody>
      </p:sp>
      <p:sp>
        <p:nvSpPr>
          <p:cNvPr id="19" name="TextBox 18"/>
          <p:cNvSpPr txBox="1"/>
          <p:nvPr/>
        </p:nvSpPr>
        <p:spPr>
          <a:xfrm>
            <a:off x="1164059" y="2325558"/>
            <a:ext cx="7499300" cy="180000"/>
          </a:xfrm>
          <a:prstGeom prst="rect">
            <a:avLst/>
          </a:prstGeom>
          <a:noFill/>
        </p:spPr>
        <p:txBody>
          <a:bodyPr wrap="square" anchor="t" lIns="0" rIns="0" tIns="0" bIns="0">
            <a:spAutoFit/>
          </a:bodyPr>
          <a:lstStyle/>
          <a:p>
            <a:r>
              <a:rPr sz="850">
                <a:solidFill>
                  <a:srgbClr val="3B3535"/>
                </a:solidFill>
                <a:latin typeface="Helvetica"/>
              </a:rPr>
              <a:t>Skills y los archivos MD / metadata</a:t>
            </a:r>
          </a:p>
        </p:txBody>
      </p:sp>
      <p:sp>
        <p:nvSpPr>
          <p:cNvPr id="20" name="Rounded Rectangle 19"/>
          <p:cNvSpPr/>
          <p:nvPr/>
        </p:nvSpPr>
        <p:spPr>
          <a:xfrm>
            <a:off x="480603" y="2616251"/>
            <a:ext cx="250999" cy="250999"/>
          </a:xfrm>
          <a:prstGeom prst="roundRect">
            <a:avLst/>
          </a:prstGeom>
          <a:solidFill>
            <a:srgbClr val="F2EEEE"/>
          </a:solidFill>
          <a:ln>
            <a:noFill/>
          </a:ln>
          <a:effectLst/>
        </p:spPr>
        <p:txBody>
          <a:bodyPr rtlCol="0" anchor="ctr"/>
          <a:lstStyle/>
          <a:p>
            <a:pPr algn="ctr"/>
          </a:p>
        </p:txBody>
      </p:sp>
      <p:sp>
        <p:nvSpPr>
          <p:cNvPr id="21" name="TextBox 20"/>
          <p:cNvSpPr txBox="1"/>
          <p:nvPr/>
        </p:nvSpPr>
        <p:spPr>
          <a:xfrm>
            <a:off x="522387" y="2637124"/>
            <a:ext cx="167357" cy="209178"/>
          </a:xfrm>
          <a:prstGeom prst="rect">
            <a:avLst/>
          </a:prstGeom>
          <a:noFill/>
        </p:spPr>
        <p:txBody>
          <a:bodyPr wrap="none" anchor="ctr" lIns="0" rIns="0" tIns="0" bIns="0">
            <a:spAutoFit/>
          </a:bodyPr>
          <a:lstStyle/>
          <a:p>
            <a:pPr algn="ctr"/>
            <a:r>
              <a:rPr sz="1300" b="1">
                <a:solidFill>
                  <a:srgbClr val="3B3535"/>
                </a:solidFill>
                <a:latin typeface="Helvetica"/>
              </a:rPr>
              <a:t>4</a:t>
            </a:r>
          </a:p>
        </p:txBody>
      </p:sp>
      <p:sp>
        <p:nvSpPr>
          <p:cNvPr id="22" name="Rounded Rectangle 21"/>
          <p:cNvSpPr/>
          <p:nvPr/>
        </p:nvSpPr>
        <p:spPr>
          <a:xfrm>
            <a:off x="717314" y="2734570"/>
            <a:ext cx="334714" cy="14288"/>
          </a:xfrm>
          <a:prstGeom prst="roundRect">
            <a:avLst/>
          </a:prstGeom>
          <a:solidFill>
            <a:srgbClr val="D8D4D4"/>
          </a:solidFill>
          <a:ln>
            <a:noFill/>
          </a:ln>
          <a:effectLst/>
        </p:spPr>
        <p:txBody>
          <a:bodyPr rtlCol="0" anchor="ctr"/>
          <a:lstStyle/>
          <a:p>
            <a:pPr algn="ctr"/>
          </a:p>
        </p:txBody>
      </p:sp>
      <p:sp>
        <p:nvSpPr>
          <p:cNvPr id="23" name="TextBox 22"/>
          <p:cNvSpPr txBox="1"/>
          <p:nvPr/>
        </p:nvSpPr>
        <p:spPr>
          <a:xfrm>
            <a:off x="1164059" y="2626251"/>
            <a:ext cx="7400000" cy="220000"/>
          </a:xfrm>
          <a:prstGeom prst="rect">
            <a:avLst/>
          </a:prstGeom>
          <a:noFill/>
        </p:spPr>
        <p:txBody>
          <a:bodyPr wrap="square" anchor="t" lIns="0" rIns="0" tIns="0" bIns="0">
            <a:spAutoFit/>
          </a:bodyPr>
          <a:lstStyle/>
          <a:p>
            <a:r>
              <a:rPr sz="1150" b="1">
                <a:solidFill>
                  <a:srgbClr val="3B3535"/>
                </a:solidFill>
                <a:latin typeface="Helvetica"/>
              </a:rPr>
              <a:t>Conectar y automatizar: Connectors/MCP y Schedule</a:t>
            </a:r>
          </a:p>
        </p:txBody>
      </p:sp>
      <p:sp>
        <p:nvSpPr>
          <p:cNvPr id="24" name="TextBox 23"/>
          <p:cNvSpPr txBox="1"/>
          <p:nvPr/>
        </p:nvSpPr>
        <p:spPr>
          <a:xfrm>
            <a:off x="1164059" y="2866251"/>
            <a:ext cx="7499300" cy="180000"/>
          </a:xfrm>
          <a:prstGeom prst="rect">
            <a:avLst/>
          </a:prstGeom>
          <a:noFill/>
        </p:spPr>
        <p:txBody>
          <a:bodyPr wrap="square" anchor="t" lIns="0" rIns="0" tIns="0" bIns="0">
            <a:spAutoFit/>
          </a:bodyPr>
          <a:lstStyle/>
          <a:p>
            <a:r>
              <a:rPr sz="850">
                <a:solidFill>
                  <a:srgbClr val="3B3535"/>
                </a:solidFill>
                <a:latin typeface="Helvetica"/>
              </a:rPr>
              <a:t>Connectors/MCP y Schedule</a:t>
            </a:r>
          </a:p>
        </p:txBody>
      </p:sp>
      <p:sp>
        <p:nvSpPr>
          <p:cNvPr id="25" name="Rounded Rectangle 24"/>
          <p:cNvSpPr/>
          <p:nvPr/>
        </p:nvSpPr>
        <p:spPr>
          <a:xfrm>
            <a:off x="480603" y="3156944"/>
            <a:ext cx="250999" cy="250999"/>
          </a:xfrm>
          <a:prstGeom prst="roundRect">
            <a:avLst/>
          </a:prstGeom>
          <a:solidFill>
            <a:srgbClr val="DA1B2E"/>
          </a:solidFill>
          <a:ln>
            <a:noFill/>
          </a:ln>
          <a:effectLst/>
        </p:spPr>
        <p:txBody>
          <a:bodyPr rtlCol="0" anchor="ctr"/>
          <a:lstStyle/>
          <a:p>
            <a:pPr algn="ctr"/>
          </a:p>
        </p:txBody>
      </p:sp>
      <p:sp>
        <p:nvSpPr>
          <p:cNvPr id="26" name="TextBox 25"/>
          <p:cNvSpPr txBox="1"/>
          <p:nvPr/>
        </p:nvSpPr>
        <p:spPr>
          <a:xfrm>
            <a:off x="522387" y="3177817"/>
            <a:ext cx="167357" cy="209178"/>
          </a:xfrm>
          <a:prstGeom prst="rect">
            <a:avLst/>
          </a:prstGeom>
          <a:noFill/>
        </p:spPr>
        <p:txBody>
          <a:bodyPr wrap="none" anchor="ctr" lIns="0" rIns="0" tIns="0" bIns="0">
            <a:spAutoFit/>
          </a:bodyPr>
          <a:lstStyle/>
          <a:p>
            <a:pPr algn="ctr"/>
            <a:r>
              <a:rPr sz="1300" b="1">
                <a:solidFill>
                  <a:srgbClr val="FFFFFF"/>
                </a:solidFill>
                <a:latin typeface="Helvetica"/>
              </a:rPr>
              <a:t>5</a:t>
            </a:r>
          </a:p>
        </p:txBody>
      </p:sp>
      <p:sp>
        <p:nvSpPr>
          <p:cNvPr id="27" name="Rounded Rectangle 26"/>
          <p:cNvSpPr/>
          <p:nvPr/>
        </p:nvSpPr>
        <p:spPr>
          <a:xfrm>
            <a:off x="717314" y="3275263"/>
            <a:ext cx="334714" cy="14288"/>
          </a:xfrm>
          <a:prstGeom prst="roundRect">
            <a:avLst/>
          </a:prstGeom>
          <a:solidFill>
            <a:srgbClr val="F33447"/>
          </a:solidFill>
          <a:ln>
            <a:noFill/>
          </a:ln>
          <a:effectLst/>
        </p:spPr>
        <p:txBody>
          <a:bodyPr rtlCol="0" anchor="ctr"/>
          <a:lstStyle/>
          <a:p>
            <a:pPr algn="ctr"/>
          </a:p>
        </p:txBody>
      </p:sp>
      <p:sp>
        <p:nvSpPr>
          <p:cNvPr id="28" name="TextBox 27"/>
          <p:cNvSpPr txBox="1"/>
          <p:nvPr/>
        </p:nvSpPr>
        <p:spPr>
          <a:xfrm>
            <a:off x="1164059" y="3166944"/>
            <a:ext cx="7400000" cy="220000"/>
          </a:xfrm>
          <a:prstGeom prst="rect">
            <a:avLst/>
          </a:prstGeom>
          <a:noFill/>
        </p:spPr>
        <p:txBody>
          <a:bodyPr wrap="square" anchor="t" lIns="0" rIns="0" tIns="0" bIns="0">
            <a:spAutoFit/>
          </a:bodyPr>
          <a:lstStyle/>
          <a:p>
            <a:r>
              <a:rPr sz="1150" b="1">
                <a:solidFill>
                  <a:srgbClr val="1F1E1E"/>
                </a:solidFill>
                <a:latin typeface="Helvetica"/>
              </a:rPr>
              <a:t>Compartir resultados: Live Artifacts</a:t>
            </a:r>
          </a:p>
        </p:txBody>
      </p:sp>
      <p:sp>
        <p:nvSpPr>
          <p:cNvPr id="29" name="TextBox 28"/>
          <p:cNvSpPr txBox="1"/>
          <p:nvPr/>
        </p:nvSpPr>
        <p:spPr>
          <a:xfrm>
            <a:off x="1164059" y="3406944"/>
            <a:ext cx="7499300" cy="180000"/>
          </a:xfrm>
          <a:prstGeom prst="rect">
            <a:avLst/>
          </a:prstGeom>
          <a:noFill/>
        </p:spPr>
        <p:txBody>
          <a:bodyPr wrap="square" anchor="t" lIns="0" rIns="0" tIns="0" bIns="0">
            <a:spAutoFit/>
          </a:bodyPr>
          <a:lstStyle/>
          <a:p>
            <a:r>
              <a:rPr sz="850">
                <a:solidFill>
                  <a:srgbClr val="3B3535"/>
                </a:solidFill>
                <a:latin typeface="Helvetica"/>
              </a:rPr>
              <a:t>Live Artifacts: compartir el resultado</a:t>
            </a:r>
          </a:p>
        </p:txBody>
      </p:sp>
      <p:sp>
        <p:nvSpPr>
          <p:cNvPr id="30" name="Rounded Rectangle 29"/>
          <p:cNvSpPr/>
          <p:nvPr/>
        </p:nvSpPr>
        <p:spPr>
          <a:xfrm>
            <a:off x="480603" y="3697637"/>
            <a:ext cx="250999" cy="250999"/>
          </a:xfrm>
          <a:prstGeom prst="roundRect">
            <a:avLst/>
          </a:prstGeom>
          <a:solidFill>
            <a:srgbClr val="F2EEEE"/>
          </a:solidFill>
          <a:ln>
            <a:noFill/>
          </a:ln>
          <a:effectLst/>
        </p:spPr>
        <p:txBody>
          <a:bodyPr rtlCol="0" anchor="ctr"/>
          <a:lstStyle/>
          <a:p>
            <a:pPr algn="ctr"/>
          </a:p>
        </p:txBody>
      </p:sp>
      <p:sp>
        <p:nvSpPr>
          <p:cNvPr id="31" name="TextBox 30"/>
          <p:cNvSpPr txBox="1"/>
          <p:nvPr/>
        </p:nvSpPr>
        <p:spPr>
          <a:xfrm>
            <a:off x="522387" y="3718510"/>
            <a:ext cx="167357" cy="209178"/>
          </a:xfrm>
          <a:prstGeom prst="rect">
            <a:avLst/>
          </a:prstGeom>
          <a:noFill/>
        </p:spPr>
        <p:txBody>
          <a:bodyPr wrap="none" anchor="ctr" lIns="0" rIns="0" tIns="0" bIns="0">
            <a:spAutoFit/>
          </a:bodyPr>
          <a:lstStyle/>
          <a:p>
            <a:pPr algn="ctr"/>
            <a:r>
              <a:rPr sz="1300" b="1">
                <a:solidFill>
                  <a:srgbClr val="3B3535"/>
                </a:solidFill>
                <a:latin typeface="Helvetica"/>
              </a:rPr>
              <a:t>6</a:t>
            </a:r>
          </a:p>
        </p:txBody>
      </p:sp>
      <p:sp>
        <p:nvSpPr>
          <p:cNvPr id="32" name="Rounded Rectangle 31"/>
          <p:cNvSpPr/>
          <p:nvPr/>
        </p:nvSpPr>
        <p:spPr>
          <a:xfrm>
            <a:off x="717314" y="3815956"/>
            <a:ext cx="334714" cy="14288"/>
          </a:xfrm>
          <a:prstGeom prst="roundRect">
            <a:avLst/>
          </a:prstGeom>
          <a:solidFill>
            <a:srgbClr val="D8D4D4"/>
          </a:solidFill>
          <a:ln>
            <a:noFill/>
          </a:ln>
          <a:effectLst/>
        </p:spPr>
        <p:txBody>
          <a:bodyPr rtlCol="0" anchor="ctr"/>
          <a:lstStyle/>
          <a:p>
            <a:pPr algn="ctr"/>
          </a:p>
        </p:txBody>
      </p:sp>
      <p:sp>
        <p:nvSpPr>
          <p:cNvPr id="33" name="TextBox 32"/>
          <p:cNvSpPr txBox="1"/>
          <p:nvPr/>
        </p:nvSpPr>
        <p:spPr>
          <a:xfrm>
            <a:off x="1164059" y="3707637"/>
            <a:ext cx="7400000" cy="220000"/>
          </a:xfrm>
          <a:prstGeom prst="rect">
            <a:avLst/>
          </a:prstGeom>
          <a:noFill/>
        </p:spPr>
        <p:txBody>
          <a:bodyPr wrap="square" anchor="t" lIns="0" rIns="0" tIns="0" bIns="0">
            <a:spAutoFit/>
          </a:bodyPr>
          <a:lstStyle/>
          <a:p>
            <a:r>
              <a:rPr sz="1150" b="1">
                <a:solidFill>
                  <a:srgbClr val="3B3535"/>
                </a:solidFill>
                <a:latin typeface="Helvetica"/>
              </a:rPr>
              <a:t>Advanced: Subagentes y Plugins</a:t>
            </a:r>
          </a:p>
        </p:txBody>
      </p:sp>
      <p:sp>
        <p:nvSpPr>
          <p:cNvPr id="34" name="TextBox 33"/>
          <p:cNvSpPr txBox="1"/>
          <p:nvPr/>
        </p:nvSpPr>
        <p:spPr>
          <a:xfrm>
            <a:off x="1164059" y="3947637"/>
            <a:ext cx="7499300" cy="180000"/>
          </a:xfrm>
          <a:prstGeom prst="rect">
            <a:avLst/>
          </a:prstGeom>
          <a:noFill/>
        </p:spPr>
        <p:txBody>
          <a:bodyPr wrap="square" anchor="t" lIns="0" rIns="0" tIns="0" bIns="0">
            <a:spAutoFit/>
          </a:bodyPr>
          <a:lstStyle/>
          <a:p>
            <a:r>
              <a:rPr sz="850">
                <a:solidFill>
                  <a:srgbClr val="3B3535"/>
                </a:solidFill>
                <a:latin typeface="Helvetica"/>
              </a:rPr>
              <a:t>Subagentes y Plugins</a:t>
            </a:r>
          </a:p>
        </p:txBody>
      </p:sp>
      <p:sp>
        <p:nvSpPr>
          <p:cNvPr id="35" name="Rounded Rectangle 34"/>
          <p:cNvSpPr/>
          <p:nvPr/>
        </p:nvSpPr>
        <p:spPr>
          <a:xfrm>
            <a:off x="480603" y="4238330"/>
            <a:ext cx="250999" cy="250999"/>
          </a:xfrm>
          <a:prstGeom prst="roundRect">
            <a:avLst/>
          </a:prstGeom>
          <a:solidFill>
            <a:srgbClr val="F2EEEE"/>
          </a:solidFill>
          <a:ln>
            <a:noFill/>
          </a:ln>
          <a:effectLst/>
        </p:spPr>
        <p:txBody>
          <a:bodyPr rtlCol="0" anchor="ctr"/>
          <a:lstStyle/>
          <a:p>
            <a:pPr algn="ctr"/>
          </a:p>
        </p:txBody>
      </p:sp>
      <p:sp>
        <p:nvSpPr>
          <p:cNvPr id="36" name="TextBox 35"/>
          <p:cNvSpPr txBox="1"/>
          <p:nvPr/>
        </p:nvSpPr>
        <p:spPr>
          <a:xfrm>
            <a:off x="522387" y="4259203"/>
            <a:ext cx="167357" cy="209178"/>
          </a:xfrm>
          <a:prstGeom prst="rect">
            <a:avLst/>
          </a:prstGeom>
          <a:noFill/>
        </p:spPr>
        <p:txBody>
          <a:bodyPr wrap="none" anchor="ctr" lIns="0" rIns="0" tIns="0" bIns="0">
            <a:spAutoFit/>
          </a:bodyPr>
          <a:lstStyle/>
          <a:p>
            <a:pPr algn="ctr"/>
            <a:r>
              <a:rPr sz="1300" b="1">
                <a:solidFill>
                  <a:srgbClr val="3B3535"/>
                </a:solidFill>
                <a:latin typeface="Helvetica"/>
              </a:rPr>
              <a:t>7</a:t>
            </a:r>
          </a:p>
        </p:txBody>
      </p:sp>
      <p:sp>
        <p:nvSpPr>
          <p:cNvPr id="37" name="Rounded Rectangle 36"/>
          <p:cNvSpPr/>
          <p:nvPr/>
        </p:nvSpPr>
        <p:spPr>
          <a:xfrm>
            <a:off x="717314" y="4356649"/>
            <a:ext cx="334714" cy="14288"/>
          </a:xfrm>
          <a:prstGeom prst="roundRect">
            <a:avLst/>
          </a:prstGeom>
          <a:solidFill>
            <a:srgbClr val="D8D4D4"/>
          </a:solidFill>
          <a:ln>
            <a:noFill/>
          </a:ln>
          <a:effectLst/>
        </p:spPr>
        <p:txBody>
          <a:bodyPr rtlCol="0" anchor="ctr"/>
          <a:lstStyle/>
          <a:p>
            <a:pPr algn="ctr"/>
          </a:p>
        </p:txBody>
      </p:sp>
      <p:sp>
        <p:nvSpPr>
          <p:cNvPr id="38" name="TextBox 37"/>
          <p:cNvSpPr txBox="1"/>
          <p:nvPr/>
        </p:nvSpPr>
        <p:spPr>
          <a:xfrm>
            <a:off x="1164059" y="4248330"/>
            <a:ext cx="7400000" cy="220000"/>
          </a:xfrm>
          <a:prstGeom prst="rect">
            <a:avLst/>
          </a:prstGeom>
          <a:noFill/>
        </p:spPr>
        <p:txBody>
          <a:bodyPr wrap="square" anchor="t" lIns="0" rIns="0" tIns="0" bIns="0">
            <a:spAutoFit/>
          </a:bodyPr>
          <a:lstStyle/>
          <a:p>
            <a:r>
              <a:rPr sz="1150" b="1">
                <a:solidFill>
                  <a:srgbClr val="3B3535"/>
                </a:solidFill>
                <a:latin typeface="Helvetica"/>
              </a:rPr>
              <a:t>Conclusions</a:t>
            </a:r>
          </a:p>
        </p:txBody>
      </p:sp>
      <p:sp>
        <p:nvSpPr>
          <p:cNvPr id="39" name="TextBox 38"/>
          <p:cNvSpPr txBox="1"/>
          <p:nvPr/>
        </p:nvSpPr>
        <p:spPr>
          <a:xfrm>
            <a:off x="1164059" y="4488330"/>
            <a:ext cx="7499300" cy="180000"/>
          </a:xfrm>
          <a:prstGeom prst="rect">
            <a:avLst/>
          </a:prstGeom>
          <a:noFill/>
        </p:spPr>
        <p:txBody>
          <a:bodyPr wrap="square" anchor="t" lIns="0" rIns="0" tIns="0" bIns="0">
            <a:spAutoFit/>
          </a:bodyPr>
          <a:lstStyle/>
          <a:p>
            <a:r>
              <a:rPr sz="850">
                <a:solidFill>
                  <a:srgbClr val="3B3535"/>
                </a:solidFill>
                <a:latin typeface="Helvetica"/>
              </a:rPr>
              <a:t>El loop completo y la gobernanza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609344"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COMPARTIR RESULTADOS</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1800" b="1">
                <a:solidFill>
                  <a:srgbClr val="1F1E1E"/>
                </a:solidFill>
                <a:latin typeface="Helvetica"/>
              </a:rPr>
              <a:t>Artifacts y Live Artifacts: del resultado a algo compartible</a:t>
            </a:r>
          </a:p>
        </p:txBody>
      </p:sp>
      <p:sp>
        <p:nvSpPr>
          <p:cNvPr id="5" name="TextBox 4"/>
          <p:cNvSpPr txBox="1"/>
          <p:nvPr/>
        </p:nvSpPr>
        <p:spPr>
          <a:xfrm>
            <a:off x="457200" y="1444752"/>
            <a:ext cx="5029200" cy="3470148"/>
          </a:xfrm>
          <a:prstGeom prst="rect">
            <a:avLst/>
          </a:prstGeom>
          <a:noFill/>
        </p:spPr>
        <p:txBody>
          <a:bodyPr wrap="square" anchor="t" lIns="0" rIns="0" tIns="0" bIns="0">
            <a:spAutoFit/>
          </a:bodyPr>
          <a:lstStyle/>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Qué es un Artifact.</a:t>
            </a:r>
            <a:r>
              <a:rPr sz="1000" b="0" i="0">
                <a:solidFill>
                  <a:srgbClr val="3B3535"/>
                </a:solidFill>
                <a:latin typeface="Helvetica"/>
              </a:rPr>
              <a:t> Una salida viva y ejecutable que se renderiza en un panel lateral: componentes React, páginas HTML, gráficos SVG, diagramas, tablas, documentos descargables.</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Distinción live vs no-live (breve).</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Artifact estándar</a:t>
            </a:r>
            <a:r>
              <a:rPr sz="900" b="0" i="0">
                <a:solidFill>
                  <a:srgbClr val="3B3535"/>
                </a:solidFill>
                <a:latin typeface="Helvetica"/>
              </a:rPr>
              <a:t> (todos los planes): salida de un solo archivo, estática — lo que generás es lo que queda.</a:t>
            </a:r>
          </a:p>
          <a:p>
            <a:pPr lvl="1">
              <a:lnSpc>
                <a:spcPct val="103000"/>
              </a:lnSpc>
              <a:spcBef>
                <a:spcPts val="0"/>
              </a:spcBef>
              <a:spcAft>
                <a:spcPts val="300"/>
              </a:spcAft>
            </a:pPr>
            <a:r>
              <a:rPr sz="900">
                <a:solidFill>
                  <a:srgbClr val="6A737D"/>
                </a:solidFill>
                <a:latin typeface="Helvetica"/>
              </a:rPr>
              <a:t>–  </a:t>
            </a:r>
            <a:r>
              <a:rPr sz="900" b="1" i="0">
                <a:solidFill>
                  <a:srgbClr val="1F1E1E"/>
                </a:solidFill>
                <a:latin typeface="Helvetica"/>
              </a:rPr>
              <a:t>Live Artifact</a:t>
            </a:r>
            <a:r>
              <a:rPr sz="900" b="0" i="0">
                <a:solidFill>
                  <a:srgbClr val="3B3535"/>
                </a:solidFill>
                <a:latin typeface="Helvetica"/>
              </a:rPr>
              <a:t> (Cowork, planes pagos): una </a:t>
            </a:r>
            <a:r>
              <a:rPr sz="900" b="1" i="0">
                <a:solidFill>
                  <a:srgbClr val="1F1E1E"/>
                </a:solidFill>
                <a:latin typeface="Helvetica"/>
              </a:rPr>
              <a:t>página HTML interactiva y persistente</a:t>
            </a:r>
            <a:r>
              <a:rPr sz="900" b="0" i="0">
                <a:solidFill>
                  <a:srgbClr val="3B3535"/>
                </a:solidFill>
                <a:latin typeface="Helvetica"/>
              </a:rPr>
              <a:t> que vive en la pestaña </a:t>
            </a:r>
            <a:r>
              <a:rPr sz="900" b="1" i="0">
                <a:solidFill>
                  <a:srgbClr val="1F1E1E"/>
                </a:solidFill>
                <a:latin typeface="Helvetica"/>
              </a:rPr>
              <a:t>"Live artifacts"</a:t>
            </a:r>
            <a:r>
              <a:rPr sz="900" b="0" i="0">
                <a:solidFill>
                  <a:srgbClr val="3B3535"/>
                </a:solidFill>
                <a:latin typeface="Helvetica"/>
              </a:rPr>
              <a:t> de Cowork. </a:t>
            </a:r>
            <a:r>
              <a:rPr sz="900" b="1" i="0">
                <a:solidFill>
                  <a:srgbClr val="1F1E1E"/>
                </a:solidFill>
                <a:latin typeface="Helvetica"/>
              </a:rPr>
              <a:t>Se actualiza con datos actuales</a:t>
            </a:r>
            <a:r>
              <a:rPr sz="900" b="0" i="0">
                <a:solidFill>
                  <a:srgbClr val="3B3535"/>
                </a:solidFill>
                <a:latin typeface="Helvetica"/>
              </a:rPr>
              <a:t> de tus apps conectadas cada vez que la abrís, y </a:t>
            </a:r>
            <a:r>
              <a:rPr sz="900" b="1" i="0">
                <a:solidFill>
                  <a:srgbClr val="1F1E1E"/>
                </a:solidFill>
                <a:latin typeface="Helvetica"/>
              </a:rPr>
              <a:t>guarda historial de versiones</a:t>
            </a:r>
            <a:r>
              <a:rPr sz="900" b="0" i="0">
                <a:solidFill>
                  <a:srgbClr val="3B3535"/>
                </a:solidFill>
                <a:latin typeface="Helvetica"/>
              </a:rPr>
              <a:t>.</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Cómo se crea.</a:t>
            </a:r>
            <a:r>
              <a:rPr sz="1000" b="0" i="0">
                <a:solidFill>
                  <a:srgbClr val="3B3535"/>
                </a:solidFill>
                <a:latin typeface="Helvetica"/>
              </a:rPr>
              <a:t> Dos formas: (1) </a:t>
            </a:r>
            <a:r>
              <a:rPr sz="1000" b="1" i="0">
                <a:solidFill>
                  <a:srgbClr val="1F1E1E"/>
                </a:solidFill>
                <a:latin typeface="Helvetica"/>
              </a:rPr>
              <a:t>desde una tarea de Cowork</a:t>
            </a:r>
            <a:r>
              <a:rPr sz="1000" b="0" i="0">
                <a:solidFill>
                  <a:srgbClr val="3B3535"/>
                </a:solidFill>
                <a:latin typeface="Helvetica"/>
              </a:rPr>
              <a:t> (le pedís que el resultado sea un Live Artifact), o (2) desde la pestaña </a:t>
            </a:r>
            <a:r>
              <a:rPr sz="1000" b="1" i="0">
                <a:solidFill>
                  <a:srgbClr val="1F1E1E"/>
                </a:solidFill>
                <a:latin typeface="Helvetica"/>
              </a:rPr>
              <a:t>Live artifacts New artifact Chat with Claude</a:t>
            </a:r>
            <a:r>
              <a:rPr sz="1000" b="0" i="0">
                <a:solidFill>
                  <a:srgbClr val="3B3535"/>
                </a:solidFill>
                <a:latin typeface="Helvetica"/>
              </a:rPr>
              <a:t>.</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Estado actual del compartir — leer con cuidado.</a:t>
            </a:r>
            <a:r>
              <a:rPr sz="1000" b="0" i="0">
                <a:solidFill>
                  <a:srgbClr val="3B3535"/>
                </a:solidFill>
                <a:latin typeface="Helvetica"/>
              </a:rPr>
              <a:t> Los Live Artifacts </a:t>
            </a:r>
            <a:r>
              <a:rPr sz="1000" b="1" i="0">
                <a:solidFill>
                  <a:srgbClr val="1F1E1E"/>
                </a:solidFill>
                <a:latin typeface="Helvetica"/>
              </a:rPr>
              <a:t>todavía NO son compartibles</a:t>
            </a:r>
            <a:r>
              <a:rPr sz="1000" b="0" i="0">
                <a:solidFill>
                  <a:srgbClr val="3B3535"/>
                </a:solidFill>
                <a:latin typeface="Helvetica"/>
              </a:rPr>
              <a:t>: en el lanzamiento son </a:t>
            </a:r>
            <a:r>
              <a:rPr sz="1000" b="1" i="0">
                <a:solidFill>
                  <a:srgbClr val="1F1E1E"/>
                </a:solidFill>
                <a:latin typeface="Helvetica"/>
              </a:rPr>
              <a:t>para tu propio uso</a:t>
            </a:r>
            <a:r>
              <a:rPr sz="1000" b="0" i="0">
                <a:solidFill>
                  <a:srgbClr val="3B3535"/>
                </a:solidFill>
                <a:latin typeface="Helvetica"/>
              </a:rPr>
              <a:t>; compartir está en el roadmap. Además son </a:t>
            </a:r>
            <a:r>
              <a:rPr sz="1000" b="1" i="0">
                <a:solidFill>
                  <a:srgbClr val="1F1E1E"/>
                </a:solidFill>
                <a:latin typeface="Helvetica"/>
              </a:rPr>
              <a:t>locales, no en la nube</a:t>
            </a:r>
            <a:r>
              <a:rPr sz="1000" b="0" i="0">
                <a:solidFill>
                  <a:srgbClr val="3B3535"/>
                </a:solidFill>
                <a:latin typeface="Helvetica"/>
              </a:rPr>
              <a:t>: viven en tu computadora y no te siguen entre dispositivos. Y </a:t>
            </a:r>
            <a:r>
              <a:rPr sz="1000" b="1" i="0">
                <a:solidFill>
                  <a:srgbClr val="1F1E1E"/>
                </a:solidFill>
                <a:latin typeface="Helvetica"/>
              </a:rPr>
              <a:t>usan tus connectors sin volver a pedirte permiso</a:t>
            </a:r>
            <a:r>
              <a:rPr sz="1000" b="0" i="0">
                <a:solidFill>
                  <a:srgbClr val="3B3535"/>
                </a:solidFill>
                <a:latin typeface="Helvetica"/>
              </a:rPr>
              <a:t> — solo los que aprobaste al crear/actualizar el artifact.</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Ejemplo (Atlas).</a:t>
            </a:r>
            <a:r>
              <a:rPr sz="1000" b="0" i="0">
                <a:solidFill>
                  <a:srgbClr val="3B3535"/>
                </a:solidFill>
                <a:latin typeface="Helvetica"/>
              </a:rPr>
              <a:t> El tablero </a:t>
            </a:r>
            <a:r>
              <a:rPr sz="1000" b="0" i="0">
                <a:solidFill>
                  <a:srgbClr val="000000"/>
                </a:solidFill>
                <a:latin typeface="Courier New"/>
              </a:rPr>
              <a:t>pulso-semanal-FECHA</a:t>
            </a:r>
            <a:r>
              <a:rPr sz="1000" b="0" i="0">
                <a:solidFill>
                  <a:srgbClr val="3B3535"/>
                </a:solidFill>
                <a:latin typeface="Helvetica"/>
              </a:rPr>
              <a:t>: un Live Artifact nuevo por semana (queda un historial de versiones), con tarjetas por empresa, tabla resumen y un chip "LIVE", refrescado con los datos de la semana. Diseño basado en el boceto del jefe:</a:t>
            </a:r>
          </a:p>
        </p:txBody>
      </p:sp>
      <p:sp>
        <p:nvSpPr>
          <p:cNvPr id="6" name="Rounded Rectangle 5"/>
          <p:cNvSpPr/>
          <p:nvPr/>
        </p:nvSpPr>
        <p:spPr>
          <a:xfrm>
            <a:off x="5623560" y="2154617"/>
            <a:ext cx="3108960" cy="2050417"/>
          </a:xfrm>
          <a:prstGeom prst="roundRect">
            <a:avLst/>
          </a:prstGeom>
          <a:solidFill>
            <a:srgbClr val="F2EEEE"/>
          </a:solidFill>
          <a:ln>
            <a:noFill/>
          </a:ln>
          <a:effectLst/>
        </p:spPr>
        <p:txBody>
          <a:bodyPr rtlCol="0" anchor="ctr"/>
          <a:lstStyle/>
          <a:p>
            <a:pPr algn="ctr"/>
          </a:p>
        </p:txBody>
      </p:sp>
      <p:pic>
        <p:nvPicPr>
          <p:cNvPr id="7" name="Picture 6" descr="mockup-tablero.png"/>
          <p:cNvPicPr>
            <a:picLocks noChangeAspect="1"/>
          </p:cNvPicPr>
          <p:nvPr/>
        </p:nvPicPr>
        <p:blipFill>
          <a:blip r:embed="rId2"/>
          <a:stretch>
            <a:fillRect/>
          </a:stretch>
        </p:blipFill>
        <p:spPr>
          <a:xfrm>
            <a:off x="5669280" y="2200337"/>
            <a:ext cx="3017520" cy="195897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TextBox 2"/>
          <p:cNvSpPr txBox="1"/>
          <p:nvPr/>
        </p:nvSpPr>
        <p:spPr>
          <a:xfrm>
            <a:off x="480974" y="504748"/>
            <a:ext cx="3246120" cy="365760"/>
          </a:xfrm>
          <a:prstGeom prst="rect">
            <a:avLst/>
          </a:prstGeom>
          <a:noFill/>
        </p:spPr>
        <p:txBody>
          <a:bodyPr wrap="square" anchor="t" lIns="0" rIns="0" tIns="0" bIns="0">
            <a:spAutoFit/>
          </a:bodyPr>
          <a:lstStyle/>
          <a:p>
            <a:r>
              <a:rPr sz="2150" b="1">
                <a:solidFill>
                  <a:srgbClr val="1F1E1E"/>
                </a:solidFill>
                <a:latin typeface="Helvetica"/>
              </a:rPr>
              <a:t>Agenda</a:t>
            </a:r>
          </a:p>
        </p:txBody>
      </p:sp>
      <p:sp>
        <p:nvSpPr>
          <p:cNvPr id="4" name="Rounded Rectangle 3"/>
          <p:cNvSpPr/>
          <p:nvPr/>
        </p:nvSpPr>
        <p:spPr>
          <a:xfrm>
            <a:off x="606103" y="994172"/>
            <a:ext cx="14288" cy="3644354"/>
          </a:xfrm>
          <a:prstGeom prst="roundRect">
            <a:avLst/>
          </a:prstGeom>
          <a:solidFill>
            <a:srgbClr val="D8D4D4"/>
          </a:solidFill>
          <a:ln>
            <a:noFill/>
          </a:ln>
          <a:effectLst/>
        </p:spPr>
        <p:txBody>
          <a:bodyPr rtlCol="0" anchor="ctr"/>
          <a:lstStyle/>
          <a:p>
            <a:pPr algn="ctr"/>
          </a:p>
        </p:txBody>
      </p:sp>
      <p:sp>
        <p:nvSpPr>
          <p:cNvPr id="5" name="Rounded Rectangle 4"/>
          <p:cNvSpPr/>
          <p:nvPr/>
        </p:nvSpPr>
        <p:spPr>
          <a:xfrm>
            <a:off x="480603" y="994172"/>
            <a:ext cx="250999" cy="250999"/>
          </a:xfrm>
          <a:prstGeom prst="roundRect">
            <a:avLst/>
          </a:prstGeom>
          <a:solidFill>
            <a:srgbClr val="F2EEEE"/>
          </a:solidFill>
          <a:ln>
            <a:noFill/>
          </a:ln>
          <a:effectLst/>
        </p:spPr>
        <p:txBody>
          <a:bodyPr rtlCol="0" anchor="ctr"/>
          <a:lstStyle/>
          <a:p>
            <a:pPr algn="ctr"/>
          </a:p>
        </p:txBody>
      </p:sp>
      <p:sp>
        <p:nvSpPr>
          <p:cNvPr id="6" name="TextBox 5"/>
          <p:cNvSpPr txBox="1"/>
          <p:nvPr/>
        </p:nvSpPr>
        <p:spPr>
          <a:xfrm>
            <a:off x="522387" y="1015045"/>
            <a:ext cx="167357" cy="209178"/>
          </a:xfrm>
          <a:prstGeom prst="rect">
            <a:avLst/>
          </a:prstGeom>
          <a:noFill/>
        </p:spPr>
        <p:txBody>
          <a:bodyPr wrap="none" anchor="ctr" lIns="0" rIns="0" tIns="0" bIns="0">
            <a:spAutoFit/>
          </a:bodyPr>
          <a:lstStyle/>
          <a:p>
            <a:pPr algn="ctr"/>
            <a:r>
              <a:rPr sz="1300" b="1">
                <a:solidFill>
                  <a:srgbClr val="3B3535"/>
                </a:solidFill>
                <a:latin typeface="Helvetica"/>
              </a:rPr>
              <a:t>1</a:t>
            </a:r>
          </a:p>
        </p:txBody>
      </p:sp>
      <p:sp>
        <p:nvSpPr>
          <p:cNvPr id="7" name="Rounded Rectangle 6"/>
          <p:cNvSpPr/>
          <p:nvPr/>
        </p:nvSpPr>
        <p:spPr>
          <a:xfrm>
            <a:off x="717314" y="1112491"/>
            <a:ext cx="334714" cy="14288"/>
          </a:xfrm>
          <a:prstGeom prst="roundRect">
            <a:avLst/>
          </a:prstGeom>
          <a:solidFill>
            <a:srgbClr val="D8D4D4"/>
          </a:solidFill>
          <a:ln>
            <a:noFill/>
          </a:ln>
          <a:effectLst/>
        </p:spPr>
        <p:txBody>
          <a:bodyPr rtlCol="0" anchor="ctr"/>
          <a:lstStyle/>
          <a:p>
            <a:pPr algn="ctr"/>
          </a:p>
        </p:txBody>
      </p:sp>
      <p:sp>
        <p:nvSpPr>
          <p:cNvPr id="8" name="TextBox 7"/>
          <p:cNvSpPr txBox="1"/>
          <p:nvPr/>
        </p:nvSpPr>
        <p:spPr>
          <a:xfrm>
            <a:off x="1164059" y="1004172"/>
            <a:ext cx="7400000" cy="220000"/>
          </a:xfrm>
          <a:prstGeom prst="rect">
            <a:avLst/>
          </a:prstGeom>
          <a:noFill/>
        </p:spPr>
        <p:txBody>
          <a:bodyPr wrap="square" anchor="t" lIns="0" rIns="0" tIns="0" bIns="0">
            <a:spAutoFit/>
          </a:bodyPr>
          <a:lstStyle/>
          <a:p>
            <a:r>
              <a:rPr sz="1150" b="1">
                <a:solidFill>
                  <a:srgbClr val="3B3535"/>
                </a:solidFill>
                <a:latin typeface="Helvetica"/>
              </a:rPr>
              <a:t>De chat a agente: dónde encaja Cowork</a:t>
            </a:r>
          </a:p>
        </p:txBody>
      </p:sp>
      <p:sp>
        <p:nvSpPr>
          <p:cNvPr id="9" name="TextBox 8"/>
          <p:cNvSpPr txBox="1"/>
          <p:nvPr/>
        </p:nvSpPr>
        <p:spPr>
          <a:xfrm>
            <a:off x="1164059" y="1244172"/>
            <a:ext cx="7499300" cy="180000"/>
          </a:xfrm>
          <a:prstGeom prst="rect">
            <a:avLst/>
          </a:prstGeom>
          <a:noFill/>
        </p:spPr>
        <p:txBody>
          <a:bodyPr wrap="square" anchor="t" lIns="0" rIns="0" tIns="0" bIns="0">
            <a:spAutoFit/>
          </a:bodyPr>
          <a:lstStyle/>
          <a:p>
            <a:r>
              <a:rPr sz="850">
                <a:solidFill>
                  <a:srgbClr val="3B3535"/>
                </a:solidFill>
                <a:latin typeface="Helvetica"/>
              </a:rPr>
              <a:t>De chatear a delegar: dónde vive Cowork</a:t>
            </a:r>
          </a:p>
        </p:txBody>
      </p:sp>
      <p:sp>
        <p:nvSpPr>
          <p:cNvPr id="10" name="Rounded Rectangle 9"/>
          <p:cNvSpPr/>
          <p:nvPr/>
        </p:nvSpPr>
        <p:spPr>
          <a:xfrm>
            <a:off x="480603" y="1534865"/>
            <a:ext cx="250999" cy="250999"/>
          </a:xfrm>
          <a:prstGeom prst="roundRect">
            <a:avLst/>
          </a:prstGeom>
          <a:solidFill>
            <a:srgbClr val="F2EEEE"/>
          </a:solidFill>
          <a:ln>
            <a:noFill/>
          </a:ln>
          <a:effectLst/>
        </p:spPr>
        <p:txBody>
          <a:bodyPr rtlCol="0" anchor="ctr"/>
          <a:lstStyle/>
          <a:p>
            <a:pPr algn="ctr"/>
          </a:p>
        </p:txBody>
      </p:sp>
      <p:sp>
        <p:nvSpPr>
          <p:cNvPr id="11" name="TextBox 10"/>
          <p:cNvSpPr txBox="1"/>
          <p:nvPr/>
        </p:nvSpPr>
        <p:spPr>
          <a:xfrm>
            <a:off x="522387" y="1555738"/>
            <a:ext cx="167357" cy="209178"/>
          </a:xfrm>
          <a:prstGeom prst="rect">
            <a:avLst/>
          </a:prstGeom>
          <a:noFill/>
        </p:spPr>
        <p:txBody>
          <a:bodyPr wrap="none" anchor="ctr" lIns="0" rIns="0" tIns="0" bIns="0">
            <a:spAutoFit/>
          </a:bodyPr>
          <a:lstStyle/>
          <a:p>
            <a:pPr algn="ctr"/>
            <a:r>
              <a:rPr sz="1300" b="1">
                <a:solidFill>
                  <a:srgbClr val="3B3535"/>
                </a:solidFill>
                <a:latin typeface="Helvetica"/>
              </a:rPr>
              <a:t>2</a:t>
            </a:r>
          </a:p>
        </p:txBody>
      </p:sp>
      <p:sp>
        <p:nvSpPr>
          <p:cNvPr id="12" name="Rounded Rectangle 11"/>
          <p:cNvSpPr/>
          <p:nvPr/>
        </p:nvSpPr>
        <p:spPr>
          <a:xfrm>
            <a:off x="717314" y="1653184"/>
            <a:ext cx="334714" cy="14288"/>
          </a:xfrm>
          <a:prstGeom prst="roundRect">
            <a:avLst/>
          </a:prstGeom>
          <a:solidFill>
            <a:srgbClr val="D8D4D4"/>
          </a:solidFill>
          <a:ln>
            <a:noFill/>
          </a:ln>
          <a:effectLst/>
        </p:spPr>
        <p:txBody>
          <a:bodyPr rtlCol="0" anchor="ctr"/>
          <a:lstStyle/>
          <a:p>
            <a:pPr algn="ctr"/>
          </a:p>
        </p:txBody>
      </p:sp>
      <p:sp>
        <p:nvSpPr>
          <p:cNvPr id="13" name="TextBox 12"/>
          <p:cNvSpPr txBox="1"/>
          <p:nvPr/>
        </p:nvSpPr>
        <p:spPr>
          <a:xfrm>
            <a:off x="1164059" y="1544865"/>
            <a:ext cx="7400000" cy="220000"/>
          </a:xfrm>
          <a:prstGeom prst="rect">
            <a:avLst/>
          </a:prstGeom>
          <a:noFill/>
        </p:spPr>
        <p:txBody>
          <a:bodyPr wrap="square" anchor="t" lIns="0" rIns="0" tIns="0" bIns="0">
            <a:spAutoFit/>
          </a:bodyPr>
          <a:lstStyle/>
          <a:p>
            <a:r>
              <a:rPr sz="1150" b="1">
                <a:solidFill>
                  <a:srgbClr val="3B3535"/>
                </a:solidFill>
                <a:latin typeface="Helvetica"/>
              </a:rPr>
              <a:t>Lo básico: interfaz, Instrucciones y Projects</a:t>
            </a:r>
          </a:p>
        </p:txBody>
      </p:sp>
      <p:sp>
        <p:nvSpPr>
          <p:cNvPr id="14" name="TextBox 13"/>
          <p:cNvSpPr txBox="1"/>
          <p:nvPr/>
        </p:nvSpPr>
        <p:spPr>
          <a:xfrm>
            <a:off x="1164059" y="1784865"/>
            <a:ext cx="7499300" cy="180000"/>
          </a:xfrm>
          <a:prstGeom prst="rect">
            <a:avLst/>
          </a:prstGeom>
          <a:noFill/>
        </p:spPr>
        <p:txBody>
          <a:bodyPr wrap="square" anchor="t" lIns="0" rIns="0" tIns="0" bIns="0">
            <a:spAutoFit/>
          </a:bodyPr>
          <a:lstStyle/>
          <a:p>
            <a:r>
              <a:rPr sz="850">
                <a:solidFill>
                  <a:srgbClr val="3B3535"/>
                </a:solidFill>
                <a:latin typeface="Helvetica"/>
              </a:rPr>
              <a:t>Interfaz, Instrucciones y Projects</a:t>
            </a:r>
          </a:p>
        </p:txBody>
      </p:sp>
      <p:sp>
        <p:nvSpPr>
          <p:cNvPr id="15" name="Rounded Rectangle 14"/>
          <p:cNvSpPr/>
          <p:nvPr/>
        </p:nvSpPr>
        <p:spPr>
          <a:xfrm>
            <a:off x="480603" y="2075558"/>
            <a:ext cx="250999" cy="250999"/>
          </a:xfrm>
          <a:prstGeom prst="roundRect">
            <a:avLst/>
          </a:prstGeom>
          <a:solidFill>
            <a:srgbClr val="F2EEEE"/>
          </a:solidFill>
          <a:ln>
            <a:noFill/>
          </a:ln>
          <a:effectLst/>
        </p:spPr>
        <p:txBody>
          <a:bodyPr rtlCol="0" anchor="ctr"/>
          <a:lstStyle/>
          <a:p>
            <a:pPr algn="ctr"/>
          </a:p>
        </p:txBody>
      </p:sp>
      <p:sp>
        <p:nvSpPr>
          <p:cNvPr id="16" name="TextBox 15"/>
          <p:cNvSpPr txBox="1"/>
          <p:nvPr/>
        </p:nvSpPr>
        <p:spPr>
          <a:xfrm>
            <a:off x="522387" y="2096431"/>
            <a:ext cx="167357" cy="209178"/>
          </a:xfrm>
          <a:prstGeom prst="rect">
            <a:avLst/>
          </a:prstGeom>
          <a:noFill/>
        </p:spPr>
        <p:txBody>
          <a:bodyPr wrap="none" anchor="ctr" lIns="0" rIns="0" tIns="0" bIns="0">
            <a:spAutoFit/>
          </a:bodyPr>
          <a:lstStyle/>
          <a:p>
            <a:pPr algn="ctr"/>
            <a:r>
              <a:rPr sz="1300" b="1">
                <a:solidFill>
                  <a:srgbClr val="3B3535"/>
                </a:solidFill>
                <a:latin typeface="Helvetica"/>
              </a:rPr>
              <a:t>3</a:t>
            </a:r>
          </a:p>
        </p:txBody>
      </p:sp>
      <p:sp>
        <p:nvSpPr>
          <p:cNvPr id="17" name="Rounded Rectangle 16"/>
          <p:cNvSpPr/>
          <p:nvPr/>
        </p:nvSpPr>
        <p:spPr>
          <a:xfrm>
            <a:off x="717314" y="2193877"/>
            <a:ext cx="334714" cy="14288"/>
          </a:xfrm>
          <a:prstGeom prst="roundRect">
            <a:avLst/>
          </a:prstGeom>
          <a:solidFill>
            <a:srgbClr val="D8D4D4"/>
          </a:solidFill>
          <a:ln>
            <a:noFill/>
          </a:ln>
          <a:effectLst/>
        </p:spPr>
        <p:txBody>
          <a:bodyPr rtlCol="0" anchor="ctr"/>
          <a:lstStyle/>
          <a:p>
            <a:pPr algn="ctr"/>
          </a:p>
        </p:txBody>
      </p:sp>
      <p:sp>
        <p:nvSpPr>
          <p:cNvPr id="18" name="TextBox 17"/>
          <p:cNvSpPr txBox="1"/>
          <p:nvPr/>
        </p:nvSpPr>
        <p:spPr>
          <a:xfrm>
            <a:off x="1164059" y="2085558"/>
            <a:ext cx="7400000" cy="220000"/>
          </a:xfrm>
          <a:prstGeom prst="rect">
            <a:avLst/>
          </a:prstGeom>
          <a:noFill/>
        </p:spPr>
        <p:txBody>
          <a:bodyPr wrap="square" anchor="t" lIns="0" rIns="0" tIns="0" bIns="0">
            <a:spAutoFit/>
          </a:bodyPr>
          <a:lstStyle/>
          <a:p>
            <a:r>
              <a:rPr sz="1150" b="1">
                <a:solidFill>
                  <a:srgbClr val="3B3535"/>
                </a:solidFill>
                <a:latin typeface="Helvetica"/>
              </a:rPr>
              <a:t>Extender Cowork: Skills y el rol de los archivos MD / metadata</a:t>
            </a:r>
          </a:p>
        </p:txBody>
      </p:sp>
      <p:sp>
        <p:nvSpPr>
          <p:cNvPr id="19" name="TextBox 18"/>
          <p:cNvSpPr txBox="1"/>
          <p:nvPr/>
        </p:nvSpPr>
        <p:spPr>
          <a:xfrm>
            <a:off x="1164059" y="2325558"/>
            <a:ext cx="7499300" cy="180000"/>
          </a:xfrm>
          <a:prstGeom prst="rect">
            <a:avLst/>
          </a:prstGeom>
          <a:noFill/>
        </p:spPr>
        <p:txBody>
          <a:bodyPr wrap="square" anchor="t" lIns="0" rIns="0" tIns="0" bIns="0">
            <a:spAutoFit/>
          </a:bodyPr>
          <a:lstStyle/>
          <a:p>
            <a:r>
              <a:rPr sz="850">
                <a:solidFill>
                  <a:srgbClr val="3B3535"/>
                </a:solidFill>
                <a:latin typeface="Helvetica"/>
              </a:rPr>
              <a:t>Skills y los archivos MD / metadata</a:t>
            </a:r>
          </a:p>
        </p:txBody>
      </p:sp>
      <p:sp>
        <p:nvSpPr>
          <p:cNvPr id="20" name="Rounded Rectangle 19"/>
          <p:cNvSpPr/>
          <p:nvPr/>
        </p:nvSpPr>
        <p:spPr>
          <a:xfrm>
            <a:off x="480603" y="2616251"/>
            <a:ext cx="250999" cy="250999"/>
          </a:xfrm>
          <a:prstGeom prst="roundRect">
            <a:avLst/>
          </a:prstGeom>
          <a:solidFill>
            <a:srgbClr val="F2EEEE"/>
          </a:solidFill>
          <a:ln>
            <a:noFill/>
          </a:ln>
          <a:effectLst/>
        </p:spPr>
        <p:txBody>
          <a:bodyPr rtlCol="0" anchor="ctr"/>
          <a:lstStyle/>
          <a:p>
            <a:pPr algn="ctr"/>
          </a:p>
        </p:txBody>
      </p:sp>
      <p:sp>
        <p:nvSpPr>
          <p:cNvPr id="21" name="TextBox 20"/>
          <p:cNvSpPr txBox="1"/>
          <p:nvPr/>
        </p:nvSpPr>
        <p:spPr>
          <a:xfrm>
            <a:off x="522387" y="2637124"/>
            <a:ext cx="167357" cy="209178"/>
          </a:xfrm>
          <a:prstGeom prst="rect">
            <a:avLst/>
          </a:prstGeom>
          <a:noFill/>
        </p:spPr>
        <p:txBody>
          <a:bodyPr wrap="none" anchor="ctr" lIns="0" rIns="0" tIns="0" bIns="0">
            <a:spAutoFit/>
          </a:bodyPr>
          <a:lstStyle/>
          <a:p>
            <a:pPr algn="ctr"/>
            <a:r>
              <a:rPr sz="1300" b="1">
                <a:solidFill>
                  <a:srgbClr val="3B3535"/>
                </a:solidFill>
                <a:latin typeface="Helvetica"/>
              </a:rPr>
              <a:t>4</a:t>
            </a:r>
          </a:p>
        </p:txBody>
      </p:sp>
      <p:sp>
        <p:nvSpPr>
          <p:cNvPr id="22" name="Rounded Rectangle 21"/>
          <p:cNvSpPr/>
          <p:nvPr/>
        </p:nvSpPr>
        <p:spPr>
          <a:xfrm>
            <a:off x="717314" y="2734570"/>
            <a:ext cx="334714" cy="14288"/>
          </a:xfrm>
          <a:prstGeom prst="roundRect">
            <a:avLst/>
          </a:prstGeom>
          <a:solidFill>
            <a:srgbClr val="D8D4D4"/>
          </a:solidFill>
          <a:ln>
            <a:noFill/>
          </a:ln>
          <a:effectLst/>
        </p:spPr>
        <p:txBody>
          <a:bodyPr rtlCol="0" anchor="ctr"/>
          <a:lstStyle/>
          <a:p>
            <a:pPr algn="ctr"/>
          </a:p>
        </p:txBody>
      </p:sp>
      <p:sp>
        <p:nvSpPr>
          <p:cNvPr id="23" name="TextBox 22"/>
          <p:cNvSpPr txBox="1"/>
          <p:nvPr/>
        </p:nvSpPr>
        <p:spPr>
          <a:xfrm>
            <a:off x="1164059" y="2626251"/>
            <a:ext cx="7400000" cy="220000"/>
          </a:xfrm>
          <a:prstGeom prst="rect">
            <a:avLst/>
          </a:prstGeom>
          <a:noFill/>
        </p:spPr>
        <p:txBody>
          <a:bodyPr wrap="square" anchor="t" lIns="0" rIns="0" tIns="0" bIns="0">
            <a:spAutoFit/>
          </a:bodyPr>
          <a:lstStyle/>
          <a:p>
            <a:r>
              <a:rPr sz="1150" b="1">
                <a:solidFill>
                  <a:srgbClr val="3B3535"/>
                </a:solidFill>
                <a:latin typeface="Helvetica"/>
              </a:rPr>
              <a:t>Conectar y automatizar: Connectors/MCP y Schedule</a:t>
            </a:r>
          </a:p>
        </p:txBody>
      </p:sp>
      <p:sp>
        <p:nvSpPr>
          <p:cNvPr id="24" name="TextBox 23"/>
          <p:cNvSpPr txBox="1"/>
          <p:nvPr/>
        </p:nvSpPr>
        <p:spPr>
          <a:xfrm>
            <a:off x="1164059" y="2866251"/>
            <a:ext cx="7499300" cy="180000"/>
          </a:xfrm>
          <a:prstGeom prst="rect">
            <a:avLst/>
          </a:prstGeom>
          <a:noFill/>
        </p:spPr>
        <p:txBody>
          <a:bodyPr wrap="square" anchor="t" lIns="0" rIns="0" tIns="0" bIns="0">
            <a:spAutoFit/>
          </a:bodyPr>
          <a:lstStyle/>
          <a:p>
            <a:r>
              <a:rPr sz="850">
                <a:solidFill>
                  <a:srgbClr val="3B3535"/>
                </a:solidFill>
                <a:latin typeface="Helvetica"/>
              </a:rPr>
              <a:t>Connectors/MCP y Schedule</a:t>
            </a:r>
          </a:p>
        </p:txBody>
      </p:sp>
      <p:sp>
        <p:nvSpPr>
          <p:cNvPr id="25" name="Rounded Rectangle 24"/>
          <p:cNvSpPr/>
          <p:nvPr/>
        </p:nvSpPr>
        <p:spPr>
          <a:xfrm>
            <a:off x="480603" y="3156944"/>
            <a:ext cx="250999" cy="250999"/>
          </a:xfrm>
          <a:prstGeom prst="roundRect">
            <a:avLst/>
          </a:prstGeom>
          <a:solidFill>
            <a:srgbClr val="F2EEEE"/>
          </a:solidFill>
          <a:ln>
            <a:noFill/>
          </a:ln>
          <a:effectLst/>
        </p:spPr>
        <p:txBody>
          <a:bodyPr rtlCol="0" anchor="ctr"/>
          <a:lstStyle/>
          <a:p>
            <a:pPr algn="ctr"/>
          </a:p>
        </p:txBody>
      </p:sp>
      <p:sp>
        <p:nvSpPr>
          <p:cNvPr id="26" name="TextBox 25"/>
          <p:cNvSpPr txBox="1"/>
          <p:nvPr/>
        </p:nvSpPr>
        <p:spPr>
          <a:xfrm>
            <a:off x="522387" y="3177817"/>
            <a:ext cx="167357" cy="209178"/>
          </a:xfrm>
          <a:prstGeom prst="rect">
            <a:avLst/>
          </a:prstGeom>
          <a:noFill/>
        </p:spPr>
        <p:txBody>
          <a:bodyPr wrap="none" anchor="ctr" lIns="0" rIns="0" tIns="0" bIns="0">
            <a:spAutoFit/>
          </a:bodyPr>
          <a:lstStyle/>
          <a:p>
            <a:pPr algn="ctr"/>
            <a:r>
              <a:rPr sz="1300" b="1">
                <a:solidFill>
                  <a:srgbClr val="3B3535"/>
                </a:solidFill>
                <a:latin typeface="Helvetica"/>
              </a:rPr>
              <a:t>5</a:t>
            </a:r>
          </a:p>
        </p:txBody>
      </p:sp>
      <p:sp>
        <p:nvSpPr>
          <p:cNvPr id="27" name="Rounded Rectangle 26"/>
          <p:cNvSpPr/>
          <p:nvPr/>
        </p:nvSpPr>
        <p:spPr>
          <a:xfrm>
            <a:off x="717314" y="3275263"/>
            <a:ext cx="334714" cy="14288"/>
          </a:xfrm>
          <a:prstGeom prst="roundRect">
            <a:avLst/>
          </a:prstGeom>
          <a:solidFill>
            <a:srgbClr val="D8D4D4"/>
          </a:solidFill>
          <a:ln>
            <a:noFill/>
          </a:ln>
          <a:effectLst/>
        </p:spPr>
        <p:txBody>
          <a:bodyPr rtlCol="0" anchor="ctr"/>
          <a:lstStyle/>
          <a:p>
            <a:pPr algn="ctr"/>
          </a:p>
        </p:txBody>
      </p:sp>
      <p:sp>
        <p:nvSpPr>
          <p:cNvPr id="28" name="TextBox 27"/>
          <p:cNvSpPr txBox="1"/>
          <p:nvPr/>
        </p:nvSpPr>
        <p:spPr>
          <a:xfrm>
            <a:off x="1164059" y="3166944"/>
            <a:ext cx="7400000" cy="220000"/>
          </a:xfrm>
          <a:prstGeom prst="rect">
            <a:avLst/>
          </a:prstGeom>
          <a:noFill/>
        </p:spPr>
        <p:txBody>
          <a:bodyPr wrap="square" anchor="t" lIns="0" rIns="0" tIns="0" bIns="0">
            <a:spAutoFit/>
          </a:bodyPr>
          <a:lstStyle/>
          <a:p>
            <a:r>
              <a:rPr sz="1150" b="1">
                <a:solidFill>
                  <a:srgbClr val="3B3535"/>
                </a:solidFill>
                <a:latin typeface="Helvetica"/>
              </a:rPr>
              <a:t>Compartir resultados: Live Artifacts</a:t>
            </a:r>
          </a:p>
        </p:txBody>
      </p:sp>
      <p:sp>
        <p:nvSpPr>
          <p:cNvPr id="29" name="TextBox 28"/>
          <p:cNvSpPr txBox="1"/>
          <p:nvPr/>
        </p:nvSpPr>
        <p:spPr>
          <a:xfrm>
            <a:off x="1164059" y="3406944"/>
            <a:ext cx="7499300" cy="180000"/>
          </a:xfrm>
          <a:prstGeom prst="rect">
            <a:avLst/>
          </a:prstGeom>
          <a:noFill/>
        </p:spPr>
        <p:txBody>
          <a:bodyPr wrap="square" anchor="t" lIns="0" rIns="0" tIns="0" bIns="0">
            <a:spAutoFit/>
          </a:bodyPr>
          <a:lstStyle/>
          <a:p>
            <a:r>
              <a:rPr sz="850">
                <a:solidFill>
                  <a:srgbClr val="3B3535"/>
                </a:solidFill>
                <a:latin typeface="Helvetica"/>
              </a:rPr>
              <a:t>Live Artifacts: compartir el resultado</a:t>
            </a:r>
          </a:p>
        </p:txBody>
      </p:sp>
      <p:sp>
        <p:nvSpPr>
          <p:cNvPr id="30" name="Rounded Rectangle 29"/>
          <p:cNvSpPr/>
          <p:nvPr/>
        </p:nvSpPr>
        <p:spPr>
          <a:xfrm>
            <a:off x="480603" y="3697637"/>
            <a:ext cx="250999" cy="250999"/>
          </a:xfrm>
          <a:prstGeom prst="roundRect">
            <a:avLst/>
          </a:prstGeom>
          <a:solidFill>
            <a:srgbClr val="DA1B2E"/>
          </a:solidFill>
          <a:ln>
            <a:noFill/>
          </a:ln>
          <a:effectLst/>
        </p:spPr>
        <p:txBody>
          <a:bodyPr rtlCol="0" anchor="ctr"/>
          <a:lstStyle/>
          <a:p>
            <a:pPr algn="ctr"/>
          </a:p>
        </p:txBody>
      </p:sp>
      <p:sp>
        <p:nvSpPr>
          <p:cNvPr id="31" name="TextBox 30"/>
          <p:cNvSpPr txBox="1"/>
          <p:nvPr/>
        </p:nvSpPr>
        <p:spPr>
          <a:xfrm>
            <a:off x="522387" y="3718510"/>
            <a:ext cx="167357" cy="209178"/>
          </a:xfrm>
          <a:prstGeom prst="rect">
            <a:avLst/>
          </a:prstGeom>
          <a:noFill/>
        </p:spPr>
        <p:txBody>
          <a:bodyPr wrap="none" anchor="ctr" lIns="0" rIns="0" tIns="0" bIns="0">
            <a:spAutoFit/>
          </a:bodyPr>
          <a:lstStyle/>
          <a:p>
            <a:pPr algn="ctr"/>
            <a:r>
              <a:rPr sz="1300" b="1">
                <a:solidFill>
                  <a:srgbClr val="FFFFFF"/>
                </a:solidFill>
                <a:latin typeface="Helvetica"/>
              </a:rPr>
              <a:t>6</a:t>
            </a:r>
          </a:p>
        </p:txBody>
      </p:sp>
      <p:sp>
        <p:nvSpPr>
          <p:cNvPr id="32" name="Rounded Rectangle 31"/>
          <p:cNvSpPr/>
          <p:nvPr/>
        </p:nvSpPr>
        <p:spPr>
          <a:xfrm>
            <a:off x="717314" y="3815956"/>
            <a:ext cx="334714" cy="14288"/>
          </a:xfrm>
          <a:prstGeom prst="roundRect">
            <a:avLst/>
          </a:prstGeom>
          <a:solidFill>
            <a:srgbClr val="F33447"/>
          </a:solidFill>
          <a:ln>
            <a:noFill/>
          </a:ln>
          <a:effectLst/>
        </p:spPr>
        <p:txBody>
          <a:bodyPr rtlCol="0" anchor="ctr"/>
          <a:lstStyle/>
          <a:p>
            <a:pPr algn="ctr"/>
          </a:p>
        </p:txBody>
      </p:sp>
      <p:sp>
        <p:nvSpPr>
          <p:cNvPr id="33" name="TextBox 32"/>
          <p:cNvSpPr txBox="1"/>
          <p:nvPr/>
        </p:nvSpPr>
        <p:spPr>
          <a:xfrm>
            <a:off x="1164059" y="3707637"/>
            <a:ext cx="7400000" cy="220000"/>
          </a:xfrm>
          <a:prstGeom prst="rect">
            <a:avLst/>
          </a:prstGeom>
          <a:noFill/>
        </p:spPr>
        <p:txBody>
          <a:bodyPr wrap="square" anchor="t" lIns="0" rIns="0" tIns="0" bIns="0">
            <a:spAutoFit/>
          </a:bodyPr>
          <a:lstStyle/>
          <a:p>
            <a:r>
              <a:rPr sz="1150" b="1">
                <a:solidFill>
                  <a:srgbClr val="1F1E1E"/>
                </a:solidFill>
                <a:latin typeface="Helvetica"/>
              </a:rPr>
              <a:t>Advanced: Subagentes y Plugins</a:t>
            </a:r>
          </a:p>
        </p:txBody>
      </p:sp>
      <p:sp>
        <p:nvSpPr>
          <p:cNvPr id="34" name="TextBox 33"/>
          <p:cNvSpPr txBox="1"/>
          <p:nvPr/>
        </p:nvSpPr>
        <p:spPr>
          <a:xfrm>
            <a:off x="1164059" y="3947637"/>
            <a:ext cx="7499300" cy="180000"/>
          </a:xfrm>
          <a:prstGeom prst="rect">
            <a:avLst/>
          </a:prstGeom>
          <a:noFill/>
        </p:spPr>
        <p:txBody>
          <a:bodyPr wrap="square" anchor="t" lIns="0" rIns="0" tIns="0" bIns="0">
            <a:spAutoFit/>
          </a:bodyPr>
          <a:lstStyle/>
          <a:p>
            <a:r>
              <a:rPr sz="850">
                <a:solidFill>
                  <a:srgbClr val="3B3535"/>
                </a:solidFill>
                <a:latin typeface="Helvetica"/>
              </a:rPr>
              <a:t>Subagentes y Plugins</a:t>
            </a:r>
          </a:p>
        </p:txBody>
      </p:sp>
      <p:sp>
        <p:nvSpPr>
          <p:cNvPr id="35" name="Rounded Rectangle 34"/>
          <p:cNvSpPr/>
          <p:nvPr/>
        </p:nvSpPr>
        <p:spPr>
          <a:xfrm>
            <a:off x="480603" y="4238330"/>
            <a:ext cx="250999" cy="250999"/>
          </a:xfrm>
          <a:prstGeom prst="roundRect">
            <a:avLst/>
          </a:prstGeom>
          <a:solidFill>
            <a:srgbClr val="F2EEEE"/>
          </a:solidFill>
          <a:ln>
            <a:noFill/>
          </a:ln>
          <a:effectLst/>
        </p:spPr>
        <p:txBody>
          <a:bodyPr rtlCol="0" anchor="ctr"/>
          <a:lstStyle/>
          <a:p>
            <a:pPr algn="ctr"/>
          </a:p>
        </p:txBody>
      </p:sp>
      <p:sp>
        <p:nvSpPr>
          <p:cNvPr id="36" name="TextBox 35"/>
          <p:cNvSpPr txBox="1"/>
          <p:nvPr/>
        </p:nvSpPr>
        <p:spPr>
          <a:xfrm>
            <a:off x="522387" y="4259203"/>
            <a:ext cx="167357" cy="209178"/>
          </a:xfrm>
          <a:prstGeom prst="rect">
            <a:avLst/>
          </a:prstGeom>
          <a:noFill/>
        </p:spPr>
        <p:txBody>
          <a:bodyPr wrap="none" anchor="ctr" lIns="0" rIns="0" tIns="0" bIns="0">
            <a:spAutoFit/>
          </a:bodyPr>
          <a:lstStyle/>
          <a:p>
            <a:pPr algn="ctr"/>
            <a:r>
              <a:rPr sz="1300" b="1">
                <a:solidFill>
                  <a:srgbClr val="3B3535"/>
                </a:solidFill>
                <a:latin typeface="Helvetica"/>
              </a:rPr>
              <a:t>7</a:t>
            </a:r>
          </a:p>
        </p:txBody>
      </p:sp>
      <p:sp>
        <p:nvSpPr>
          <p:cNvPr id="37" name="Rounded Rectangle 36"/>
          <p:cNvSpPr/>
          <p:nvPr/>
        </p:nvSpPr>
        <p:spPr>
          <a:xfrm>
            <a:off x="717314" y="4356649"/>
            <a:ext cx="334714" cy="14288"/>
          </a:xfrm>
          <a:prstGeom prst="roundRect">
            <a:avLst/>
          </a:prstGeom>
          <a:solidFill>
            <a:srgbClr val="D8D4D4"/>
          </a:solidFill>
          <a:ln>
            <a:noFill/>
          </a:ln>
          <a:effectLst/>
        </p:spPr>
        <p:txBody>
          <a:bodyPr rtlCol="0" anchor="ctr"/>
          <a:lstStyle/>
          <a:p>
            <a:pPr algn="ctr"/>
          </a:p>
        </p:txBody>
      </p:sp>
      <p:sp>
        <p:nvSpPr>
          <p:cNvPr id="38" name="TextBox 37"/>
          <p:cNvSpPr txBox="1"/>
          <p:nvPr/>
        </p:nvSpPr>
        <p:spPr>
          <a:xfrm>
            <a:off x="1164059" y="4248330"/>
            <a:ext cx="7400000" cy="220000"/>
          </a:xfrm>
          <a:prstGeom prst="rect">
            <a:avLst/>
          </a:prstGeom>
          <a:noFill/>
        </p:spPr>
        <p:txBody>
          <a:bodyPr wrap="square" anchor="t" lIns="0" rIns="0" tIns="0" bIns="0">
            <a:spAutoFit/>
          </a:bodyPr>
          <a:lstStyle/>
          <a:p>
            <a:r>
              <a:rPr sz="1150" b="1">
                <a:solidFill>
                  <a:srgbClr val="3B3535"/>
                </a:solidFill>
                <a:latin typeface="Helvetica"/>
              </a:rPr>
              <a:t>Conclusions</a:t>
            </a:r>
          </a:p>
        </p:txBody>
      </p:sp>
      <p:sp>
        <p:nvSpPr>
          <p:cNvPr id="39" name="TextBox 38"/>
          <p:cNvSpPr txBox="1"/>
          <p:nvPr/>
        </p:nvSpPr>
        <p:spPr>
          <a:xfrm>
            <a:off x="1164059" y="4488330"/>
            <a:ext cx="7499300" cy="180000"/>
          </a:xfrm>
          <a:prstGeom prst="rect">
            <a:avLst/>
          </a:prstGeom>
          <a:noFill/>
        </p:spPr>
        <p:txBody>
          <a:bodyPr wrap="square" anchor="t" lIns="0" rIns="0" tIns="0" bIns="0">
            <a:spAutoFit/>
          </a:bodyPr>
          <a:lstStyle/>
          <a:p>
            <a:r>
              <a:rPr sz="850">
                <a:solidFill>
                  <a:srgbClr val="3B3535"/>
                </a:solidFill>
                <a:latin typeface="Helvetica"/>
              </a:rPr>
              <a:t>El loop completo y la gobernanza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797356"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ADVANCED</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400" b="1">
                <a:solidFill>
                  <a:srgbClr val="1F1E1E"/>
                </a:solidFill>
                <a:latin typeface="Helvetica"/>
              </a:rPr>
              <a:t>Subagentes: delegar sub-tareas en paralelo</a:t>
            </a:r>
          </a:p>
        </p:txBody>
      </p:sp>
      <p:sp>
        <p:nvSpPr>
          <p:cNvPr id="5" name="TextBox 4"/>
          <p:cNvSpPr txBox="1"/>
          <p:nvPr/>
        </p:nvSpPr>
        <p:spPr>
          <a:xfrm>
            <a:off x="457200" y="1225296"/>
            <a:ext cx="5029200" cy="3689604"/>
          </a:xfrm>
          <a:prstGeom prst="rect">
            <a:avLst/>
          </a:prstGeom>
          <a:noFill/>
        </p:spPr>
        <p:txBody>
          <a:bodyPr wrap="square" anchor="t" lIns="0" rIns="0" tIns="0" bIns="0">
            <a:spAutoFit/>
          </a:bodyPr>
          <a:lstStyle/>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Concepto.</a:t>
            </a:r>
            <a:r>
              <a:rPr sz="1000" b="0" i="0">
                <a:solidFill>
                  <a:srgbClr val="3B3535"/>
                </a:solidFill>
                <a:latin typeface="Helvetica"/>
              </a:rPr>
              <a:t> Un Subagente es un asistente aislado, con su propio contexto, instrucciones y acceso a herramientas, al que el agente principal le delega un trabajo y del que recibe </a:t>
            </a:r>
            <a:r>
              <a:rPr sz="1000" b="1" i="0">
                <a:solidFill>
                  <a:srgbClr val="1F1E1E"/>
                </a:solidFill>
                <a:latin typeface="Helvetica"/>
              </a:rPr>
              <a:t>un resumen</a:t>
            </a:r>
            <a:r>
              <a:rPr sz="1000" b="0" i="0">
                <a:solidFill>
                  <a:srgbClr val="3B3535"/>
                </a:solidFill>
                <a:latin typeface="Helvetica"/>
              </a:rPr>
              <a:t> (no la transcripción completa).</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Skill vs Subagente (la regla de una línea).</a:t>
            </a:r>
            <a:r>
              <a:rPr sz="1000" b="0" i="0">
                <a:solidFill>
                  <a:srgbClr val="3B3535"/>
                </a:solidFill>
                <a:latin typeface="Helvetica"/>
              </a:rPr>
              <a:t> Chico, y debe quedar frente a vos </a:t>
            </a:r>
            <a:r>
              <a:rPr sz="1000" b="1" i="0">
                <a:solidFill>
                  <a:srgbClr val="1F1E1E"/>
                </a:solidFill>
                <a:latin typeface="Helvetica"/>
              </a:rPr>
              <a:t>Skill</a:t>
            </a:r>
            <a:r>
              <a:rPr sz="1000" b="0" i="0">
                <a:solidFill>
                  <a:srgbClr val="3B3535"/>
                </a:solidFill>
                <a:latin typeface="Helvetica"/>
              </a:rPr>
              <a:t> (corre </a:t>
            </a:r>
            <a:r>
              <a:rPr sz="1000" b="0" i="1">
                <a:solidFill>
                  <a:srgbClr val="3B3535"/>
                </a:solidFill>
                <a:latin typeface="Helvetica"/>
              </a:rPr>
              <a:t>dentro</a:t>
            </a:r>
            <a:r>
              <a:rPr sz="1000" b="0" i="0">
                <a:solidFill>
                  <a:srgbClr val="3B3535"/>
                </a:solidFill>
                <a:latin typeface="Helvetica"/>
              </a:rPr>
              <a:t> de tu conversación). Grande o ruidoso, y debe correr en un proceso aparte </a:t>
            </a:r>
            <a:r>
              <a:rPr sz="1000" b="1" i="0">
                <a:solidFill>
                  <a:srgbClr val="1F1E1E"/>
                </a:solidFill>
                <a:latin typeface="Helvetica"/>
              </a:rPr>
              <a:t>Subagente</a:t>
            </a:r>
            <a:r>
              <a:rPr sz="1000" b="0" i="0">
                <a:solidFill>
                  <a:srgbClr val="3B3535"/>
                </a:solidFill>
                <a:latin typeface="Helvetica"/>
              </a:rPr>
              <a:t> (corre </a:t>
            </a:r>
            <a:r>
              <a:rPr sz="1000" b="0" i="1">
                <a:solidFill>
                  <a:srgbClr val="3B3535"/>
                </a:solidFill>
                <a:latin typeface="Helvetica"/>
              </a:rPr>
              <a:t>al lado</a:t>
            </a:r>
            <a:r>
              <a:rPr sz="1000" b="0" i="0">
                <a:solidFill>
                  <a:srgbClr val="3B3535"/>
                </a:solidFill>
                <a:latin typeface="Helvetica"/>
              </a:rPr>
              <a:t>, en su propio contexto).</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En Cowork.</a:t>
            </a:r>
            <a:r>
              <a:rPr sz="1000" b="0" i="0">
                <a:solidFill>
                  <a:srgbClr val="3B3535"/>
                </a:solidFill>
                <a:latin typeface="Helvetica"/>
              </a:rPr>
              <a:t> Los Subagentes se coordinan "por debajo" (under the hood): el agente principal los lanza cuando le conviene, y pueden correr </a:t>
            </a:r>
            <a:r>
              <a:rPr sz="1000" b="1" i="0">
                <a:solidFill>
                  <a:srgbClr val="1F1E1E"/>
                </a:solidFill>
                <a:latin typeface="Helvetica"/>
              </a:rPr>
              <a:t>varios en paralelo</a:t>
            </a:r>
            <a:r>
              <a:rPr sz="1000" b="0" i="0">
                <a:solidFill>
                  <a:srgbClr val="3B3535"/>
                </a:solidFill>
                <a:latin typeface="Helvetica"/>
              </a:rPr>
              <a:t>.</a:t>
            </a:r>
          </a:p>
          <a:p>
            <a:pPr>
              <a:lnSpc>
                <a:spcPct val="103000"/>
              </a:lnSpc>
              <a:spcBef>
                <a:spcPts val="0"/>
              </a:spcBef>
              <a:spcAft>
                <a:spcPts val="300"/>
              </a:spcAft>
            </a:pPr>
            <a:r>
              <a:rPr sz="1000" b="1">
                <a:solidFill>
                  <a:srgbClr val="DA1B2E"/>
                </a:solidFill>
                <a:latin typeface="Helvetica"/>
              </a:rPr>
              <a:t>▪  </a:t>
            </a:r>
            <a:r>
              <a:rPr sz="1000" b="1" i="0">
                <a:solidFill>
                  <a:srgbClr val="1F1E1E"/>
                </a:solidFill>
                <a:latin typeface="Helvetica"/>
              </a:rPr>
              <a:t>Cómo se agrega un subagente.</a:t>
            </a:r>
            <a:r>
              <a:rPr sz="1000" b="0" i="0">
                <a:solidFill>
                  <a:srgbClr val="3B3535"/>
                </a:solidFill>
                <a:latin typeface="Helvetica"/>
              </a:rPr>
              <a:t> Se define igual que una Skill — una </a:t>
            </a:r>
            <a:r>
              <a:rPr sz="1000" b="1" i="0">
                <a:solidFill>
                  <a:srgbClr val="1F1E1E"/>
                </a:solidFill>
                <a:latin typeface="Helvetica"/>
              </a:rPr>
              <a:t>descripción de cuándo usarlo</a:t>
            </a:r>
            <a:r>
              <a:rPr sz="1000" b="0" i="0">
                <a:solidFill>
                  <a:srgbClr val="3B3535"/>
                </a:solidFill>
                <a:latin typeface="Helvetica"/>
              </a:rPr>
              <a:t> + sus </a:t>
            </a:r>
            <a:r>
              <a:rPr sz="1000" b="1" i="0">
                <a:solidFill>
                  <a:srgbClr val="1F1E1E"/>
                </a:solidFill>
                <a:latin typeface="Helvetica"/>
              </a:rPr>
              <a:t>instrucciones</a:t>
            </a:r>
            <a:r>
              <a:rPr sz="1000" b="0" i="0">
                <a:solidFill>
                  <a:srgbClr val="3B3535"/>
                </a:solidFill>
                <a:latin typeface="Helvetica"/>
              </a:rPr>
              <a:t>. Dos caminos: </a:t>
            </a:r>
            <a:r>
              <a:rPr sz="1000" b="1" i="0">
                <a:solidFill>
                  <a:srgbClr val="1F1E1E"/>
                </a:solidFill>
                <a:latin typeface="Helvetica"/>
              </a:rPr>
              <a:t>pedile a Claude que lo arme</a:t>
            </a:r>
            <a:r>
              <a:rPr sz="1000" b="0" i="0">
                <a:solidFill>
                  <a:srgbClr val="3B3535"/>
                </a:solidFill>
                <a:latin typeface="Helvetica"/>
              </a:rPr>
              <a:t> (escribe el archivo del agente, como con las Skills, y lo gestionás en el directorio </a:t>
            </a:r>
            <a:r>
              <a:rPr sz="1000" b="1" i="0">
                <a:solidFill>
                  <a:srgbClr val="1F1E1E"/>
                </a:solidFill>
                <a:latin typeface="Helvetica"/>
              </a:rPr>
              <a:t>Customize</a:t>
            </a:r>
            <a:r>
              <a:rPr sz="1000" b="0" i="0">
                <a:solidFill>
                  <a:srgbClr val="3B3535"/>
                </a:solidFill>
                <a:latin typeface="Helvetica"/>
              </a:rPr>
              <a:t>), o viene </a:t>
            </a:r>
            <a:r>
              <a:rPr sz="1000" b="1" i="0">
                <a:solidFill>
                  <a:srgbClr val="1F1E1E"/>
                </a:solidFill>
                <a:latin typeface="Helvetica"/>
              </a:rPr>
              <a:t>empaquetado dentro de un Plugin</a:t>
            </a:r>
            <a:r>
              <a:rPr sz="1000" b="0" i="0">
                <a:solidFill>
                  <a:srgbClr val="3B3535"/>
                </a:solidFill>
                <a:latin typeface="Helvetica"/>
              </a:rPr>
              <a:t>. No hace falta tocar archivos a mano.</a:t>
            </a:r>
          </a:p>
        </p:txBody>
      </p:sp>
      <p:sp>
        <p:nvSpPr>
          <p:cNvPr id="6" name="Rounded Rectangle 5"/>
          <p:cNvSpPr/>
          <p:nvPr/>
        </p:nvSpPr>
        <p:spPr>
          <a:xfrm>
            <a:off x="5623560" y="1981559"/>
            <a:ext cx="3108960" cy="2177078"/>
          </a:xfrm>
          <a:prstGeom prst="roundRect">
            <a:avLst/>
          </a:prstGeom>
          <a:solidFill>
            <a:srgbClr val="F2EEEE"/>
          </a:solidFill>
          <a:ln>
            <a:noFill/>
          </a:ln>
          <a:effectLst/>
        </p:spPr>
        <p:txBody>
          <a:bodyPr rtlCol="0" anchor="ctr"/>
          <a:lstStyle/>
          <a:p>
            <a:pPr algn="ctr"/>
          </a:p>
        </p:txBody>
      </p:sp>
      <p:pic>
        <p:nvPicPr>
          <p:cNvPr id="7" name="Picture 6" descr="s6-1-1-subagentes-fanout.png"/>
          <p:cNvPicPr>
            <a:picLocks noChangeAspect="1"/>
          </p:cNvPicPr>
          <p:nvPr/>
        </p:nvPicPr>
        <p:blipFill>
          <a:blip r:embed="rId2"/>
          <a:stretch>
            <a:fillRect/>
          </a:stretch>
        </p:blipFill>
        <p:spPr>
          <a:xfrm>
            <a:off x="5669280" y="2027279"/>
            <a:ext cx="3017520" cy="208563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797356"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ADVANCED</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000" b="1">
                <a:solidFill>
                  <a:srgbClr val="1F1E1E"/>
                </a:solidFill>
                <a:latin typeface="Helvetica"/>
              </a:rPr>
              <a:t>Plugins: empaquetar y distribuir un workflow completo</a:t>
            </a:r>
          </a:p>
        </p:txBody>
      </p:sp>
      <p:sp>
        <p:nvSpPr>
          <p:cNvPr id="5" name="TextBox 4"/>
          <p:cNvSpPr txBox="1"/>
          <p:nvPr/>
        </p:nvSpPr>
        <p:spPr>
          <a:xfrm>
            <a:off x="457200" y="1152144"/>
            <a:ext cx="8229600" cy="3762756"/>
          </a:xfrm>
          <a:prstGeom prst="rect">
            <a:avLst/>
          </a:prstGeom>
          <a:noFill/>
        </p:spPr>
        <p:txBody>
          <a:bodyPr wrap="square" anchor="t" lIns="0" rIns="0" tIns="0" bIns="0">
            <a:spAutoFit/>
          </a:bodyPr>
          <a:lstStyle/>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Concepto.</a:t>
            </a:r>
            <a:r>
              <a:rPr sz="1250" b="0" i="0">
                <a:solidFill>
                  <a:srgbClr val="3B3535"/>
                </a:solidFill>
                <a:latin typeface="Helvetica"/>
              </a:rPr>
              <a:t> Un Plugin es la unidad de distribución de un workflow completo: empaqueta Skills + agentes + hooks + MCP en una sola instalación. "Ship the whole thing."</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En Cowork.</a:t>
            </a:r>
            <a:r>
              <a:rPr sz="1250" b="0" i="0">
                <a:solidFill>
                  <a:srgbClr val="3B3535"/>
                </a:solidFill>
                <a:latin typeface="Helvetica"/>
              </a:rPr>
              <a:t> Se instalan desde un </a:t>
            </a:r>
            <a:r>
              <a:rPr sz="1250" b="1" i="0">
                <a:solidFill>
                  <a:srgbClr val="1F1E1E"/>
                </a:solidFill>
                <a:latin typeface="Helvetica"/>
              </a:rPr>
              <a:t>marketplace de plugins</a:t>
            </a:r>
            <a:r>
              <a:rPr sz="1250" b="0" i="0">
                <a:solidFill>
                  <a:srgbClr val="3B3535"/>
                </a:solidFill>
                <a:latin typeface="Helvetica"/>
              </a:rPr>
              <a:t> en la GUI. Un Plugin es una de las vías para </a:t>
            </a:r>
            <a:r>
              <a:rPr sz="1250" b="1" i="0">
                <a:solidFill>
                  <a:srgbClr val="1F1E1E"/>
                </a:solidFill>
                <a:latin typeface="Helvetica"/>
              </a:rPr>
              <a:t>distribuir Skills (y agentes/connectors)</a:t>
            </a:r>
            <a:r>
              <a:rPr sz="1250" b="0" i="0">
                <a:solidFill>
                  <a:srgbClr val="3B3535"/>
                </a:solidFill>
                <a:latin typeface="Helvetica"/>
              </a:rPr>
              <a:t>: para usar una Skill en Cowork, la habilitás como skill de usuario (Customize Skills) o la enviás </a:t>
            </a:r>
            <a:r>
              <a:rPr sz="1250" b="1" i="0">
                <a:solidFill>
                  <a:srgbClr val="1F1E1E"/>
                </a:solidFill>
                <a:latin typeface="Helvetica"/>
              </a:rPr>
              <a:t>dentro de un plugin</a:t>
            </a:r>
            <a:r>
              <a:rPr sz="1250" b="0" i="0">
                <a:solidFill>
                  <a:srgbClr val="3B3535"/>
                </a:solidFill>
                <a:latin typeface="Helvetica"/>
              </a:rPr>
              <a:t>. Las skills provistas por plugin funcionan en Chat y en Cowork.</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Dónde encontrarlos.</a:t>
            </a:r>
            <a:r>
              <a:rPr sz="1250" b="0" i="0">
                <a:solidFill>
                  <a:srgbClr val="3B3535"/>
                </a:solidFill>
                <a:latin typeface="Helvetica"/>
              </a:rPr>
              <a:t> Marketplaces oficiales (</a:t>
            </a:r>
            <a:r>
              <a:rPr sz="1250" b="0" i="0">
                <a:solidFill>
                  <a:srgbClr val="000000"/>
                </a:solidFill>
                <a:latin typeface="Courier New"/>
              </a:rPr>
              <a:t>anthropics/claude-plugins-official</a:t>
            </a:r>
            <a:r>
              <a:rPr sz="1250" b="0" i="0">
                <a:solidFill>
                  <a:srgbClr val="3B3535"/>
                </a:solidFill>
                <a:latin typeface="Helvetica"/>
              </a:rPr>
              <a:t>, </a:t>
            </a:r>
            <a:r>
              <a:rPr sz="1250" b="0" i="0">
                <a:solidFill>
                  <a:srgbClr val="000000"/>
                </a:solidFill>
                <a:latin typeface="Courier New"/>
              </a:rPr>
              <a:t>anthropics/knowledge-work-plugins</a:t>
            </a:r>
            <a:r>
              <a:rPr sz="1250" b="0" i="0">
                <a:solidFill>
                  <a:srgbClr val="3B3535"/>
                </a:solidFill>
                <a:latin typeface="Helvetica"/>
              </a:rPr>
              <a:t>) y de la comunidad.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797356"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ADVANCED</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600" b="1">
                <a:solidFill>
                  <a:srgbClr val="1F1E1E"/>
                </a:solidFill>
                <a:latin typeface="Helvetica"/>
              </a:rPr>
              <a:t>Plugins en una cuenta Team: ciclo de vida</a:t>
            </a:r>
          </a:p>
        </p:txBody>
      </p:sp>
      <p:sp>
        <p:nvSpPr>
          <p:cNvPr id="5" name="TextBox 4"/>
          <p:cNvSpPr txBox="1"/>
          <p:nvPr/>
        </p:nvSpPr>
        <p:spPr>
          <a:xfrm>
            <a:off x="457200" y="1261872"/>
            <a:ext cx="5029200" cy="3653027"/>
          </a:xfrm>
          <a:prstGeom prst="rect">
            <a:avLst/>
          </a:prstGeom>
          <a:noFill/>
        </p:spPr>
        <p:txBody>
          <a:bodyPr wrap="square" anchor="t" lIns="0" rIns="0" tIns="0" bIns="0">
            <a:spAutoFit/>
          </a:bodyPr>
          <a:lstStyle/>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Quién lo maneja.</a:t>
            </a:r>
            <a:r>
              <a:rPr sz="1100" b="0" i="0">
                <a:solidFill>
                  <a:srgbClr val="3B3535"/>
                </a:solidFill>
                <a:latin typeface="Helvetica"/>
              </a:rPr>
              <a:t> En cuentas </a:t>
            </a:r>
            <a:r>
              <a:rPr sz="1100" b="1" i="0">
                <a:solidFill>
                  <a:srgbClr val="1F1E1E"/>
                </a:solidFill>
                <a:latin typeface="Helvetica"/>
              </a:rPr>
              <a:t>Team / Enterprise</a:t>
            </a:r>
            <a:r>
              <a:rPr sz="1100" b="0" i="0">
                <a:solidFill>
                  <a:srgbClr val="3B3535"/>
                </a:solidFill>
                <a:latin typeface="Helvetica"/>
              </a:rPr>
              <a:t>, los </a:t>
            </a:r>
            <a:r>
              <a:rPr sz="1100" b="1" i="0">
                <a:solidFill>
                  <a:srgbClr val="1F1E1E"/>
                </a:solidFill>
                <a:latin typeface="Helvetica"/>
              </a:rPr>
              <a:t>Owners</a:t>
            </a:r>
            <a:r>
              <a:rPr sz="1100" b="0" i="0">
                <a:solidFill>
                  <a:srgbClr val="3B3535"/>
                </a:solidFill>
                <a:latin typeface="Helvetica"/>
              </a:rPr>
              <a:t> gestionan los plugins de la organización desde </a:t>
            </a:r>
            <a:r>
              <a:rPr sz="1100" b="1" i="0">
                <a:solidFill>
                  <a:srgbClr val="1F1E1E"/>
                </a:solidFill>
                <a:latin typeface="Helvetica"/>
              </a:rPr>
              <a:t>Organization settings Plugins</a:t>
            </a:r>
            <a:r>
              <a:rPr sz="1100" b="0" i="0">
                <a:solidFill>
                  <a:srgbClr val="3B3535"/>
                </a:solidFill>
                <a:latin typeface="Helvetica"/>
              </a:rPr>
              <a:t>. El resto de los miembros los reciben listos.</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El ciclo de vida, de punta a punta:</a:t>
            </a:r>
          </a:p>
          <a:p>
            <a:pPr>
              <a:lnSpc>
                <a:spcPct val="103000"/>
              </a:lnSpc>
              <a:spcBef>
                <a:spcPts val="0"/>
              </a:spcBef>
              <a:spcAft>
                <a:spcPts val="300"/>
              </a:spcAft>
            </a:pPr>
            <a:r>
              <a:rPr sz="1100" b="1">
                <a:solidFill>
                  <a:srgbClr val="DA1B2E"/>
                </a:solidFill>
                <a:latin typeface="Helvetica"/>
              </a:rPr>
              <a:t>▪  </a:t>
            </a:r>
            <a:r>
              <a:rPr sz="1100" b="1" i="0">
                <a:solidFill>
                  <a:srgbClr val="1F1E1E"/>
                </a:solidFill>
                <a:latin typeface="Helvetica"/>
              </a:rPr>
              <a:t>Qué se puede hacer.</a:t>
            </a:r>
          </a:p>
          <a:p>
            <a:pPr lvl="1">
              <a:lnSpc>
                <a:spcPct val="103000"/>
              </a:lnSpc>
              <a:spcBef>
                <a:spcPts val="0"/>
              </a:spcBef>
              <a:spcAft>
                <a:spcPts val="300"/>
              </a:spcAft>
            </a:pPr>
            <a:r>
              <a:rPr sz="1000">
                <a:solidFill>
                  <a:srgbClr val="6A737D"/>
                </a:solidFill>
                <a:latin typeface="Helvetica"/>
              </a:rPr>
              <a:t>–  </a:t>
            </a:r>
            <a:r>
              <a:rPr sz="1000" b="0" i="0">
                <a:solidFill>
                  <a:srgbClr val="3B3535"/>
                </a:solidFill>
                <a:latin typeface="Helvetica"/>
              </a:rPr>
              <a:t>El Owner crea un </a:t>
            </a:r>
            <a:r>
              <a:rPr sz="1000" b="1" i="0">
                <a:solidFill>
                  <a:srgbClr val="1F1E1E"/>
                </a:solidFill>
                <a:latin typeface="Helvetica"/>
              </a:rPr>
              <a:t>marketplace privado</a:t>
            </a:r>
            <a:r>
              <a:rPr sz="1000" b="0" i="0">
                <a:solidFill>
                  <a:srgbClr val="3B3535"/>
                </a:solidFill>
                <a:latin typeface="Helvetica"/>
              </a:rPr>
              <a:t> de la organización y agrega plugins de dos formas: </a:t>
            </a:r>
            <a:r>
              <a:rPr sz="1000" b="1" i="0">
                <a:solidFill>
                  <a:srgbClr val="1F1E1E"/>
                </a:solidFill>
                <a:latin typeface="Helvetica"/>
              </a:rPr>
              <a:t>subir un ZIP</a:t>
            </a:r>
            <a:r>
              <a:rPr sz="1000" b="0" i="0">
                <a:solidFill>
                  <a:srgbClr val="3B3535"/>
                </a:solidFill>
                <a:latin typeface="Helvetica"/>
              </a:rPr>
              <a:t>, o </a:t>
            </a:r>
            <a:r>
              <a:rPr sz="1000" b="1" i="0">
                <a:solidFill>
                  <a:srgbClr val="1F1E1E"/>
                </a:solidFill>
                <a:latin typeface="Helvetica"/>
              </a:rPr>
              <a:t>sincronizar desde un repo de GitHub</a:t>
            </a:r>
            <a:r>
              <a:rPr sz="1000" b="0" i="0">
                <a:solidFill>
                  <a:srgbClr val="3B3535"/>
                </a:solidFill>
                <a:latin typeface="Helvetica"/>
              </a:rPr>
              <a:t> (privado) — esta segunda vía </a:t>
            </a:r>
            <a:r>
              <a:rPr sz="1000" b="1" i="0">
                <a:solidFill>
                  <a:srgbClr val="1F1E1E"/>
                </a:solidFill>
                <a:latin typeface="Helvetica"/>
              </a:rPr>
              <a:t>auto-actualiza</a:t>
            </a:r>
            <a:r>
              <a:rPr sz="1000" b="0" i="0">
                <a:solidFill>
                  <a:srgbClr val="3B3535"/>
                </a:solidFill>
                <a:latin typeface="Helvetica"/>
              </a:rPr>
              <a:t> cuando cambia el repo.</a:t>
            </a:r>
          </a:p>
          <a:p>
            <a:pPr lvl="1">
              <a:lnSpc>
                <a:spcPct val="103000"/>
              </a:lnSpc>
              <a:spcBef>
                <a:spcPts val="0"/>
              </a:spcBef>
              <a:spcAft>
                <a:spcPts val="300"/>
              </a:spcAft>
            </a:pPr>
            <a:r>
              <a:rPr sz="1000">
                <a:solidFill>
                  <a:srgbClr val="6A737D"/>
                </a:solidFill>
                <a:latin typeface="Helvetica"/>
              </a:rPr>
              <a:t>–  </a:t>
            </a:r>
            <a:r>
              <a:rPr sz="1000" b="0" i="0">
                <a:solidFill>
                  <a:srgbClr val="3B3535"/>
                </a:solidFill>
                <a:latin typeface="Helvetica"/>
              </a:rPr>
              <a:t>Por cada plugin se fija una </a:t>
            </a:r>
            <a:r>
              <a:rPr sz="1000" b="1" i="0">
                <a:solidFill>
                  <a:srgbClr val="1F1E1E"/>
                </a:solidFill>
                <a:latin typeface="Helvetica"/>
              </a:rPr>
              <a:t>preferencia de instalación</a:t>
            </a:r>
            <a:r>
              <a:rPr sz="1000" b="0" i="0">
                <a:solidFill>
                  <a:srgbClr val="3B3535"/>
                </a:solidFill>
                <a:latin typeface="Helvetica"/>
              </a:rPr>
              <a:t>: opcional (el miembro decide), </a:t>
            </a:r>
            <a:r>
              <a:rPr sz="1000" b="1" i="0">
                <a:solidFill>
                  <a:srgbClr val="1F1E1E"/>
                </a:solidFill>
                <a:latin typeface="Helvetica"/>
              </a:rPr>
              <a:t>auto-install</a:t>
            </a:r>
            <a:r>
              <a:rPr sz="1000" b="0" i="0">
                <a:solidFill>
                  <a:srgbClr val="3B3535"/>
                </a:solidFill>
                <a:latin typeface="Helvetica"/>
              </a:rPr>
              <a:t> o provisionado por usuario.</a:t>
            </a:r>
          </a:p>
          <a:p>
            <a:pPr lvl="1">
              <a:lnSpc>
                <a:spcPct val="103000"/>
              </a:lnSpc>
              <a:spcBef>
                <a:spcPts val="0"/>
              </a:spcBef>
              <a:spcAft>
                <a:spcPts val="300"/>
              </a:spcAft>
            </a:pPr>
            <a:r>
              <a:rPr sz="1000">
                <a:solidFill>
                  <a:srgbClr val="6A737D"/>
                </a:solidFill>
                <a:latin typeface="Helvetica"/>
              </a:rPr>
              <a:t>–  </a:t>
            </a:r>
            <a:r>
              <a:rPr sz="1000" b="0" i="0">
                <a:solidFill>
                  <a:srgbClr val="3B3535"/>
                </a:solidFill>
                <a:latin typeface="Helvetica"/>
              </a:rPr>
              <a:t>Los plugins distribuidos aparecen en </a:t>
            </a:r>
            <a:r>
              <a:rPr sz="1000" b="1" i="0">
                <a:solidFill>
                  <a:srgbClr val="1F1E1E"/>
                </a:solidFill>
                <a:latin typeface="Helvetica"/>
              </a:rPr>
              <a:t>chat y en Cowork</a:t>
            </a:r>
            <a:r>
              <a:rPr sz="1000" b="0" i="0">
                <a:solidFill>
                  <a:srgbClr val="3B3535"/>
                </a:solidFill>
                <a:latin typeface="Helvetica"/>
              </a:rPr>
              <a:t> para los miembros; cada uno </a:t>
            </a:r>
            <a:r>
              <a:rPr sz="1000" b="1" i="0">
                <a:solidFill>
                  <a:srgbClr val="1F1E1E"/>
                </a:solidFill>
                <a:latin typeface="Helvetica"/>
              </a:rPr>
              <a:t>instala/habilita</a:t>
            </a:r>
            <a:r>
              <a:rPr sz="1000" b="0" i="0">
                <a:solidFill>
                  <a:srgbClr val="3B3535"/>
                </a:solidFill>
                <a:latin typeface="Helvetica"/>
              </a:rPr>
              <a:t> desde el directorio de la org, y las </a:t>
            </a:r>
            <a:r>
              <a:rPr sz="1000" b="1" i="0">
                <a:solidFill>
                  <a:srgbClr val="1F1E1E"/>
                </a:solidFill>
                <a:latin typeface="Helvetica"/>
              </a:rPr>
              <a:t>actualizaciones se sincronizan</a:t>
            </a:r>
            <a:r>
              <a:rPr sz="1000" b="0" i="0">
                <a:solidFill>
                  <a:srgbClr val="3B3535"/>
                </a:solidFill>
                <a:latin typeface="Helvetica"/>
              </a:rPr>
              <a:t> solas.</a:t>
            </a:r>
          </a:p>
        </p:txBody>
      </p:sp>
      <p:sp>
        <p:nvSpPr>
          <p:cNvPr id="6" name="Rounded Rectangle 5"/>
          <p:cNvSpPr/>
          <p:nvPr/>
        </p:nvSpPr>
        <p:spPr>
          <a:xfrm>
            <a:off x="5623560" y="2155160"/>
            <a:ext cx="3108960" cy="1866451"/>
          </a:xfrm>
          <a:prstGeom prst="roundRect">
            <a:avLst/>
          </a:prstGeom>
          <a:solidFill>
            <a:srgbClr val="F2EEEE"/>
          </a:solidFill>
          <a:ln>
            <a:noFill/>
          </a:ln>
          <a:effectLst/>
        </p:spPr>
        <p:txBody>
          <a:bodyPr rtlCol="0" anchor="ctr"/>
          <a:lstStyle/>
          <a:p>
            <a:pPr algn="ctr"/>
          </a:p>
        </p:txBody>
      </p:sp>
      <p:pic>
        <p:nvPicPr>
          <p:cNvPr id="7" name="Picture 6" descr="s6-3-1-ciclo-plugins-team.png"/>
          <p:cNvPicPr>
            <a:picLocks noChangeAspect="1"/>
          </p:cNvPicPr>
          <p:nvPr/>
        </p:nvPicPr>
        <p:blipFill>
          <a:blip r:embed="rId2"/>
          <a:stretch>
            <a:fillRect/>
          </a:stretch>
        </p:blipFill>
        <p:spPr>
          <a:xfrm>
            <a:off x="5669280" y="2200880"/>
            <a:ext cx="3017520" cy="177501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TextBox 2"/>
          <p:cNvSpPr txBox="1"/>
          <p:nvPr/>
        </p:nvSpPr>
        <p:spPr>
          <a:xfrm>
            <a:off x="480974" y="504748"/>
            <a:ext cx="3246120" cy="365760"/>
          </a:xfrm>
          <a:prstGeom prst="rect">
            <a:avLst/>
          </a:prstGeom>
          <a:noFill/>
        </p:spPr>
        <p:txBody>
          <a:bodyPr wrap="square" anchor="t" lIns="0" rIns="0" tIns="0" bIns="0">
            <a:spAutoFit/>
          </a:bodyPr>
          <a:lstStyle/>
          <a:p>
            <a:r>
              <a:rPr sz="2150" b="1">
                <a:solidFill>
                  <a:srgbClr val="1F1E1E"/>
                </a:solidFill>
                <a:latin typeface="Helvetica"/>
              </a:rPr>
              <a:t>Agenda</a:t>
            </a:r>
          </a:p>
        </p:txBody>
      </p:sp>
      <p:sp>
        <p:nvSpPr>
          <p:cNvPr id="4" name="Rounded Rectangle 3"/>
          <p:cNvSpPr/>
          <p:nvPr/>
        </p:nvSpPr>
        <p:spPr>
          <a:xfrm>
            <a:off x="606103" y="994172"/>
            <a:ext cx="14288" cy="3644354"/>
          </a:xfrm>
          <a:prstGeom prst="roundRect">
            <a:avLst/>
          </a:prstGeom>
          <a:solidFill>
            <a:srgbClr val="D8D4D4"/>
          </a:solidFill>
          <a:ln>
            <a:noFill/>
          </a:ln>
          <a:effectLst/>
        </p:spPr>
        <p:txBody>
          <a:bodyPr rtlCol="0" anchor="ctr"/>
          <a:lstStyle/>
          <a:p>
            <a:pPr algn="ctr"/>
          </a:p>
        </p:txBody>
      </p:sp>
      <p:sp>
        <p:nvSpPr>
          <p:cNvPr id="5" name="Rounded Rectangle 4"/>
          <p:cNvSpPr/>
          <p:nvPr/>
        </p:nvSpPr>
        <p:spPr>
          <a:xfrm>
            <a:off x="480603" y="994172"/>
            <a:ext cx="250999" cy="250999"/>
          </a:xfrm>
          <a:prstGeom prst="roundRect">
            <a:avLst/>
          </a:prstGeom>
          <a:solidFill>
            <a:srgbClr val="F2EEEE"/>
          </a:solidFill>
          <a:ln>
            <a:noFill/>
          </a:ln>
          <a:effectLst/>
        </p:spPr>
        <p:txBody>
          <a:bodyPr rtlCol="0" anchor="ctr"/>
          <a:lstStyle/>
          <a:p>
            <a:pPr algn="ctr"/>
          </a:p>
        </p:txBody>
      </p:sp>
      <p:sp>
        <p:nvSpPr>
          <p:cNvPr id="6" name="TextBox 5"/>
          <p:cNvSpPr txBox="1"/>
          <p:nvPr/>
        </p:nvSpPr>
        <p:spPr>
          <a:xfrm>
            <a:off x="522387" y="1015045"/>
            <a:ext cx="167357" cy="209178"/>
          </a:xfrm>
          <a:prstGeom prst="rect">
            <a:avLst/>
          </a:prstGeom>
          <a:noFill/>
        </p:spPr>
        <p:txBody>
          <a:bodyPr wrap="none" anchor="ctr" lIns="0" rIns="0" tIns="0" bIns="0">
            <a:spAutoFit/>
          </a:bodyPr>
          <a:lstStyle/>
          <a:p>
            <a:pPr algn="ctr"/>
            <a:r>
              <a:rPr sz="1300" b="1">
                <a:solidFill>
                  <a:srgbClr val="3B3535"/>
                </a:solidFill>
                <a:latin typeface="Helvetica"/>
              </a:rPr>
              <a:t>1</a:t>
            </a:r>
          </a:p>
        </p:txBody>
      </p:sp>
      <p:sp>
        <p:nvSpPr>
          <p:cNvPr id="7" name="Rounded Rectangle 6"/>
          <p:cNvSpPr/>
          <p:nvPr/>
        </p:nvSpPr>
        <p:spPr>
          <a:xfrm>
            <a:off x="717314" y="1112491"/>
            <a:ext cx="334714" cy="14288"/>
          </a:xfrm>
          <a:prstGeom prst="roundRect">
            <a:avLst/>
          </a:prstGeom>
          <a:solidFill>
            <a:srgbClr val="D8D4D4"/>
          </a:solidFill>
          <a:ln>
            <a:noFill/>
          </a:ln>
          <a:effectLst/>
        </p:spPr>
        <p:txBody>
          <a:bodyPr rtlCol="0" anchor="ctr"/>
          <a:lstStyle/>
          <a:p>
            <a:pPr algn="ctr"/>
          </a:p>
        </p:txBody>
      </p:sp>
      <p:sp>
        <p:nvSpPr>
          <p:cNvPr id="8" name="TextBox 7"/>
          <p:cNvSpPr txBox="1"/>
          <p:nvPr/>
        </p:nvSpPr>
        <p:spPr>
          <a:xfrm>
            <a:off x="1164059" y="1004172"/>
            <a:ext cx="7400000" cy="220000"/>
          </a:xfrm>
          <a:prstGeom prst="rect">
            <a:avLst/>
          </a:prstGeom>
          <a:noFill/>
        </p:spPr>
        <p:txBody>
          <a:bodyPr wrap="square" anchor="t" lIns="0" rIns="0" tIns="0" bIns="0">
            <a:spAutoFit/>
          </a:bodyPr>
          <a:lstStyle/>
          <a:p>
            <a:r>
              <a:rPr sz="1150" b="1">
                <a:solidFill>
                  <a:srgbClr val="3B3535"/>
                </a:solidFill>
                <a:latin typeface="Helvetica"/>
              </a:rPr>
              <a:t>De chat a agente: dónde encaja Cowork</a:t>
            </a:r>
          </a:p>
        </p:txBody>
      </p:sp>
      <p:sp>
        <p:nvSpPr>
          <p:cNvPr id="9" name="TextBox 8"/>
          <p:cNvSpPr txBox="1"/>
          <p:nvPr/>
        </p:nvSpPr>
        <p:spPr>
          <a:xfrm>
            <a:off x="1164059" y="1244172"/>
            <a:ext cx="7499300" cy="180000"/>
          </a:xfrm>
          <a:prstGeom prst="rect">
            <a:avLst/>
          </a:prstGeom>
          <a:noFill/>
        </p:spPr>
        <p:txBody>
          <a:bodyPr wrap="square" anchor="t" lIns="0" rIns="0" tIns="0" bIns="0">
            <a:spAutoFit/>
          </a:bodyPr>
          <a:lstStyle/>
          <a:p>
            <a:r>
              <a:rPr sz="850">
                <a:solidFill>
                  <a:srgbClr val="3B3535"/>
                </a:solidFill>
                <a:latin typeface="Helvetica"/>
              </a:rPr>
              <a:t>De chatear a delegar: dónde vive Cowork</a:t>
            </a:r>
          </a:p>
        </p:txBody>
      </p:sp>
      <p:sp>
        <p:nvSpPr>
          <p:cNvPr id="10" name="Rounded Rectangle 9"/>
          <p:cNvSpPr/>
          <p:nvPr/>
        </p:nvSpPr>
        <p:spPr>
          <a:xfrm>
            <a:off x="480603" y="1534865"/>
            <a:ext cx="250999" cy="250999"/>
          </a:xfrm>
          <a:prstGeom prst="roundRect">
            <a:avLst/>
          </a:prstGeom>
          <a:solidFill>
            <a:srgbClr val="F2EEEE"/>
          </a:solidFill>
          <a:ln>
            <a:noFill/>
          </a:ln>
          <a:effectLst/>
        </p:spPr>
        <p:txBody>
          <a:bodyPr rtlCol="0" anchor="ctr"/>
          <a:lstStyle/>
          <a:p>
            <a:pPr algn="ctr"/>
          </a:p>
        </p:txBody>
      </p:sp>
      <p:sp>
        <p:nvSpPr>
          <p:cNvPr id="11" name="TextBox 10"/>
          <p:cNvSpPr txBox="1"/>
          <p:nvPr/>
        </p:nvSpPr>
        <p:spPr>
          <a:xfrm>
            <a:off x="522387" y="1555738"/>
            <a:ext cx="167357" cy="209178"/>
          </a:xfrm>
          <a:prstGeom prst="rect">
            <a:avLst/>
          </a:prstGeom>
          <a:noFill/>
        </p:spPr>
        <p:txBody>
          <a:bodyPr wrap="none" anchor="ctr" lIns="0" rIns="0" tIns="0" bIns="0">
            <a:spAutoFit/>
          </a:bodyPr>
          <a:lstStyle/>
          <a:p>
            <a:pPr algn="ctr"/>
            <a:r>
              <a:rPr sz="1300" b="1">
                <a:solidFill>
                  <a:srgbClr val="3B3535"/>
                </a:solidFill>
                <a:latin typeface="Helvetica"/>
              </a:rPr>
              <a:t>2</a:t>
            </a:r>
          </a:p>
        </p:txBody>
      </p:sp>
      <p:sp>
        <p:nvSpPr>
          <p:cNvPr id="12" name="Rounded Rectangle 11"/>
          <p:cNvSpPr/>
          <p:nvPr/>
        </p:nvSpPr>
        <p:spPr>
          <a:xfrm>
            <a:off x="717314" y="1653184"/>
            <a:ext cx="334714" cy="14288"/>
          </a:xfrm>
          <a:prstGeom prst="roundRect">
            <a:avLst/>
          </a:prstGeom>
          <a:solidFill>
            <a:srgbClr val="D8D4D4"/>
          </a:solidFill>
          <a:ln>
            <a:noFill/>
          </a:ln>
          <a:effectLst/>
        </p:spPr>
        <p:txBody>
          <a:bodyPr rtlCol="0" anchor="ctr"/>
          <a:lstStyle/>
          <a:p>
            <a:pPr algn="ctr"/>
          </a:p>
        </p:txBody>
      </p:sp>
      <p:sp>
        <p:nvSpPr>
          <p:cNvPr id="13" name="TextBox 12"/>
          <p:cNvSpPr txBox="1"/>
          <p:nvPr/>
        </p:nvSpPr>
        <p:spPr>
          <a:xfrm>
            <a:off x="1164059" y="1544865"/>
            <a:ext cx="7400000" cy="220000"/>
          </a:xfrm>
          <a:prstGeom prst="rect">
            <a:avLst/>
          </a:prstGeom>
          <a:noFill/>
        </p:spPr>
        <p:txBody>
          <a:bodyPr wrap="square" anchor="t" lIns="0" rIns="0" tIns="0" bIns="0">
            <a:spAutoFit/>
          </a:bodyPr>
          <a:lstStyle/>
          <a:p>
            <a:r>
              <a:rPr sz="1150" b="1">
                <a:solidFill>
                  <a:srgbClr val="3B3535"/>
                </a:solidFill>
                <a:latin typeface="Helvetica"/>
              </a:rPr>
              <a:t>Lo básico: interfaz, Instrucciones y Projects</a:t>
            </a:r>
          </a:p>
        </p:txBody>
      </p:sp>
      <p:sp>
        <p:nvSpPr>
          <p:cNvPr id="14" name="TextBox 13"/>
          <p:cNvSpPr txBox="1"/>
          <p:nvPr/>
        </p:nvSpPr>
        <p:spPr>
          <a:xfrm>
            <a:off x="1164059" y="1784865"/>
            <a:ext cx="7499300" cy="180000"/>
          </a:xfrm>
          <a:prstGeom prst="rect">
            <a:avLst/>
          </a:prstGeom>
          <a:noFill/>
        </p:spPr>
        <p:txBody>
          <a:bodyPr wrap="square" anchor="t" lIns="0" rIns="0" tIns="0" bIns="0">
            <a:spAutoFit/>
          </a:bodyPr>
          <a:lstStyle/>
          <a:p>
            <a:r>
              <a:rPr sz="850">
                <a:solidFill>
                  <a:srgbClr val="3B3535"/>
                </a:solidFill>
                <a:latin typeface="Helvetica"/>
              </a:rPr>
              <a:t>Interfaz, Instrucciones y Projects</a:t>
            </a:r>
          </a:p>
        </p:txBody>
      </p:sp>
      <p:sp>
        <p:nvSpPr>
          <p:cNvPr id="15" name="Rounded Rectangle 14"/>
          <p:cNvSpPr/>
          <p:nvPr/>
        </p:nvSpPr>
        <p:spPr>
          <a:xfrm>
            <a:off x="480603" y="2075558"/>
            <a:ext cx="250999" cy="250999"/>
          </a:xfrm>
          <a:prstGeom prst="roundRect">
            <a:avLst/>
          </a:prstGeom>
          <a:solidFill>
            <a:srgbClr val="F2EEEE"/>
          </a:solidFill>
          <a:ln>
            <a:noFill/>
          </a:ln>
          <a:effectLst/>
        </p:spPr>
        <p:txBody>
          <a:bodyPr rtlCol="0" anchor="ctr"/>
          <a:lstStyle/>
          <a:p>
            <a:pPr algn="ctr"/>
          </a:p>
        </p:txBody>
      </p:sp>
      <p:sp>
        <p:nvSpPr>
          <p:cNvPr id="16" name="TextBox 15"/>
          <p:cNvSpPr txBox="1"/>
          <p:nvPr/>
        </p:nvSpPr>
        <p:spPr>
          <a:xfrm>
            <a:off x="522387" y="2096431"/>
            <a:ext cx="167357" cy="209178"/>
          </a:xfrm>
          <a:prstGeom prst="rect">
            <a:avLst/>
          </a:prstGeom>
          <a:noFill/>
        </p:spPr>
        <p:txBody>
          <a:bodyPr wrap="none" anchor="ctr" lIns="0" rIns="0" tIns="0" bIns="0">
            <a:spAutoFit/>
          </a:bodyPr>
          <a:lstStyle/>
          <a:p>
            <a:pPr algn="ctr"/>
            <a:r>
              <a:rPr sz="1300" b="1">
                <a:solidFill>
                  <a:srgbClr val="3B3535"/>
                </a:solidFill>
                <a:latin typeface="Helvetica"/>
              </a:rPr>
              <a:t>3</a:t>
            </a:r>
          </a:p>
        </p:txBody>
      </p:sp>
      <p:sp>
        <p:nvSpPr>
          <p:cNvPr id="17" name="Rounded Rectangle 16"/>
          <p:cNvSpPr/>
          <p:nvPr/>
        </p:nvSpPr>
        <p:spPr>
          <a:xfrm>
            <a:off x="717314" y="2193877"/>
            <a:ext cx="334714" cy="14288"/>
          </a:xfrm>
          <a:prstGeom prst="roundRect">
            <a:avLst/>
          </a:prstGeom>
          <a:solidFill>
            <a:srgbClr val="D8D4D4"/>
          </a:solidFill>
          <a:ln>
            <a:noFill/>
          </a:ln>
          <a:effectLst/>
        </p:spPr>
        <p:txBody>
          <a:bodyPr rtlCol="0" anchor="ctr"/>
          <a:lstStyle/>
          <a:p>
            <a:pPr algn="ctr"/>
          </a:p>
        </p:txBody>
      </p:sp>
      <p:sp>
        <p:nvSpPr>
          <p:cNvPr id="18" name="TextBox 17"/>
          <p:cNvSpPr txBox="1"/>
          <p:nvPr/>
        </p:nvSpPr>
        <p:spPr>
          <a:xfrm>
            <a:off x="1164059" y="2085558"/>
            <a:ext cx="7400000" cy="220000"/>
          </a:xfrm>
          <a:prstGeom prst="rect">
            <a:avLst/>
          </a:prstGeom>
          <a:noFill/>
        </p:spPr>
        <p:txBody>
          <a:bodyPr wrap="square" anchor="t" lIns="0" rIns="0" tIns="0" bIns="0">
            <a:spAutoFit/>
          </a:bodyPr>
          <a:lstStyle/>
          <a:p>
            <a:r>
              <a:rPr sz="1150" b="1">
                <a:solidFill>
                  <a:srgbClr val="3B3535"/>
                </a:solidFill>
                <a:latin typeface="Helvetica"/>
              </a:rPr>
              <a:t>Extender Cowork: Skills y el rol de los archivos MD / metadata</a:t>
            </a:r>
          </a:p>
        </p:txBody>
      </p:sp>
      <p:sp>
        <p:nvSpPr>
          <p:cNvPr id="19" name="TextBox 18"/>
          <p:cNvSpPr txBox="1"/>
          <p:nvPr/>
        </p:nvSpPr>
        <p:spPr>
          <a:xfrm>
            <a:off x="1164059" y="2325558"/>
            <a:ext cx="7499300" cy="180000"/>
          </a:xfrm>
          <a:prstGeom prst="rect">
            <a:avLst/>
          </a:prstGeom>
          <a:noFill/>
        </p:spPr>
        <p:txBody>
          <a:bodyPr wrap="square" anchor="t" lIns="0" rIns="0" tIns="0" bIns="0">
            <a:spAutoFit/>
          </a:bodyPr>
          <a:lstStyle/>
          <a:p>
            <a:r>
              <a:rPr sz="850">
                <a:solidFill>
                  <a:srgbClr val="3B3535"/>
                </a:solidFill>
                <a:latin typeface="Helvetica"/>
              </a:rPr>
              <a:t>Skills y los archivos MD / metadata</a:t>
            </a:r>
          </a:p>
        </p:txBody>
      </p:sp>
      <p:sp>
        <p:nvSpPr>
          <p:cNvPr id="20" name="Rounded Rectangle 19"/>
          <p:cNvSpPr/>
          <p:nvPr/>
        </p:nvSpPr>
        <p:spPr>
          <a:xfrm>
            <a:off x="480603" y="2616251"/>
            <a:ext cx="250999" cy="250999"/>
          </a:xfrm>
          <a:prstGeom prst="roundRect">
            <a:avLst/>
          </a:prstGeom>
          <a:solidFill>
            <a:srgbClr val="F2EEEE"/>
          </a:solidFill>
          <a:ln>
            <a:noFill/>
          </a:ln>
          <a:effectLst/>
        </p:spPr>
        <p:txBody>
          <a:bodyPr rtlCol="0" anchor="ctr"/>
          <a:lstStyle/>
          <a:p>
            <a:pPr algn="ctr"/>
          </a:p>
        </p:txBody>
      </p:sp>
      <p:sp>
        <p:nvSpPr>
          <p:cNvPr id="21" name="TextBox 20"/>
          <p:cNvSpPr txBox="1"/>
          <p:nvPr/>
        </p:nvSpPr>
        <p:spPr>
          <a:xfrm>
            <a:off x="522387" y="2637124"/>
            <a:ext cx="167357" cy="209178"/>
          </a:xfrm>
          <a:prstGeom prst="rect">
            <a:avLst/>
          </a:prstGeom>
          <a:noFill/>
        </p:spPr>
        <p:txBody>
          <a:bodyPr wrap="none" anchor="ctr" lIns="0" rIns="0" tIns="0" bIns="0">
            <a:spAutoFit/>
          </a:bodyPr>
          <a:lstStyle/>
          <a:p>
            <a:pPr algn="ctr"/>
            <a:r>
              <a:rPr sz="1300" b="1">
                <a:solidFill>
                  <a:srgbClr val="3B3535"/>
                </a:solidFill>
                <a:latin typeface="Helvetica"/>
              </a:rPr>
              <a:t>4</a:t>
            </a:r>
          </a:p>
        </p:txBody>
      </p:sp>
      <p:sp>
        <p:nvSpPr>
          <p:cNvPr id="22" name="Rounded Rectangle 21"/>
          <p:cNvSpPr/>
          <p:nvPr/>
        </p:nvSpPr>
        <p:spPr>
          <a:xfrm>
            <a:off x="717314" y="2734570"/>
            <a:ext cx="334714" cy="14288"/>
          </a:xfrm>
          <a:prstGeom prst="roundRect">
            <a:avLst/>
          </a:prstGeom>
          <a:solidFill>
            <a:srgbClr val="D8D4D4"/>
          </a:solidFill>
          <a:ln>
            <a:noFill/>
          </a:ln>
          <a:effectLst/>
        </p:spPr>
        <p:txBody>
          <a:bodyPr rtlCol="0" anchor="ctr"/>
          <a:lstStyle/>
          <a:p>
            <a:pPr algn="ctr"/>
          </a:p>
        </p:txBody>
      </p:sp>
      <p:sp>
        <p:nvSpPr>
          <p:cNvPr id="23" name="TextBox 22"/>
          <p:cNvSpPr txBox="1"/>
          <p:nvPr/>
        </p:nvSpPr>
        <p:spPr>
          <a:xfrm>
            <a:off x="1164059" y="2626251"/>
            <a:ext cx="7400000" cy="220000"/>
          </a:xfrm>
          <a:prstGeom prst="rect">
            <a:avLst/>
          </a:prstGeom>
          <a:noFill/>
        </p:spPr>
        <p:txBody>
          <a:bodyPr wrap="square" anchor="t" lIns="0" rIns="0" tIns="0" bIns="0">
            <a:spAutoFit/>
          </a:bodyPr>
          <a:lstStyle/>
          <a:p>
            <a:r>
              <a:rPr sz="1150" b="1">
                <a:solidFill>
                  <a:srgbClr val="3B3535"/>
                </a:solidFill>
                <a:latin typeface="Helvetica"/>
              </a:rPr>
              <a:t>Conectar y automatizar: Connectors/MCP y Schedule</a:t>
            </a:r>
          </a:p>
        </p:txBody>
      </p:sp>
      <p:sp>
        <p:nvSpPr>
          <p:cNvPr id="24" name="TextBox 23"/>
          <p:cNvSpPr txBox="1"/>
          <p:nvPr/>
        </p:nvSpPr>
        <p:spPr>
          <a:xfrm>
            <a:off x="1164059" y="2866251"/>
            <a:ext cx="7499300" cy="180000"/>
          </a:xfrm>
          <a:prstGeom prst="rect">
            <a:avLst/>
          </a:prstGeom>
          <a:noFill/>
        </p:spPr>
        <p:txBody>
          <a:bodyPr wrap="square" anchor="t" lIns="0" rIns="0" tIns="0" bIns="0">
            <a:spAutoFit/>
          </a:bodyPr>
          <a:lstStyle/>
          <a:p>
            <a:r>
              <a:rPr sz="850">
                <a:solidFill>
                  <a:srgbClr val="3B3535"/>
                </a:solidFill>
                <a:latin typeface="Helvetica"/>
              </a:rPr>
              <a:t>Connectors/MCP y Schedule</a:t>
            </a:r>
          </a:p>
        </p:txBody>
      </p:sp>
      <p:sp>
        <p:nvSpPr>
          <p:cNvPr id="25" name="Rounded Rectangle 24"/>
          <p:cNvSpPr/>
          <p:nvPr/>
        </p:nvSpPr>
        <p:spPr>
          <a:xfrm>
            <a:off x="480603" y="3156944"/>
            <a:ext cx="250999" cy="250999"/>
          </a:xfrm>
          <a:prstGeom prst="roundRect">
            <a:avLst/>
          </a:prstGeom>
          <a:solidFill>
            <a:srgbClr val="F2EEEE"/>
          </a:solidFill>
          <a:ln>
            <a:noFill/>
          </a:ln>
          <a:effectLst/>
        </p:spPr>
        <p:txBody>
          <a:bodyPr rtlCol="0" anchor="ctr"/>
          <a:lstStyle/>
          <a:p>
            <a:pPr algn="ctr"/>
          </a:p>
        </p:txBody>
      </p:sp>
      <p:sp>
        <p:nvSpPr>
          <p:cNvPr id="26" name="TextBox 25"/>
          <p:cNvSpPr txBox="1"/>
          <p:nvPr/>
        </p:nvSpPr>
        <p:spPr>
          <a:xfrm>
            <a:off x="522387" y="3177817"/>
            <a:ext cx="167357" cy="209178"/>
          </a:xfrm>
          <a:prstGeom prst="rect">
            <a:avLst/>
          </a:prstGeom>
          <a:noFill/>
        </p:spPr>
        <p:txBody>
          <a:bodyPr wrap="none" anchor="ctr" lIns="0" rIns="0" tIns="0" bIns="0">
            <a:spAutoFit/>
          </a:bodyPr>
          <a:lstStyle/>
          <a:p>
            <a:pPr algn="ctr"/>
            <a:r>
              <a:rPr sz="1300" b="1">
                <a:solidFill>
                  <a:srgbClr val="3B3535"/>
                </a:solidFill>
                <a:latin typeface="Helvetica"/>
              </a:rPr>
              <a:t>5</a:t>
            </a:r>
          </a:p>
        </p:txBody>
      </p:sp>
      <p:sp>
        <p:nvSpPr>
          <p:cNvPr id="27" name="Rounded Rectangle 26"/>
          <p:cNvSpPr/>
          <p:nvPr/>
        </p:nvSpPr>
        <p:spPr>
          <a:xfrm>
            <a:off x="717314" y="3275263"/>
            <a:ext cx="334714" cy="14288"/>
          </a:xfrm>
          <a:prstGeom prst="roundRect">
            <a:avLst/>
          </a:prstGeom>
          <a:solidFill>
            <a:srgbClr val="D8D4D4"/>
          </a:solidFill>
          <a:ln>
            <a:noFill/>
          </a:ln>
          <a:effectLst/>
        </p:spPr>
        <p:txBody>
          <a:bodyPr rtlCol="0" anchor="ctr"/>
          <a:lstStyle/>
          <a:p>
            <a:pPr algn="ctr"/>
          </a:p>
        </p:txBody>
      </p:sp>
      <p:sp>
        <p:nvSpPr>
          <p:cNvPr id="28" name="TextBox 27"/>
          <p:cNvSpPr txBox="1"/>
          <p:nvPr/>
        </p:nvSpPr>
        <p:spPr>
          <a:xfrm>
            <a:off x="1164059" y="3166944"/>
            <a:ext cx="7400000" cy="220000"/>
          </a:xfrm>
          <a:prstGeom prst="rect">
            <a:avLst/>
          </a:prstGeom>
          <a:noFill/>
        </p:spPr>
        <p:txBody>
          <a:bodyPr wrap="square" anchor="t" lIns="0" rIns="0" tIns="0" bIns="0">
            <a:spAutoFit/>
          </a:bodyPr>
          <a:lstStyle/>
          <a:p>
            <a:r>
              <a:rPr sz="1150" b="1">
                <a:solidFill>
                  <a:srgbClr val="3B3535"/>
                </a:solidFill>
                <a:latin typeface="Helvetica"/>
              </a:rPr>
              <a:t>Compartir resultados: Live Artifacts</a:t>
            </a:r>
          </a:p>
        </p:txBody>
      </p:sp>
      <p:sp>
        <p:nvSpPr>
          <p:cNvPr id="29" name="TextBox 28"/>
          <p:cNvSpPr txBox="1"/>
          <p:nvPr/>
        </p:nvSpPr>
        <p:spPr>
          <a:xfrm>
            <a:off x="1164059" y="3406944"/>
            <a:ext cx="7499300" cy="180000"/>
          </a:xfrm>
          <a:prstGeom prst="rect">
            <a:avLst/>
          </a:prstGeom>
          <a:noFill/>
        </p:spPr>
        <p:txBody>
          <a:bodyPr wrap="square" anchor="t" lIns="0" rIns="0" tIns="0" bIns="0">
            <a:spAutoFit/>
          </a:bodyPr>
          <a:lstStyle/>
          <a:p>
            <a:r>
              <a:rPr sz="850">
                <a:solidFill>
                  <a:srgbClr val="3B3535"/>
                </a:solidFill>
                <a:latin typeface="Helvetica"/>
              </a:rPr>
              <a:t>Live Artifacts: compartir el resultado</a:t>
            </a:r>
          </a:p>
        </p:txBody>
      </p:sp>
      <p:sp>
        <p:nvSpPr>
          <p:cNvPr id="30" name="Rounded Rectangle 29"/>
          <p:cNvSpPr/>
          <p:nvPr/>
        </p:nvSpPr>
        <p:spPr>
          <a:xfrm>
            <a:off x="480603" y="3697637"/>
            <a:ext cx="250999" cy="250999"/>
          </a:xfrm>
          <a:prstGeom prst="roundRect">
            <a:avLst/>
          </a:prstGeom>
          <a:solidFill>
            <a:srgbClr val="F2EEEE"/>
          </a:solidFill>
          <a:ln>
            <a:noFill/>
          </a:ln>
          <a:effectLst/>
        </p:spPr>
        <p:txBody>
          <a:bodyPr rtlCol="0" anchor="ctr"/>
          <a:lstStyle/>
          <a:p>
            <a:pPr algn="ctr"/>
          </a:p>
        </p:txBody>
      </p:sp>
      <p:sp>
        <p:nvSpPr>
          <p:cNvPr id="31" name="TextBox 30"/>
          <p:cNvSpPr txBox="1"/>
          <p:nvPr/>
        </p:nvSpPr>
        <p:spPr>
          <a:xfrm>
            <a:off x="522387" y="3718510"/>
            <a:ext cx="167357" cy="209178"/>
          </a:xfrm>
          <a:prstGeom prst="rect">
            <a:avLst/>
          </a:prstGeom>
          <a:noFill/>
        </p:spPr>
        <p:txBody>
          <a:bodyPr wrap="none" anchor="ctr" lIns="0" rIns="0" tIns="0" bIns="0">
            <a:spAutoFit/>
          </a:bodyPr>
          <a:lstStyle/>
          <a:p>
            <a:pPr algn="ctr"/>
            <a:r>
              <a:rPr sz="1300" b="1">
                <a:solidFill>
                  <a:srgbClr val="3B3535"/>
                </a:solidFill>
                <a:latin typeface="Helvetica"/>
              </a:rPr>
              <a:t>6</a:t>
            </a:r>
          </a:p>
        </p:txBody>
      </p:sp>
      <p:sp>
        <p:nvSpPr>
          <p:cNvPr id="32" name="Rounded Rectangle 31"/>
          <p:cNvSpPr/>
          <p:nvPr/>
        </p:nvSpPr>
        <p:spPr>
          <a:xfrm>
            <a:off x="717314" y="3815956"/>
            <a:ext cx="334714" cy="14288"/>
          </a:xfrm>
          <a:prstGeom prst="roundRect">
            <a:avLst/>
          </a:prstGeom>
          <a:solidFill>
            <a:srgbClr val="D8D4D4"/>
          </a:solidFill>
          <a:ln>
            <a:noFill/>
          </a:ln>
          <a:effectLst/>
        </p:spPr>
        <p:txBody>
          <a:bodyPr rtlCol="0" anchor="ctr"/>
          <a:lstStyle/>
          <a:p>
            <a:pPr algn="ctr"/>
          </a:p>
        </p:txBody>
      </p:sp>
      <p:sp>
        <p:nvSpPr>
          <p:cNvPr id="33" name="TextBox 32"/>
          <p:cNvSpPr txBox="1"/>
          <p:nvPr/>
        </p:nvSpPr>
        <p:spPr>
          <a:xfrm>
            <a:off x="1164059" y="3707637"/>
            <a:ext cx="7400000" cy="220000"/>
          </a:xfrm>
          <a:prstGeom prst="rect">
            <a:avLst/>
          </a:prstGeom>
          <a:noFill/>
        </p:spPr>
        <p:txBody>
          <a:bodyPr wrap="square" anchor="t" lIns="0" rIns="0" tIns="0" bIns="0">
            <a:spAutoFit/>
          </a:bodyPr>
          <a:lstStyle/>
          <a:p>
            <a:r>
              <a:rPr sz="1150" b="1">
                <a:solidFill>
                  <a:srgbClr val="3B3535"/>
                </a:solidFill>
                <a:latin typeface="Helvetica"/>
              </a:rPr>
              <a:t>Advanced: Subagentes y Plugins</a:t>
            </a:r>
          </a:p>
        </p:txBody>
      </p:sp>
      <p:sp>
        <p:nvSpPr>
          <p:cNvPr id="34" name="TextBox 33"/>
          <p:cNvSpPr txBox="1"/>
          <p:nvPr/>
        </p:nvSpPr>
        <p:spPr>
          <a:xfrm>
            <a:off x="1164059" y="3947637"/>
            <a:ext cx="7499300" cy="180000"/>
          </a:xfrm>
          <a:prstGeom prst="rect">
            <a:avLst/>
          </a:prstGeom>
          <a:noFill/>
        </p:spPr>
        <p:txBody>
          <a:bodyPr wrap="square" anchor="t" lIns="0" rIns="0" tIns="0" bIns="0">
            <a:spAutoFit/>
          </a:bodyPr>
          <a:lstStyle/>
          <a:p>
            <a:r>
              <a:rPr sz="850">
                <a:solidFill>
                  <a:srgbClr val="3B3535"/>
                </a:solidFill>
                <a:latin typeface="Helvetica"/>
              </a:rPr>
              <a:t>Subagentes y Plugins</a:t>
            </a:r>
          </a:p>
        </p:txBody>
      </p:sp>
      <p:sp>
        <p:nvSpPr>
          <p:cNvPr id="35" name="Rounded Rectangle 34"/>
          <p:cNvSpPr/>
          <p:nvPr/>
        </p:nvSpPr>
        <p:spPr>
          <a:xfrm>
            <a:off x="480603" y="4238330"/>
            <a:ext cx="250999" cy="250999"/>
          </a:xfrm>
          <a:prstGeom prst="roundRect">
            <a:avLst/>
          </a:prstGeom>
          <a:solidFill>
            <a:srgbClr val="DA1B2E"/>
          </a:solidFill>
          <a:ln>
            <a:noFill/>
          </a:ln>
          <a:effectLst/>
        </p:spPr>
        <p:txBody>
          <a:bodyPr rtlCol="0" anchor="ctr"/>
          <a:lstStyle/>
          <a:p>
            <a:pPr algn="ctr"/>
          </a:p>
        </p:txBody>
      </p:sp>
      <p:sp>
        <p:nvSpPr>
          <p:cNvPr id="36" name="TextBox 35"/>
          <p:cNvSpPr txBox="1"/>
          <p:nvPr/>
        </p:nvSpPr>
        <p:spPr>
          <a:xfrm>
            <a:off x="522387" y="4259203"/>
            <a:ext cx="167357" cy="209178"/>
          </a:xfrm>
          <a:prstGeom prst="rect">
            <a:avLst/>
          </a:prstGeom>
          <a:noFill/>
        </p:spPr>
        <p:txBody>
          <a:bodyPr wrap="none" anchor="ctr" lIns="0" rIns="0" tIns="0" bIns="0">
            <a:spAutoFit/>
          </a:bodyPr>
          <a:lstStyle/>
          <a:p>
            <a:pPr algn="ctr"/>
            <a:r>
              <a:rPr sz="1300" b="1">
                <a:solidFill>
                  <a:srgbClr val="FFFFFF"/>
                </a:solidFill>
                <a:latin typeface="Helvetica"/>
              </a:rPr>
              <a:t>7</a:t>
            </a:r>
          </a:p>
        </p:txBody>
      </p:sp>
      <p:sp>
        <p:nvSpPr>
          <p:cNvPr id="37" name="Rounded Rectangle 36"/>
          <p:cNvSpPr/>
          <p:nvPr/>
        </p:nvSpPr>
        <p:spPr>
          <a:xfrm>
            <a:off x="717314" y="4356649"/>
            <a:ext cx="334714" cy="14288"/>
          </a:xfrm>
          <a:prstGeom prst="roundRect">
            <a:avLst/>
          </a:prstGeom>
          <a:solidFill>
            <a:srgbClr val="F33447"/>
          </a:solidFill>
          <a:ln>
            <a:noFill/>
          </a:ln>
          <a:effectLst/>
        </p:spPr>
        <p:txBody>
          <a:bodyPr rtlCol="0" anchor="ctr"/>
          <a:lstStyle/>
          <a:p>
            <a:pPr algn="ctr"/>
          </a:p>
        </p:txBody>
      </p:sp>
      <p:sp>
        <p:nvSpPr>
          <p:cNvPr id="38" name="TextBox 37"/>
          <p:cNvSpPr txBox="1"/>
          <p:nvPr/>
        </p:nvSpPr>
        <p:spPr>
          <a:xfrm>
            <a:off x="1164059" y="4248330"/>
            <a:ext cx="7400000" cy="220000"/>
          </a:xfrm>
          <a:prstGeom prst="rect">
            <a:avLst/>
          </a:prstGeom>
          <a:noFill/>
        </p:spPr>
        <p:txBody>
          <a:bodyPr wrap="square" anchor="t" lIns="0" rIns="0" tIns="0" bIns="0">
            <a:spAutoFit/>
          </a:bodyPr>
          <a:lstStyle/>
          <a:p>
            <a:r>
              <a:rPr sz="1150" b="1">
                <a:solidFill>
                  <a:srgbClr val="1F1E1E"/>
                </a:solidFill>
                <a:latin typeface="Helvetica"/>
              </a:rPr>
              <a:t>Conclusions</a:t>
            </a:r>
          </a:p>
        </p:txBody>
      </p:sp>
      <p:sp>
        <p:nvSpPr>
          <p:cNvPr id="39" name="TextBox 38"/>
          <p:cNvSpPr txBox="1"/>
          <p:nvPr/>
        </p:nvSpPr>
        <p:spPr>
          <a:xfrm>
            <a:off x="1164059" y="4488330"/>
            <a:ext cx="7499300" cy="180000"/>
          </a:xfrm>
          <a:prstGeom prst="rect">
            <a:avLst/>
          </a:prstGeom>
          <a:noFill/>
        </p:spPr>
        <p:txBody>
          <a:bodyPr wrap="square" anchor="t" lIns="0" rIns="0" tIns="0" bIns="0">
            <a:spAutoFit/>
          </a:bodyPr>
          <a:lstStyle/>
          <a:p>
            <a:r>
              <a:rPr sz="850">
                <a:solidFill>
                  <a:srgbClr val="3B3535"/>
                </a:solidFill>
                <a:latin typeface="Helvetica"/>
              </a:rPr>
              <a:t>El loop completo y la gobernanza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000353"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CONCLUSIONS</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600" b="1">
                <a:solidFill>
                  <a:srgbClr val="1F1E1E"/>
                </a:solidFill>
                <a:latin typeface="Helvetica"/>
              </a:rPr>
              <a:t>El loop completo y la idea para llevarse</a:t>
            </a:r>
          </a:p>
        </p:txBody>
      </p:sp>
      <p:sp>
        <p:nvSpPr>
          <p:cNvPr id="5" name="TextBox 4"/>
          <p:cNvSpPr txBox="1"/>
          <p:nvPr/>
        </p:nvSpPr>
        <p:spPr>
          <a:xfrm>
            <a:off x="457200" y="1261872"/>
            <a:ext cx="5029200" cy="3653027"/>
          </a:xfrm>
          <a:prstGeom prst="rect">
            <a:avLst/>
          </a:prstGeom>
          <a:noFill/>
        </p:spPr>
        <p:txBody>
          <a:bodyPr wrap="square" anchor="t" lIns="0" rIns="0" tIns="0" bIns="0">
            <a:spAutoFit/>
          </a:bodyPr>
          <a:lstStyle/>
          <a:p>
            <a:pPr>
              <a:lnSpc>
                <a:spcPct val="103000"/>
              </a:lnSpc>
              <a:spcBef>
                <a:spcPts val="0"/>
              </a:spcBef>
              <a:spcAft>
                <a:spcPts val="300"/>
              </a:spcAft>
            </a:pPr>
            <a:r>
              <a:rPr sz="1250" b="1">
                <a:solidFill>
                  <a:srgbClr val="DA1B2E"/>
                </a:solidFill>
                <a:latin typeface="Helvetica"/>
              </a:rPr>
              <a:t>▪  </a:t>
            </a:r>
            <a:r>
              <a:rPr sz="1250" b="0" i="0">
                <a:solidFill>
                  <a:srgbClr val="3B3535"/>
                </a:solidFill>
                <a:latin typeface="Helvetica"/>
              </a:rPr>
              <a:t>Lo que construimos, punta a punta — el loop de Atlas combinando todas las piezas:</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Las piezas, una línea cada una:</a:t>
            </a:r>
            <a:r>
              <a:rPr sz="1250" b="0" i="0">
                <a:solidFill>
                  <a:srgbClr val="3B3535"/>
                </a:solidFill>
                <a:latin typeface="Helvetica"/>
              </a:rPr>
              <a:t> Instrucciones (el contrato) · Projects (el lugar fijo) · Skills (enseñar una vez) · Connectors/MCP (las manos) · Schedule (que corra solo) · Live Artifacts (compartir el resultado).</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La idea para llevarse:</a:t>
            </a:r>
            <a:r>
              <a:rPr sz="1250" b="0" i="0">
                <a:solidFill>
                  <a:srgbClr val="3B3535"/>
                </a:solidFill>
                <a:latin typeface="Helvetica"/>
              </a:rPr>
              <a:t> </a:t>
            </a:r>
            <a:r>
              <a:rPr sz="1250" b="0" i="1">
                <a:solidFill>
                  <a:srgbClr val="3B3535"/>
                </a:solidFill>
                <a:latin typeface="Helvetica"/>
              </a:rPr>
              <a:t>"Todo lo que le explicás a Claude dos veces es una Skill que deberías escribir una vez."</a:t>
            </a:r>
            <a:r>
              <a:rPr sz="1250" b="0" i="0">
                <a:solidFill>
                  <a:srgbClr val="3B3535"/>
                </a:solidFill>
                <a:latin typeface="Helvetica"/>
              </a:rPr>
              <a:t> Y el gancho: </a:t>
            </a:r>
            <a:r>
              <a:rPr sz="1250" b="0" i="1">
                <a:solidFill>
                  <a:srgbClr val="3B3535"/>
                </a:solidFill>
                <a:latin typeface="Helvetica"/>
              </a:rPr>
              <a:t>"Acaban de automatizar un reporte que les iba a comer la mañana de cada lunes. ¿Qué otra tarea recurrente podrían delegarle a su propio Atlas?"</a:t>
            </a:r>
          </a:p>
        </p:txBody>
      </p:sp>
      <p:sp>
        <p:nvSpPr>
          <p:cNvPr id="6" name="Rounded Rectangle 5"/>
          <p:cNvSpPr/>
          <p:nvPr/>
        </p:nvSpPr>
        <p:spPr>
          <a:xfrm>
            <a:off x="5623560" y="1667031"/>
            <a:ext cx="3108960" cy="2842708"/>
          </a:xfrm>
          <a:prstGeom prst="roundRect">
            <a:avLst/>
          </a:prstGeom>
          <a:solidFill>
            <a:srgbClr val="F2EEEE"/>
          </a:solidFill>
          <a:ln>
            <a:noFill/>
          </a:ln>
          <a:effectLst/>
        </p:spPr>
        <p:txBody>
          <a:bodyPr rtlCol="0" anchor="ctr"/>
          <a:lstStyle/>
          <a:p>
            <a:pPr algn="ctr"/>
          </a:p>
        </p:txBody>
      </p:sp>
      <p:pic>
        <p:nvPicPr>
          <p:cNvPr id="7" name="Picture 6" descr="sc-1-1-loop-completo-atlas.png"/>
          <p:cNvPicPr>
            <a:picLocks noChangeAspect="1"/>
          </p:cNvPicPr>
          <p:nvPr/>
        </p:nvPicPr>
        <p:blipFill>
          <a:blip r:embed="rId2"/>
          <a:stretch>
            <a:fillRect/>
          </a:stretch>
        </p:blipFill>
        <p:spPr>
          <a:xfrm>
            <a:off x="5669280" y="1712751"/>
            <a:ext cx="3017520" cy="275126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57200" y="310896"/>
            <a:ext cx="1000353" cy="219456"/>
          </a:xfrm>
          <a:prstGeom prst="roundRect">
            <a:avLst/>
          </a:prstGeom>
          <a:solidFill>
            <a:srgbClr val="F9D2D6"/>
          </a:solidFill>
          <a:ln>
            <a:noFill/>
          </a:ln>
          <a:effectLst/>
        </p:spPr>
        <p:txBody>
          <a:bodyPr rtlCol="0" anchor="ctr" wrap="none" lIns="137160" rIns="137160" tIns="0" bIns="0"/>
          <a:lstStyle/>
          <a:p>
            <a:pPr algn="ctr"/>
            <a:r>
              <a:rPr sz="800" b="1">
                <a:solidFill>
                  <a:srgbClr val="3B3535"/>
                </a:solidFill>
                <a:latin typeface="Helvetica"/>
              </a:rPr>
              <a:t>CONCLUSIONS</a:t>
            </a:r>
          </a:p>
        </p:txBody>
      </p:sp>
      <p:sp>
        <p:nvSpPr>
          <p:cNvPr id="4" name="TextBox 3"/>
          <p:cNvSpPr txBox="1"/>
          <p:nvPr/>
        </p:nvSpPr>
        <p:spPr>
          <a:xfrm>
            <a:off x="457200" y="640080"/>
            <a:ext cx="8229600" cy="822960"/>
          </a:xfrm>
          <a:prstGeom prst="rect">
            <a:avLst/>
          </a:prstGeom>
          <a:noFill/>
        </p:spPr>
        <p:txBody>
          <a:bodyPr wrap="square" anchor="t" lIns="0" rIns="0" tIns="0" bIns="0">
            <a:spAutoFit/>
          </a:bodyPr>
          <a:lstStyle/>
          <a:p>
            <a:r>
              <a:rPr sz="2600" b="1">
                <a:solidFill>
                  <a:srgbClr val="1F1E1E"/>
                </a:solidFill>
                <a:latin typeface="Helvetica"/>
              </a:rPr>
              <a:t>Gobernanza y advertencias (antes de Q&amp;A)</a:t>
            </a:r>
          </a:p>
        </p:txBody>
      </p:sp>
      <p:sp>
        <p:nvSpPr>
          <p:cNvPr id="5" name="TextBox 4"/>
          <p:cNvSpPr txBox="1"/>
          <p:nvPr/>
        </p:nvSpPr>
        <p:spPr>
          <a:xfrm>
            <a:off x="457200" y="1261872"/>
            <a:ext cx="8229600" cy="3653027"/>
          </a:xfrm>
          <a:prstGeom prst="rect">
            <a:avLst/>
          </a:prstGeom>
          <a:noFill/>
        </p:spPr>
        <p:txBody>
          <a:bodyPr wrap="square" anchor="t" lIns="0" rIns="0" tIns="0" bIns="0">
            <a:spAutoFit/>
          </a:bodyPr>
          <a:lstStyle/>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Cowork no tiene audit trail</a:t>
            </a:r>
            <a:r>
              <a:rPr sz="1250" b="0" i="0">
                <a:solidFill>
                  <a:srgbClr val="3B3535"/>
                </a:solidFill>
                <a:latin typeface="Helvetica"/>
              </a:rPr>
              <a:t> — no es apto para datos regulados o sensibles.</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Toda salida es un borrador</a:t>
            </a:r>
            <a:r>
              <a:rPr sz="1250" b="0" i="0">
                <a:solidFill>
                  <a:srgbClr val="3B3535"/>
                </a:solidFill>
                <a:latin typeface="Helvetica"/>
              </a:rPr>
              <a:t> — verificá cifras, citas y afirmaciones contra la fuente.</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No metas datos confidenciales / PII / bajo NDA</a:t>
            </a:r>
            <a:r>
              <a:rPr sz="1250" b="0" i="0">
                <a:solidFill>
                  <a:srgbClr val="3B3535"/>
                </a:solidFill>
                <a:latin typeface="Helvetica"/>
              </a:rPr>
              <a:t> en la superficie equivocada.</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Reproducibilidad:</a:t>
            </a:r>
            <a:r>
              <a:rPr sz="1250" b="0" i="0">
                <a:solidFill>
                  <a:srgbClr val="3B3535"/>
                </a:solidFill>
                <a:latin typeface="Helvetica"/>
              </a:rPr>
              <a:t> mantené juntos prompt + entradas + salidas, para que el trabajo sea auditable.</a:t>
            </a:r>
          </a:p>
          <a:p>
            <a:pPr>
              <a:lnSpc>
                <a:spcPct val="103000"/>
              </a:lnSpc>
              <a:spcBef>
                <a:spcPts val="0"/>
              </a:spcBef>
              <a:spcAft>
                <a:spcPts val="300"/>
              </a:spcAft>
            </a:pPr>
            <a:r>
              <a:rPr sz="1250" b="1">
                <a:solidFill>
                  <a:srgbClr val="DA1B2E"/>
                </a:solidFill>
                <a:latin typeface="Helvetica"/>
              </a:rPr>
              <a:t>▪  </a:t>
            </a:r>
            <a:r>
              <a:rPr sz="1250" b="1" i="0">
                <a:solidFill>
                  <a:srgbClr val="1F1E1E"/>
                </a:solidFill>
                <a:latin typeface="Helvetica"/>
              </a:rPr>
              <a:t>Capas de guardarraíles:</a:t>
            </a:r>
            <a:r>
              <a:rPr sz="1250" b="0" i="0">
                <a:solidFill>
                  <a:srgbClr val="3B3535"/>
                </a:solidFill>
                <a:latin typeface="Helvetica"/>
              </a:rPr>
              <a:t> permisos de carpeta reglas en Instrucciones solo plugins verificados revisión humana.</a:t>
            </a:r>
          </a:p>
          <a:p>
            <a:pPr>
              <a:lnSpc>
                <a:spcPct val="103000"/>
              </a:lnSpc>
              <a:spcBef>
                <a:spcPts val="0"/>
              </a:spcBef>
              <a:spcAft>
                <a:spcPts val="300"/>
              </a:spcAft>
            </a:pPr>
            <a:r>
              <a:rPr sz="1250" b="1">
                <a:solidFill>
                  <a:srgbClr val="DA1B2E"/>
                </a:solidFill>
                <a:latin typeface="Helvetica"/>
              </a:rPr>
              <a:t>▪  </a:t>
            </a:r>
            <a:r>
              <a:rPr sz="1250" b="0" i="1">
                <a:solidFill>
                  <a:srgbClr val="3B3535"/>
                </a:solidFill>
                <a:latin typeface="Helvetica"/>
              </a:rPr>
              <a:t>Contexto biomédico:</a:t>
            </a:r>
            <a:r>
              <a:rPr sz="1250" b="0" i="0">
                <a:solidFill>
                  <a:srgbClr val="3B3535"/>
                </a:solidFill>
                <a:latin typeface="Helvetica"/>
              </a:rPr>
              <a:t> lo anterior es especialmente relevante si alguna vez aplican esto con datos de pacientes — Cowork no es la herramienta para datos clínicos sensibles.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2026-05-22T22:59:23Z</dcterms:created>
  <dcterms:modified xsi:type="dcterms:W3CDTF">2026-05-22T22:59:23Z</dcterms:modified>
</cp:coreProperties>
</file>