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Lst>
  <p:notesMasterIdLst>
    <p:notesMasterId r:id="rId55"/>
  </p:notesMasterIdLst>
  <p:sldSz cx="9144000" cy="5143500"/>
  <p:notesSz cx="5143500" cy="9144000"/>
  <p:embeddedFontLst>
    <p:embeddedFont>
      <p:font typeface="Roboto Mono Medium"/>
      <p:regular r:id="rId60"/>
    </p:embeddedFont>
    <p:embeddedFont>
      <p:font typeface="Roboto Mono Bold"/>
      <p:regular r:id="rId61"/>
    </p:embeddedFont>
    <p:embeddedFont>
      <p:font typeface="Roboto"/>
      <p:regular r:id="rId62"/>
    </p:embeddedFont>
    <p:embeddedFont>
      <p:font typeface="Roboto Bold"/>
      <p:regular r:id="rId6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ubicando el terreno: no son tres productos distintos, es el mismo agente con tres caras. Lo único que cambia es la superficie y para quién está pensada. Dejar claro desde el minuto cero que hoy trabajamos en Cowork — la cara pensada para quien no vive en una terminal. Claude Code aparece solo como contraste; no vamos a entrar en sus internals.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beat de "¿y a mí por qué me importa?", colocado justo después de ubicar las tres superficies. Hasta acá la audiencia sabe *qué* es Cowork; esta slide responde *por qué debería invertir su atención*. Tono motivacional y de alto nivel — la mecánica viene después.</a:t>
            </a:r>
          </a:p>
          <a:p>
            <a:r>
              <a:t>El gancho que mejor funciona es la analogía del Excel, pero hay que decirla con cuidado: durante unas cuatro décadas, saber Excel fue *la* habilidad base del trabajo de oficina — no programabas, pero con Excel resolvías el 80% del trabajo de conocimiento. La tesis de varios analistas de la industria es que las herramientas agénticas (Claude Code para los que programan, Cowork para los que no) están en camino de ser esa nueva habilidad base. Atribuirlo explícitamente como encuadre de analistas/industria — "hay quien lo llama el nuevo Excel" — y NO como un claim oficial de Anthropic.</a:t>
            </a:r>
          </a:p>
          <a:p>
            <a:r>
              <a:t>Lo que sí es de Anthropic, y conviene citarlo como su framing propio, es "Claude Code para el resto de tu trabajo": la idea de que cualquier knowledge worker sienta con Cowork lo que los ingenieros ya sienten con Claude Code. Subrayar que Cowork no salió de la nada — es la generalización de algo que ya funcionó muy bien primero con developers.</a:t>
            </a:r>
          </a:p>
          <a:p>
            <a:r>
              <a:t>Cerrar aterrizándolo en la audiencia: ellos son ingenieros biomédicos, no necesariamente developers, y exactamente por eso esto les sirve — la habilidad base del trabajo del conocimiento se está redefiniendo ahora mismo, y llegar temprano es ventaja. Después de este beat motivacional pasamos a la mecánica: cómo se delega de verdad (slide 1.3). Tiempo objetivo: ~4-5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concepto-ancla de la charla. Si se llevan una sola idea, que sea esta: el valor no está en escribir mejores mensajes, está en aprender a delegar un resultado y guiar el proceso. Usar la tabla para hacerlo concreto: la salida deja de ser texto en una ventana y pasa a ser archivos reales en tu disco. Anticipar la misión: vamos a "contratar" a Atlas, un analista de mercado virtual, y entrenarlo una vez para que después trabaje solo. Como cierre del concepto, citar el framing de la propia Anthropic — "menos una sesión de chat, más asignarle tareas a un colega" — para reforzar que esto no es marketing nuestro sino la forma en que el producto está pensado.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Momento de demo en vivo — bajar de los conceptos a la app real. Abrir Cowork y hacer un recorrido de 2-3 minutos señalando: dónde está el selector de modo (Ask before acting por defecto), cómo se concede una carpeta de trabajo, y dónde viven Scheduled y Live artifacts (que vamos a usar más adelante). Demo sugerida de arranque (la del deck): "Organizá esta carpeta de 8 PDFs por tema y dame un resumen de un párrafo de cada uno." Dejarlos ver a Claude planificar, tocar archivos y entregar — sin explicar la mecánica todavía. La imagen anotada queda como respaldo por si la demo en vivo falla. Tiempo objetivo: ~8 min (incluida la demo).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slide es el mapa de toda la sesión: antes de entrar en cada pieza, dar la foto completa. El gancho es el problema, no la feature — empezar desde abajo: "hoy hacés todo a mano, un mensaje a la vez". Cada bloque nace de una frustración concreta y la resuelve: no me quiero repetir el contexto → Instrucciones; no quiero perder los archivos → Projects; no quiero repetir la misma tarea → Skills; quiero datos de mis herramientas → Connectors/MCP; quiero que corra solo → Schedule; quiero compartir el resultado vivo → Live Artifacts. Subrayar la dirección: cuanto más arriba, menos trabajo manual y más entrega autónoma.</a:t>
            </a:r>
          </a:p>
          <a:p>
            <a:r>
              <a:t>Cuidado con la metáfora: NO es una pirámide donde cada capa depende de todas las de abajo. Son bloques que se apilan y se combinan — usás solo los que tu tarea necesita. Por eso cambiamos el dibujo de pirámide a bloques apilados.</a:t>
            </a:r>
          </a:p>
          <a:p>
            <a:r>
              <a:t>Decir explícitamente la promesa de roadmap: "vamos a recorrer cada uno de estos bloques, uno por uno, en el resto de la charla, en este orden" — y que pueden volver a esta slide como "estamos acá" entre secciones para ubicarse. Al final, la pila entera es Atlas.</a:t>
            </a:r>
          </a:p>
          <a:p>
            <a:r>
              <a:t>Plugins como transversal: marcar que Plugins NO es un bloque más en la pila, sino la banda que la envuelve — la forma de empaquetar y distribuir varias de estas piezas a la vez (a un equipo, p. ej.). No desarrollarlo acá: lo vemos en la Sección 6. Tiempo objetivo: ~3-4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Conectar con el paradigma: en lugar de re-explicarle a Claude el contexto cada vez, lo escribís una vez en las Instrucciones y queda fijo. Mostrar el texto real de las Instrucciones de Atlas como ejemplo concreto — destacar la regla de oro del disclaimer financiero, que es exactamente el tipo de regla no negociable que conviene pinear acá. Dónde viven: en el panel de contexto del Project (en la GUI) — no es un archivo que edités a mano; lo escribís en el panel y queda asociado al Project.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Project es el contenedor de todo lo demás: Instrucciones, archivos, memoria. En la misión, el Project "Inteligencia de Mercado Semanal" apunta a la carpeta `Documentos/Atlas-Mercado`. Subrayar dos puntos prácticos: (1) los chats no se hablan entre sí dentro del Project — si querés que recuerde algo, va a las Instrucciones o a la base de conocimiento; (2) el control de qué carpetas toca Claude es el folder picker del sistema operativo, que es a la vez la garantía de seguridad (Cowork solo ve lo que le concedés) y el límite. La slide siguiente muestra ese selector y el panel de contexto en pantalla.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apoyo visual, corta y concreta — bajar a pantalla lo que en la slide anterior fue conceptual. Mostrar las dos capturas: (1) el folder picker del sistema cuando concedés una carpeta; (2) el panel de contexto del Project con sus capas. El mensaje de seguridad es el que no hay que saltear: Cowork solo ve lo que le concedés, así que la elección de carpeta ES el control de privacidad — nunca una carpeta con datos sensibles. Aterrizarlo en la misión: Atlas trabaja sobre `Documentos/Atlas-Mercado`, nada más. Tiempo objetivo: ~3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Skill es la materialización directa del paradigma "enseñá una vez, reutilizá siempre". Mostrar los dos caminos reales en Cowork: (1) pedírsela en lenguaje natural — Claude escribe el `SKILL.md`, y vos la habilitás en Customize → Skills; (2) subir un ZIP de la carpeta de la Skill por Customize → Skills. Aclarar de entrada que Cowork es GUI: no hay slash commands. El punto que NO hay que saltear es la trampa del Save: es un error real y muy común — pedís la Skill, Claude escribe el archivo, pero si no le das Save / enable no queda habilitada y parece que "no funciona". Mencionar que las Skills requieren Code execution (Settings → Capabilities). Usar `reporte-semanal` como ejemplo concreto: convierte varios archivos desordenados en un reporte prolijo. Tiempo objetivo: ~8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Sideway breve y de alto nivel — explícitamente NO un deep dive de formato de archivos. La idea a transmitir: en el mundo LLM, la configuración es texto plano (Markdown) porque el modelo lee texto, y la metadata (el header YAML) le dice al sistema qué es cada archivo y cuándo usarlo. El ejemplo más tangible es la `description` de una Skill: no es decoración, es lo que decide si la Skill se activa o no para un pedido dado. Cerrar con la portabilidad: el mismo `SKILL.md` sirve en distintas herramientas. Mantenerlo en ~5 min — es contexto, no el plato principal.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Slide-ejemplo que aterriza el sideway de MD/metadata. Mostrar el `SKILL.md` partido en dos zonas: arriba el header YAML (`name`, `description`) entre `---`; abajo las instrucciones en Markdown. El punto a martillar: la `description` no es decoración — es exactamente lo que el sistema lee para decidir si esta Skill aplica a tu pedido (activación semántica). Usar `reporte-semanal` para que sea concreto. Mantenerlo alto nivel: es para que "vean cómo se ve", no un tutorial de formato. Tiempo objetivo: ~3-4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Desarmar el miedo: conectar un servicio externo no es programar. En Cowork es literalmente buscar el servicio en el directorio y darle Connect — como conectás Gmail. Usar el diagrama para explicar qué pasa por debajo: el agente pide datos, el Connector los trae vía el protocolo MCP. MCP es el estándar que hace que cualquier plataforma con API pueda volverse conversacional. Ejemplo de la misión: MT Newswires (noticias de mercado) y Gmail, ambos de un clic. Aclarar que en Cowork no hay archivo de config: todo por la UI.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práctica: mostrar las dos capturas — el directorio de Connectors y la pantalla de conexión — para desarmar el miedo de "esto es técnico". El mensaje es: conectar un servicio es buscar + Connect + autorizar, igual que cuando conectás Gmail a cualquier app. Ejemplos de la misión: MT Newswires (noticias) y Gmail (borradores), ambos de un clic. Recordar que en Cowork todo esto es por la UI, no por archivos de config. Tiempo objetivo: ~5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Cowork pasa de herramienta a empleado: describís el trabajo una vez y corre solo. Es el momento en que Atlas "trabaja mientras vos dormís" — pero con un asterisco. El punto crítico — y un error clásico — es que el Schedule de Cowork corre LOCAL, en tu máquina, no en la nube de Anthropic: solo se dispara con la computadora despierta y la app abierta; si estaba dormida/cerrada, se saltea y corre apenas volvés (con aviso). Dejarlo bien claro para que nadie espere que su laptop apagada genere el reporte del lunes. (Si alguien pregunta por corridas en la nube: sí existen agentes programados hosteados, pero son otra cosa, fuera del alcance de esta charla.) Para la demo, usar "Run on demand" en lugar de esperar la cadencia real.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el círculo de la misión: el jefe quería el reporte de dos formas — el email (que ya resolvimos con Gmail + Schedule) y una página siempre actualizada. El Live Artifact es esa página. Explicar la distinción clave: un Artifact estándar es estático; un Live Artifact persiste en la pestaña Live artifacts, se refresca con datos actuales al abrirlo y guarda versiones. Ser honesto con el estado actual del compartir, porque acá había una confusión que corregimos: hoy los Live Artifacts NO son compartibles (es del roadmap, no de hoy), son locales —no en la nube, no te siguen entre dispositivos— y usan los connectors que aprobaste sin volver a preguntar. (Nota: versiones previas de este material mencionaban un "ShareDuo" con URL pública — eso NO es una capacidad de Cowork; quitado.) Mostrar el boceto del tablero — el "napkin sketch" del jefe — como el spec de diseño que el artifact reproduce. Tiempo objetivo: ~10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Nivel avanzado — presentarlo como "para cuando crezcas". La distinción mental útil: si la sub-tarea es chica y querés verla, es una Skill; si es grande o ruidosa y querés que corra aparte sin ensuciar tu conversación, es un Subagente. El ejemplo del deck (8 propuestas de proveedores revisadas en paralelo por tres especialistas → tabla combinada) ilustra el fan-out. Cómo se agrega: explicarlo en paralelo a las Skills — un subagente se define con una descripción (cuándo usarlo) + instrucciones; le pedís a Claude que lo arme (igual que una Skill, se gestiona en Customize) o viene dentro de un Plugin. Mantenerlo alto nivel: no entrar en rutas de archivos ni internals de persistencia. Tiempo objetivo: ~7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avanzado con la idea de empaquetado: cuando un workflow está maduro (varias skills + connectors + agentes), un Plugin lo vuelve instalable de una. El punto importante para Cowork: la forma robusta de distribuir una skill (o un agente) a otros es dentro de un plugin; los plugins distribuidos aparecen tanto en Chat como en Cowork. Mencionar los marketplaces oficiales como punto de partida. Tiempo objetivo: ~6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del bloque avanzado, orientada a quien algún día administre una cuenta de equipo. La idea: los Plugins no son solo para instalar de a uno; en una cuenta Team, un Owner puede armar un marketplace privado de la organización y repartir workflows a todo el equipo. Recorrer el ciclo con el diagrama: el Owner crea el marketplace y sube plugins (ZIP o, mejor, sincronizando un repo de GitHub que auto-actualiza), fija cómo se instala cada uno (opcional / auto-install / provisionado), y desde ahí se distribuye —aparece tanto en chat como en Cowork— y los miembros lo habilitan desde su directorio, con las actualizaciones sincronizadas. Mantenerlo alto nivel: es el "para cuando esto escala a un equipo". Tiempo objetivo: ~4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integrador: mostrar el diagrama del loop completo para que vean cómo cada pieza que aprendimos se engancha con la siguiente. Repasar las seis piezas en una línea cada una. Cerrar con las dos frases ancla: la de la Skill ("enseñá una vez") y el gancho que los invita a pensar qué tarea propia delegarían. Tiempo objetivo: ~5 min + Q&amp;A.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responsable, breve pero no opcional. Para esta audiencia (bioingeniería), conectar explícitamente: Cowork es excelente para trabajo recurrente de oficina, pero NO para datos de pacientes ni nada regulado — no tiene audit trail. Recordar que toda salida es un borrador que hay que verificar. Dejar esto antes de abrir Q&amp;A. Tiempo objetivo: ~3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mplate Separator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55" Type="http://schemas.openxmlformats.org/officeDocument/2006/relationships/theme" Target="../theme/theme1.xml"/><Relationship Id="rId56"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5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536823"/>
            <a:ext cx="8151763" cy="1948458"/>
          </a:xfrm>
          <a:prstGeom prst="rect">
            <a:avLst/>
          </a:prstGeom>
          <a:noFill/>
          <a:ln/>
        </p:spPr>
        <p:txBody>
          <a:bodyPr wrap="square" lIns="0" tIns="0" rIns="0" bIns="0" rtlCol="0" anchor="t">
            <a:normAutofit/>
          </a:bodyPr>
          <a:lstStyle/>
          <a:p>
            <a:pPr algn="l" indent="0" marL="0">
              <a:lnSpc>
                <a:spcPct val="104000"/>
              </a:lnSpc>
              <a:buNone/>
            </a:pPr>
            <a:r>
              <a:rPr lang="en-US" sz="4050" dirty="0">
                <a:solidFill>
                  <a:srgbClr val="1F1E1E"/>
                </a:solidFill>
                <a:latin typeface="Helvetica Bold" pitchFamily="34" charset="0"/>
                <a:ea typeface="Roboto Mono Medium" pitchFamily="34" charset="-122"/>
                <a:cs typeface="Roboto Mono Medium" pitchFamily="34" charset="-120"/>
              </a:rPr>
              <a:t>AI Generativa para Biomedicina</a:t>
            </a:r>
            <a:endParaRPr lang="en-US" sz="4050" dirty="0"/>
          </a:p>
        </p:txBody>
      </p:sp>
      <p:sp>
        <p:nvSpPr>
          <p:cNvPr id="3" name="Text 1"/>
          <p:cNvSpPr/>
          <p:nvPr/>
        </p:nvSpPr>
        <p:spPr>
          <a:xfrm>
            <a:off x="496119" y="2677269"/>
            <a:ext cx="6216923" cy="235297"/>
          </a:xfrm>
          <a:prstGeom prst="rect">
            <a:avLst/>
          </a:prstGeom>
          <a:noFill/>
          <a:ln/>
        </p:spPr>
        <p:txBody>
          <a:bodyPr wrap="none" lIns="0" tIns="0" rIns="0" bIns="0" rtlCol="0" anchor="t"/>
          <a:lstStyle/>
          <a:p>
            <a:pPr algn="l" indent="0" marL="0">
              <a:lnSpc>
                <a:spcPct val="104000"/>
              </a:lnSpc>
              <a:buNone/>
            </a:pPr>
            <a:r>
              <a:rPr lang="en-US" sz="1450" dirty="0">
                <a:solidFill>
                  <a:srgbClr val="1F1E1E"/>
                </a:solidFill>
                <a:latin typeface="Helvetica Bold" pitchFamily="34" charset="0"/>
                <a:ea typeface="Roboto Mono Medium" pitchFamily="34" charset="-122"/>
                <a:cs typeface="Roboto Mono Medium" pitchFamily="34" charset="-120"/>
              </a:rPr>
              <a:t>Claude Cowork para el día a día</a:t>
            </a:r>
            <a:endParaRPr lang="en-US" sz="1450" dirty="0"/>
          </a:p>
        </p:txBody>
      </p:sp>
      <p:sp>
        <p:nvSpPr>
          <p:cNvPr id="4" name="Text 2"/>
          <p:cNvSpPr/>
          <p:nvPr/>
        </p:nvSpPr>
        <p:spPr>
          <a:xfrm>
            <a:off x="496119" y="3219748"/>
            <a:ext cx="3295799" cy="560933"/>
          </a:xfrm>
          <a:prstGeom prst="rect">
            <a:avLst/>
          </a:prstGeom>
          <a:noFill/>
          <a:ln/>
        </p:spPr>
        <p:txBody>
          <a:bodyPr wrap="square" lIns="0" tIns="0" rIns="0" bIns="0" rtlCol="0" anchor="t"/>
          <a:lstStyle/>
          <a:p>
            <a:pPr algn="l" indent="0" marL="0">
              <a:lnSpc>
                <a:spcPct val="123000"/>
              </a:lnSpc>
              <a:spcAft>
                <a:spcPts val="900"/>
              </a:spcAft>
              <a:buNone/>
            </a:pPr>
            <a:r>
              <a:rPr lang="en-US" sz="1150" dirty="0">
                <a:solidFill>
                  <a:srgbClr val="3B3535"/>
                </a:solidFill>
                <a:latin typeface="Helvetica" pitchFamily="34" charset="0"/>
                <a:ea typeface="Roboto" pitchFamily="34" charset="-122"/>
                <a:cs typeface="Roboto" pitchFamily="34" charset="-120"/>
              </a:rPr>
              <a:t>Autor: Paulo Veiga, Docente de Universidad Austral</a:t>
            </a:r>
            <a:endParaRPr lang="en-US" sz="1150" dirty="0"/>
          </a:p>
          <a:p>
            <a:pPr algn="l" indent="0" marL="0">
              <a:lnSpc>
                <a:spcPct val="123000"/>
              </a:lnSpc>
              <a:buNone/>
            </a:pPr>
            <a:r>
              <a:rPr lang="en-US" sz="1150" dirty="0">
                <a:solidFill>
                  <a:srgbClr val="3B3535"/>
                </a:solidFill>
                <a:latin typeface="Helvetica" pitchFamily="34" charset="0"/>
                <a:ea typeface="Roboto" pitchFamily="34" charset="-122"/>
                <a:cs typeface="Roboto" pitchFamily="34" charset="-120"/>
              </a:rPr>
              <a:t>Última Modificación: Junio, 2026</a:t>
            </a:r>
            <a:endParaRPr lang="en-US" sz="1150" dirty="0"/>
          </a:p>
        </p:txBody>
      </p:sp>
      <p:pic>
        <p:nvPicPr>
          <p:cNvPr id="5" name="Image 0" descr="preencoded.png">    </p:cNvPr>
          <p:cNvPicPr>
            <a:picLocks noChangeAspect="1"/>
          </p:cNvPicPr>
          <p:nvPr/>
        </p:nvPicPr>
        <p:blipFill>
          <a:blip r:embed="rId1"/>
          <a:stretch>
            <a:fillRect/>
          </a:stretch>
        </p:blipFill>
        <p:spPr>
          <a:xfrm>
            <a:off x="7183562" y="3248546"/>
            <a:ext cx="1469008" cy="12140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dirty="0">
                <a:solidFill>
                  <a:srgbClr val="1F1E1E"/>
                </a:solidFill>
                <a:latin typeface="Helvetica Bold" pitchFamily="34" charset="0"/>
                <a:ea typeface="Roboto Mono Medium" pitchFamily="34" charset="-122"/>
                <a:cs typeface="Roboto Mono Medium" pitchFamily="34" charset="-120"/>
              </a:rPr>
              <a:t>Agenda</a:t>
            </a:r>
            <a:endParaRPr lang="en-US" sz="2150" dirty="0"/>
          </a:p>
        </p:txBody>
      </p:sp>
      <p:sp>
        <p:nvSpPr>
          <p:cNvPr id="3" name="Shape 1"/>
          <p:cNvSpPr/>
          <p:nvPr/>
        </p:nvSpPr>
        <p:spPr>
          <a:xfrm>
            <a:off x="606103" y="994172"/>
            <a:ext cx="14288" cy="3644354"/>
          </a:xfrm>
          <a:prstGeom prst="roundRect">
            <a:avLst>
              <a:gd name="adj" fmla="val 39999"/>
            </a:avLst>
          </a:prstGeom>
          <a:solidFill>
            <a:srgbClr val="D8D4D4"/>
          </a:solidFill>
          <a:ln/>
        </p:spPr>
        <p:txBody>
          <a:bodyPr/>
          <a:p/>
        </p:txBody>
      </p:sp>
      <p:sp>
        <p:nvSpPr>
          <p:cNvPr id="4" name="Shape 2"/>
          <p:cNvSpPr/>
          <p:nvPr/>
        </p:nvSpPr>
        <p:spPr>
          <a:xfrm>
            <a:off x="717314" y="1112490"/>
            <a:ext cx="334714" cy="14288"/>
          </a:xfrm>
          <a:prstGeom prst="roundRect">
            <a:avLst>
              <a:gd name="adj" fmla="val 39999"/>
            </a:avLst>
          </a:prstGeom>
          <a:solidFill>
            <a:srgbClr val="F33447"/>
          </a:solidFill>
          <a:ln/>
        </p:spPr>
        <p:txBody>
          <a:bodyPr/>
          <a:p/>
        </p:txBody>
      </p:sp>
      <p:sp>
        <p:nvSpPr>
          <p:cNvPr id="5" name="Shape 3"/>
          <p:cNvSpPr/>
          <p:nvPr/>
        </p:nvSpPr>
        <p:spPr>
          <a:xfrm>
            <a:off x="480603" y="994172"/>
            <a:ext cx="250999" cy="250999"/>
          </a:xfrm>
          <a:prstGeom prst="roundRect">
            <a:avLst>
              <a:gd name="adj" fmla="val 2277"/>
            </a:avLst>
          </a:prstGeom>
          <a:solidFill>
            <a:srgbClr val="DA1B2E"/>
          </a:solidFill>
          <a:ln w="4763">
            <a:solidFill>
              <a:srgbClr val="F33447"/>
            </a:solidFill>
            <a:prstDash val="solid"/>
          </a:ln>
        </p:spPr>
        <p:txBody>
          <a:bodyPr/>
          <a:p/>
        </p:txBody>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FFFFFF"/>
                </a:solidFill>
                <a:latin typeface="Helvetica Bold" pitchFamily="34" charset="0"/>
                <a:ea typeface="Roboto Mono Medium" pitchFamily="34" charset="-122"/>
                <a:cs typeface="Roboto Mono Medium" pitchFamily="34" charset="-120"/>
              </a:rPr>
              <a:t>1</a:t>
            </a:r>
            <a:endParaRPr lang="en-US" sz="1300" dirty="0"/>
          </a:p>
        </p:txBody>
      </p:sp>
      <p:sp>
        <p:nvSpPr>
          <p:cNvPr id="7" name="Text 5"/>
          <p:cNvSpPr/>
          <p:nvPr/>
        </p:nvSpPr>
        <p:spPr>
          <a:xfrm>
            <a:off x="1164059" y="103249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De chat a agente: dónde encaja Cowork</a:t>
            </a:r>
            <a:endParaRPr lang="en-US" sz="1050"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Del chat a delegar un resultado: dónde encaja Cowork</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txBody>
          <a:bodyPr/>
          <a:p/>
        </p:txBody>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txBody>
          <a:bodyPr/>
          <a:p/>
        </p:txBody>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2</a:t>
            </a:r>
            <a:endParaRPr lang="en-US" sz="1300" dirty="0"/>
          </a:p>
        </p:txBody>
      </p:sp>
      <p:sp>
        <p:nvSpPr>
          <p:cNvPr id="12" name="Text 10"/>
          <p:cNvSpPr/>
          <p:nvPr/>
        </p:nvSpPr>
        <p:spPr>
          <a:xfrm>
            <a:off x="1164059" y="157318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Lo básico: interfaz, Instrucciones y Projects</a:t>
            </a:r>
            <a:endParaRPr lang="en-US" sz="1050"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La interfaz, las Instrucciones y los Projects</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txBody>
          <a:bodyPr/>
          <a:p/>
        </p:txBody>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txBody>
          <a:bodyPr/>
          <a:p/>
        </p:txBody>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3</a:t>
            </a:r>
            <a:endParaRPr lang="en-US" sz="1300" dirty="0"/>
          </a:p>
        </p:txBody>
      </p:sp>
      <p:sp>
        <p:nvSpPr>
          <p:cNvPr id="17" name="Text 15"/>
          <p:cNvSpPr/>
          <p:nvPr/>
        </p:nvSpPr>
        <p:spPr>
          <a:xfrm>
            <a:off x="1164059" y="2113880"/>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Extender Cowork: Skills y archivos MD / metadata</a:t>
            </a:r>
            <a:endParaRPr lang="en-US" sz="1050"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Skills y por qué los archivos MD / metadata son el lenguaje común</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txBody>
          <a:bodyPr/>
          <a:p/>
        </p:txBody>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txBody>
          <a:bodyPr/>
          <a:p/>
        </p:txBody>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4</a:t>
            </a:r>
            <a:endParaRPr lang="en-US" sz="1300" dirty="0"/>
          </a:p>
        </p:txBody>
      </p:sp>
      <p:sp>
        <p:nvSpPr>
          <p:cNvPr id="22" name="Text 20"/>
          <p:cNvSpPr/>
          <p:nvPr/>
        </p:nvSpPr>
        <p:spPr>
          <a:xfrm>
            <a:off x="1164059" y="2654573"/>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Conectar y automatizar: Connectors/MCP y Schedule</a:t>
            </a:r>
            <a:endParaRPr lang="en-US" sz="1050"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Connectors/MCP y tareas programadas con Schedule</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txBody>
          <a:bodyPr/>
          <a:p/>
        </p:txBody>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txBody>
          <a:bodyPr/>
          <a:p/>
        </p:txBody>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5</a:t>
            </a:r>
            <a:endParaRPr lang="en-US" sz="1300" dirty="0"/>
          </a:p>
        </p:txBody>
      </p:sp>
      <p:sp>
        <p:nvSpPr>
          <p:cNvPr id="27" name="Text 25"/>
          <p:cNvSpPr/>
          <p:nvPr/>
        </p:nvSpPr>
        <p:spPr>
          <a:xfrm>
            <a:off x="1164059" y="319526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Compartir resultados: Live Artifacts</a:t>
            </a:r>
            <a:endParaRPr lang="en-US" sz="1050"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Live Artifacts: compartir el resultado vivo</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txBody>
          <a:bodyPr/>
          <a:p/>
        </p:txBody>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txBody>
          <a:bodyPr/>
          <a:p/>
        </p:txBody>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6</a:t>
            </a:r>
            <a:endParaRPr lang="en-US" sz="1300" dirty="0"/>
          </a:p>
        </p:txBody>
      </p:sp>
      <p:sp>
        <p:nvSpPr>
          <p:cNvPr id="32" name="Text 30"/>
          <p:cNvSpPr/>
          <p:nvPr/>
        </p:nvSpPr>
        <p:spPr>
          <a:xfrm>
            <a:off x="1164059" y="373595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Advanced: Subagentes y Plugins</a:t>
            </a:r>
            <a:endParaRPr lang="en-US" sz="1050"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Subagentes en paralelo y Plugins para distribuir</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txBody>
          <a:bodyPr/>
          <a:p/>
        </p:txBody>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txBody>
          <a:bodyPr/>
          <a:p/>
        </p:txBody>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7</a:t>
            </a:r>
            <a:endParaRPr lang="en-US" sz="1300" dirty="0"/>
          </a:p>
        </p:txBody>
      </p:sp>
      <p:sp>
        <p:nvSpPr>
          <p:cNvPr id="37" name="Text 35"/>
          <p:cNvSpPr/>
          <p:nvPr/>
        </p:nvSpPr>
        <p:spPr>
          <a:xfrm>
            <a:off x="1164059" y="4276651"/>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Conclusiones</a:t>
            </a:r>
            <a:endParaRPr lang="en-US" sz="1050"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El loop completo, gobernanza y advertencias</a:t>
            </a:r>
            <a:endParaRPr lang="en-US" sz="85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364284"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364284" cy="237744"/>
          </a:xfrm>
          <a:prstGeom prst="rect">
            <a:avLst/>
          </a:prstGeom>
          <a:noFill/>
        </p:spPr>
        <p:txBody>
          <a:bodyPr wrap="none" lIns="0" rIns="0" tIns="0" bIns="0" anchor="ctr">
            <a:spAutoFit/>
          </a:bodyPr>
          <a:lstStyle/>
          <a:p>
            <a:pPr algn="ctr"/>
            <a:r>
              <a:rPr b="1" sz="800">
                <a:solidFill>
                  <a:srgbClr val="3B3535"/>
                </a:solidFill>
                <a:latin typeface="Helvetica Bold"/>
              </a:rPr>
              <a:t>DE CHAT A AGENTE</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3100">
                <a:solidFill>
                  <a:srgbClr val="1F1E1E"/>
                </a:solidFill>
                <a:latin typeface="Helvetica Bold"/>
              </a:rPr>
              <a:t>Las tres superficies de Claude</a:t>
            </a:r>
          </a:p>
        </p:txBody>
      </p:sp>
      <p:sp>
        <p:nvSpPr>
          <p:cNvPr id="5" name="TextBox 4"/>
          <p:cNvSpPr txBox="1"/>
          <p:nvPr/>
        </p:nvSpPr>
        <p:spPr>
          <a:xfrm>
            <a:off x="493776" y="1978761"/>
            <a:ext cx="4526280" cy="2867558"/>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0" sz="1000">
                <a:solidFill>
                  <a:srgbClr val="3B3535"/>
                </a:solidFill>
                <a:latin typeface="Helvetica"/>
              </a:rPr>
              <a:t>Mismos modelos, distinta superficie: las tres caras — </a:t>
            </a:r>
            <a:r>
              <a:rPr b="1" sz="1000">
                <a:solidFill>
                  <a:srgbClr val="3B3535"/>
                </a:solidFill>
                <a:latin typeface="Helvetica Bold"/>
              </a:rPr>
              <a:t>Web/Chat</a:t>
            </a:r>
            <a:r>
              <a:rPr b="0" sz="1000">
                <a:solidFill>
                  <a:srgbClr val="3B3535"/>
                </a:solidFill>
                <a:latin typeface="Helvetica"/>
              </a:rPr>
              <a:t>, </a:t>
            </a:r>
            <a:r>
              <a:rPr b="1" sz="1000">
                <a:solidFill>
                  <a:srgbClr val="3B3535"/>
                </a:solidFill>
                <a:latin typeface="Helvetica Bold"/>
              </a:rPr>
              <a:t>Claude Code</a:t>
            </a:r>
            <a:r>
              <a:rPr b="0" sz="1000">
                <a:solidFill>
                  <a:srgbClr val="3B3535"/>
                </a:solidFill>
                <a:latin typeface="Helvetica"/>
              </a:rPr>
              <a:t> y </a:t>
            </a:r>
            <a:r>
              <a:rPr b="1" sz="1000">
                <a:solidFill>
                  <a:srgbClr val="3B3535"/>
                </a:solidFill>
                <a:latin typeface="Helvetica Bold"/>
              </a:rPr>
              <a:t>Cowork</a:t>
            </a:r>
            <a:r>
              <a:rPr b="0" sz="1000">
                <a:solidFill>
                  <a:srgbClr val="3B3535"/>
                </a:solidFill>
                <a:latin typeface="Helvetica"/>
              </a:rPr>
              <a:t> — corren sobre </a:t>
            </a:r>
            <a:r>
              <a:rPr b="1" sz="1000">
                <a:solidFill>
                  <a:srgbClr val="3B3535"/>
                </a:solidFill>
                <a:latin typeface="Helvetica Bold"/>
              </a:rPr>
              <a:t>los mismos modelos Claude</a:t>
            </a:r>
            <a:r>
              <a:rPr b="0" sz="1000">
                <a:solidFill>
                  <a:srgbClr val="3B3535"/>
                </a:solidFill>
                <a:latin typeface="Helvetica"/>
              </a:rPr>
              <a:t>. El matiz importa: </a:t>
            </a:r>
            <a:r>
              <a:rPr b="1" sz="1000">
                <a:solidFill>
                  <a:srgbClr val="3B3535"/>
                </a:solidFill>
                <a:latin typeface="Helvetica Bold"/>
              </a:rPr>
              <a:t>Cowork está construido sobre las mismas bases que Claude Code</a:t>
            </a:r>
            <a:r>
              <a:rPr b="0" sz="1000">
                <a:solidFill>
                  <a:srgbClr val="3B3535"/>
                </a:solidFill>
                <a:latin typeface="Helvetica"/>
              </a:rPr>
              <a:t> (el </a:t>
            </a:r>
            <a:r>
              <a:rPr b="1" sz="1000">
                <a:solidFill>
                  <a:srgbClr val="3B3535"/>
                </a:solidFill>
                <a:latin typeface="Helvetica Bold"/>
              </a:rPr>
              <a:t>Claude Agent SDK</a:t>
            </a:r>
            <a:r>
              <a:rPr b="0" sz="1000">
                <a:solidFill>
                  <a:srgbClr val="3B3535"/>
                </a:solidFill>
                <a:latin typeface="Helvetica"/>
              </a:rPr>
              <a:t>), así que Code y Cowork comparten el mismo engine de agente — los mismos archivos, las mismas Skills, el mismo MCP y el mismo loop de plan → aprobar → redirigir. </a:t>
            </a:r>
            <a:r>
              <a:rPr b="1" sz="1000">
                <a:solidFill>
                  <a:srgbClr val="3B3535"/>
                </a:solidFill>
                <a:latin typeface="Helvetica Bold"/>
              </a:rPr>
              <a:t>Web/Chat</a:t>
            </a:r>
            <a:r>
              <a:rPr b="0" sz="1000">
                <a:solidFill>
                  <a:srgbClr val="3B3535"/>
                </a:solidFill>
                <a:latin typeface="Helvetica"/>
              </a:rPr>
              <a:t> es ese mismo modelo en una </a:t>
            </a:r>
            <a:r>
              <a:rPr b="1" sz="1000">
                <a:solidFill>
                  <a:srgbClr val="3B3535"/>
                </a:solidFill>
                <a:latin typeface="Helvetica Bold"/>
              </a:rPr>
              <a:t>superficie de chat</a:t>
            </a:r>
            <a:r>
              <a:rPr b="0" sz="1000">
                <a:solidFill>
                  <a:srgbClr val="3B3535"/>
                </a:solidFill>
                <a:latin typeface="Helvetica"/>
              </a:rPr>
              <a:t>, no el loop agéntico completo.</a:t>
            </a:r>
          </a:p>
          <a:p>
            <a:pPr marL="164592" indent="-164592">
              <a:spcBef>
                <a:spcPts val="0"/>
              </a:spcBef>
              <a:spcAft>
                <a:spcPts val="400"/>
              </a:spcAft>
              <a:buClr>
                <a:srgbClr val="3B3535"/>
              </a:buClr>
              <a:buFont typeface="Arial"/>
              <a:buChar char="•"/>
            </a:pPr>
            <a:r>
              <a:rPr b="1" sz="1000">
                <a:solidFill>
                  <a:srgbClr val="3B3535"/>
                </a:solidFill>
                <a:latin typeface="Helvetica Bold"/>
              </a:rPr>
              <a:t>Web/Chat</a:t>
            </a:r>
            <a:r>
              <a:rPr b="0" sz="1000">
                <a:solidFill>
                  <a:srgbClr val="3B3535"/>
                </a:solidFill>
                <a:latin typeface="Helvetica"/>
              </a:rPr>
              <a:t> — navegador o app, sin instalar; chat, preguntas y tareas puntuales; público: todos.</a:t>
            </a:r>
          </a:p>
          <a:p>
            <a:pPr marL="164592" indent="-164592">
              <a:spcBef>
                <a:spcPts val="0"/>
              </a:spcBef>
              <a:spcAft>
                <a:spcPts val="400"/>
              </a:spcAft>
              <a:buClr>
                <a:srgbClr val="3B3535"/>
              </a:buClr>
              <a:buFont typeface="Arial"/>
              <a:buChar char="•"/>
            </a:pPr>
            <a:r>
              <a:rPr b="1" sz="1000">
                <a:solidFill>
                  <a:srgbClr val="3B3535"/>
                </a:solidFill>
                <a:latin typeface="Helvetica Bold"/>
              </a:rPr>
              <a:t>Claude Code</a:t>
            </a:r>
            <a:r>
              <a:rPr b="0" sz="1000">
                <a:solidFill>
                  <a:srgbClr val="3B3535"/>
                </a:solidFill>
                <a:latin typeface="Helvetica"/>
              </a:rPr>
              <a:t> — app de escritorio (pestaña Code + terminal); escribir, editar y publicar código; público: perfiles técnicos / developers.</a:t>
            </a:r>
          </a:p>
          <a:p>
            <a:pPr marL="164592" indent="-164592">
              <a:spcBef>
                <a:spcPts val="0"/>
              </a:spcBef>
              <a:spcAft>
                <a:spcPts val="400"/>
              </a:spcAft>
              <a:buClr>
                <a:srgbClr val="3B3535"/>
              </a:buClr>
              <a:buFont typeface="Arial"/>
              <a:buChar char="•"/>
            </a:pPr>
            <a:r>
              <a:rPr b="1" sz="1000">
                <a:solidFill>
                  <a:srgbClr val="3B3535"/>
                </a:solidFill>
                <a:latin typeface="Helvetica Bold"/>
              </a:rPr>
              <a:t>Cowork</a:t>
            </a:r>
            <a:r>
              <a:rPr b="0" sz="1000">
                <a:solidFill>
                  <a:srgbClr val="3B3535"/>
                </a:solidFill>
                <a:latin typeface="Helvetica"/>
              </a:rPr>
              <a:t> — app de escritorio (pestaña Cowork), GUI sin terminal; trabajo de varios pasos sobre archivos reales; público: knowledge workers sin terminal. </a:t>
            </a:r>
            <a:r>
              <a:rPr b="1" sz="1000">
                <a:solidFill>
                  <a:srgbClr val="3B3535"/>
                </a:solidFill>
                <a:latin typeface="Helvetica Bold"/>
              </a:rPr>
              <a:t>Esta charla vive acá.</a:t>
            </a:r>
          </a:p>
        </p:txBody>
      </p:sp>
      <p:pic>
        <p:nvPicPr>
          <p:cNvPr id="6" name="Picture 5" descr="s1-1-1-tres-superficies-claude.png"/>
          <p:cNvPicPr>
            <a:picLocks noChangeAspect="1"/>
          </p:cNvPicPr>
          <p:nvPr/>
        </p:nvPicPr>
        <p:blipFill>
          <a:blip r:embed="rId2"/>
          <a:stretch>
            <a:fillRect/>
          </a:stretch>
        </p:blipFill>
        <p:spPr>
          <a:xfrm>
            <a:off x="5257800" y="2337045"/>
            <a:ext cx="3401568" cy="215099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364284"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364284" cy="237744"/>
          </a:xfrm>
          <a:prstGeom prst="rect">
            <a:avLst/>
          </a:prstGeom>
          <a:noFill/>
        </p:spPr>
        <p:txBody>
          <a:bodyPr wrap="none" lIns="0" rIns="0" tIns="0" bIns="0" anchor="ctr">
            <a:spAutoFit/>
          </a:bodyPr>
          <a:lstStyle/>
          <a:p>
            <a:pPr algn="ctr"/>
            <a:r>
              <a:rPr b="1" sz="800">
                <a:solidFill>
                  <a:srgbClr val="3B3535"/>
                </a:solidFill>
                <a:latin typeface="Helvetica Bold"/>
              </a:rPr>
              <a:t>DE CHAT A AGENTE</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1700">
                <a:solidFill>
                  <a:srgbClr val="1F1E1E"/>
                </a:solidFill>
                <a:latin typeface="Helvetica Bold"/>
              </a:rPr>
              <a:t>El superpoder de Cowork: la herramienta de propósito general del knowledge worker</a:t>
            </a:r>
          </a:p>
        </p:txBody>
      </p:sp>
      <p:sp>
        <p:nvSpPr>
          <p:cNvPr id="5" name="TextBox 4"/>
          <p:cNvSpPr txBox="1"/>
          <p:nvPr/>
        </p:nvSpPr>
        <p:spPr>
          <a:xfrm>
            <a:off x="493776" y="1543507"/>
            <a:ext cx="4526280" cy="3302812"/>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La idea grande.</a:t>
            </a:r>
            <a:r>
              <a:rPr b="0" sz="1000">
                <a:solidFill>
                  <a:srgbClr val="3B3535"/>
                </a:solidFill>
                <a:latin typeface="Helvetica"/>
              </a:rPr>
              <a:t> </a:t>
            </a:r>
            <a:r>
              <a:rPr b="1" sz="1000">
                <a:solidFill>
                  <a:srgbClr val="3B3535"/>
                </a:solidFill>
                <a:latin typeface="Helvetica Bold"/>
              </a:rPr>
              <a:t>Cowork</a:t>
            </a:r>
            <a:r>
              <a:rPr b="0" sz="1000">
                <a:solidFill>
                  <a:srgbClr val="3B3535"/>
                </a:solidFill>
                <a:latin typeface="Helvetica"/>
              </a:rPr>
              <a:t> es la </a:t>
            </a:r>
            <a:r>
              <a:rPr b="1" sz="1000">
                <a:solidFill>
                  <a:srgbClr val="3B3535"/>
                </a:solidFill>
                <a:latin typeface="Helvetica Bold"/>
              </a:rPr>
              <a:t>herramienta de propósito general del knowledge worker</a:t>
            </a:r>
            <a:r>
              <a:rPr b="0" sz="1000">
                <a:solidFill>
                  <a:srgbClr val="3B3535"/>
                </a:solidFill>
                <a:latin typeface="Helvetica"/>
              </a:rPr>
              <a:t> — de quien no programa. No un asistente de una tarea puntual: una herramienta horizontal para casi cualquier trabajo de conocimiento. Sin base técnica: el "lenguaje de programación" es el español.</a:t>
            </a:r>
          </a:p>
          <a:p>
            <a:pPr marL="164592" indent="-164592">
              <a:spcBef>
                <a:spcPts val="0"/>
              </a:spcBef>
              <a:spcAft>
                <a:spcPts val="400"/>
              </a:spcAft>
              <a:buClr>
                <a:srgbClr val="3B3535"/>
              </a:buClr>
              <a:buFont typeface="Arial"/>
              <a:buChar char="•"/>
            </a:pPr>
            <a:r>
              <a:rPr b="1" sz="1000">
                <a:solidFill>
                  <a:srgbClr val="3B3535"/>
                </a:solidFill>
                <a:latin typeface="Helvetica Bold"/>
              </a:rPr>
              <a:t>La analogía que "pega" — "el nuevo Excel"</a:t>
            </a:r>
            <a:r>
              <a:rPr b="0" sz="1000">
                <a:solidFill>
                  <a:srgbClr val="3B3535"/>
                </a:solidFill>
                <a:latin typeface="Helvetica"/>
              </a:rPr>
              <a:t> (encuadre de analistas / industria, no un claim de Anthropic). Así como Excel fue ~40 años la habilidad base del trabajo de oficina, las herramientas agénticas apuntan a ser </a:t>
            </a:r>
            <a:r>
              <a:rPr b="1" sz="1000">
                <a:solidFill>
                  <a:srgbClr val="3B3535"/>
                </a:solidFill>
                <a:latin typeface="Helvetica Bold"/>
              </a:rPr>
              <a:t>la nueva habilidad base</a:t>
            </a:r>
            <a:r>
              <a:rPr b="0" sz="1000">
                <a:solidFill>
                  <a:srgbClr val="3B3535"/>
                </a:solidFill>
                <a:latin typeface="Helvetica"/>
              </a:rPr>
              <a:t>.</a:t>
            </a:r>
          </a:p>
          <a:p>
            <a:pPr marL="164592" indent="-164592">
              <a:spcBef>
                <a:spcPts val="0"/>
              </a:spcBef>
              <a:spcAft>
                <a:spcPts val="400"/>
              </a:spcAft>
              <a:buClr>
                <a:srgbClr val="3B3535"/>
              </a:buClr>
              <a:buFont typeface="Arial"/>
              <a:buChar char="•"/>
            </a:pPr>
            <a:r>
              <a:rPr b="1" sz="1000">
                <a:solidFill>
                  <a:srgbClr val="3B3535"/>
                </a:solidFill>
                <a:latin typeface="Helvetica Bold"/>
              </a:rPr>
              <a:t>El encuadre oficial de Anthropic:</a:t>
            </a:r>
            <a:r>
              <a:rPr b="0" sz="1000">
                <a:solidFill>
                  <a:srgbClr val="3B3535"/>
                </a:solidFill>
                <a:latin typeface="Helvetica"/>
              </a:rPr>
              <a:t> Cowork como </a:t>
            </a:r>
            <a:r>
              <a:rPr b="1" sz="1000">
                <a:solidFill>
                  <a:srgbClr val="3B3535"/>
                </a:solidFill>
                <a:latin typeface="Helvetica Bold"/>
              </a:rPr>
              <a:t>"Claude Code para el resto de tu trabajo"</a:t>
            </a:r>
            <a:r>
              <a:rPr b="0" sz="1000">
                <a:solidFill>
                  <a:srgbClr val="3B3535"/>
                </a:solidFill>
                <a:latin typeface="Helvetica"/>
              </a:rPr>
              <a:t>.</a:t>
            </a:r>
          </a:p>
          <a:p>
            <a:pPr marL="164592" indent="-164592">
              <a:spcBef>
                <a:spcPts val="0"/>
              </a:spcBef>
              <a:spcAft>
                <a:spcPts val="400"/>
              </a:spcAft>
              <a:buClr>
                <a:srgbClr val="3B3535"/>
              </a:buClr>
              <a:buFont typeface="Arial"/>
              <a:buChar char="•"/>
            </a:pPr>
            <a:r>
              <a:rPr b="1" sz="1000">
                <a:solidFill>
                  <a:srgbClr val="3B3535"/>
                </a:solidFill>
                <a:latin typeface="Helvetica Bold"/>
              </a:rPr>
              <a:t>Por qué te importa (bioingeniería).</a:t>
            </a:r>
            <a:r>
              <a:rPr b="0" sz="1000">
                <a:solidFill>
                  <a:srgbClr val="3B3535"/>
                </a:solidFill>
                <a:latin typeface="Helvetica"/>
              </a:rPr>
              <a:t> La habilidad base del trabajo del conocimiento se redefine ahora; llegar temprano es ventaja concreta y portable.</a:t>
            </a:r>
          </a:p>
        </p:txBody>
      </p:sp>
      <p:pic>
        <p:nvPicPr>
          <p:cNvPr id="6" name="Picture 5" descr="s1-2-1-excel-a-agentico.png"/>
          <p:cNvPicPr>
            <a:picLocks noChangeAspect="1"/>
          </p:cNvPicPr>
          <p:nvPr/>
        </p:nvPicPr>
        <p:blipFill>
          <a:blip r:embed="rId2"/>
          <a:stretch>
            <a:fillRect/>
          </a:stretch>
        </p:blipFill>
        <p:spPr>
          <a:xfrm>
            <a:off x="5257800" y="2369533"/>
            <a:ext cx="3401568" cy="165076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364284"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364284" cy="237744"/>
          </a:xfrm>
          <a:prstGeom prst="rect">
            <a:avLst/>
          </a:prstGeom>
          <a:noFill/>
        </p:spPr>
        <p:txBody>
          <a:bodyPr wrap="none" lIns="0" rIns="0" tIns="0" bIns="0" anchor="ctr">
            <a:spAutoFit/>
          </a:bodyPr>
          <a:lstStyle/>
          <a:p>
            <a:pPr algn="ctr"/>
            <a:r>
              <a:rPr b="1" sz="800">
                <a:solidFill>
                  <a:srgbClr val="3B3535"/>
                </a:solidFill>
                <a:latin typeface="Helvetica Bold"/>
              </a:rPr>
              <a:t>DE CHAT A AGENTE</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250">
                <a:solidFill>
                  <a:srgbClr val="1F1E1E"/>
                </a:solidFill>
                <a:latin typeface="Helvetica Bold"/>
              </a:rPr>
              <a:t>De chat a agente: el cambio de paradigma</a:t>
            </a:r>
          </a:p>
        </p:txBody>
      </p:sp>
      <p:sp>
        <p:nvSpPr>
          <p:cNvPr id="5" name="TextBox 4"/>
          <p:cNvSpPr txBox="1"/>
          <p:nvPr/>
        </p:nvSpPr>
        <p:spPr>
          <a:xfrm>
            <a:off x="493776" y="1371600"/>
            <a:ext cx="4526280" cy="3474720"/>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0" sz="1000">
                <a:solidFill>
                  <a:srgbClr val="3B3535"/>
                </a:solidFill>
                <a:latin typeface="Helvetica"/>
              </a:rPr>
              <a:t>La frase que resume toda la sesión: </a:t>
            </a:r>
            <a:r>
              <a:rPr b="1" sz="1000">
                <a:solidFill>
                  <a:srgbClr val="3B3535"/>
                </a:solidFill>
                <a:latin typeface="Helvetica Bold"/>
              </a:rPr>
              <a:t>"Dejás de tipear un mensaje a la vez y empezás a entregar un resultado."</a:t>
            </a:r>
            <a:r>
              <a:rPr b="0" sz="1000">
                <a:solidFill>
                  <a:srgbClr val="3B3535"/>
                </a:solidFill>
                <a:latin typeface="Helvetica"/>
              </a:rPr>
              <a:t> El agente lo planifica, trabaja sobre tus archivos reales, y vos lo guiás — en lugar de hacer cada paso vos mismo.</a:t>
            </a:r>
          </a:p>
          <a:p>
            <a:pPr marL="164592" indent="-164592">
              <a:spcBef>
                <a:spcPts val="0"/>
              </a:spcBef>
              <a:spcAft>
                <a:spcPts val="400"/>
              </a:spcAft>
              <a:buClr>
                <a:srgbClr val="3B3535"/>
              </a:buClr>
              <a:buFont typeface="Arial"/>
              <a:buChar char="•"/>
            </a:pPr>
            <a:r>
              <a:rPr b="0" sz="1000">
                <a:solidFill>
                  <a:srgbClr val="3B3535"/>
                </a:solidFill>
                <a:latin typeface="Helvetica"/>
              </a:rPr>
              <a:t>Cómo lo describe la propia Anthropic: trabajar con Cowork "se parece menos a una sesión de chat y más a asignarle tareas a un colega" ("less like a chat session and more like assigning tasks to a colleague"). Esa es exactamente la mudanza de paradigma de esta slide.</a:t>
            </a:r>
          </a:p>
          <a:p>
            <a:pPr marL="164592" indent="-164592">
              <a:spcBef>
                <a:spcPts val="0"/>
              </a:spcBef>
              <a:spcAft>
                <a:spcPts val="400"/>
              </a:spcAft>
              <a:buClr>
                <a:srgbClr val="3B3535"/>
              </a:buClr>
              <a:buFont typeface="Arial"/>
              <a:buChar char="•"/>
            </a:pPr>
            <a:r>
              <a:rPr b="0" sz="1000">
                <a:solidFill>
                  <a:srgbClr val="3B3535"/>
                </a:solidFill>
                <a:latin typeface="Helvetica"/>
              </a:rPr>
              <a:t>Chatear vs delegar (no son dos productos, son dos formas de trabajar):</a:t>
            </a:r>
          </a:p>
          <a:p>
            <a:pPr marL="164592" indent="-164592">
              <a:spcAft>
                <a:spcPts val="400"/>
              </a:spcAft>
              <a:buClr>
                <a:srgbClr val="DA1B2E"/>
              </a:buClr>
              <a:buFont typeface="Arial"/>
              <a:buChar char="▸"/>
            </a:pPr>
            <a:r>
              <a:rPr b="0" sz="900">
                <a:solidFill>
                  <a:srgbClr val="3B3535"/>
                </a:solidFill>
                <a:latin typeface="Helvetica"/>
              </a:rPr>
              <a:t>Chatear  ·  Delegar a un agente</a:t>
            </a:r>
          </a:p>
          <a:p>
            <a:pPr marL="164592" indent="-164592">
              <a:spcAft>
                <a:spcPts val="400"/>
              </a:spcAft>
              <a:buClr>
                <a:srgbClr val="DA1B2E"/>
              </a:buClr>
              <a:buFont typeface="Arial"/>
              <a:buChar char="▸"/>
            </a:pPr>
            <a:r>
              <a:rPr b="0" sz="900">
                <a:solidFill>
                  <a:srgbClr val="3B3535"/>
                </a:solidFill>
                <a:latin typeface="Helvetica"/>
              </a:rPr>
              <a:t>Cómo trabajás  ·  Un mensaje a la vez  ·  Describís un resultado</a:t>
            </a:r>
          </a:p>
          <a:p>
            <a:pPr marL="164592" indent="-164592">
              <a:spcAft>
                <a:spcPts val="400"/>
              </a:spcAft>
              <a:buClr>
                <a:srgbClr val="DA1B2E"/>
              </a:buClr>
              <a:buFont typeface="Arial"/>
              <a:buChar char="▸"/>
            </a:pPr>
            <a:r>
              <a:rPr b="0" sz="900">
                <a:solidFill>
                  <a:srgbClr val="3B3535"/>
                </a:solidFill>
                <a:latin typeface="Helvetica"/>
              </a:rPr>
              <a:t>Los pasos  ·  Los hacés vos  ·  El agente planifica y ejecuta</a:t>
            </a:r>
          </a:p>
          <a:p>
            <a:pPr marL="164592" indent="-164592">
              <a:spcAft>
                <a:spcPts val="400"/>
              </a:spcAft>
              <a:buClr>
                <a:srgbClr val="DA1B2E"/>
              </a:buClr>
              <a:buFont typeface="Arial"/>
              <a:buChar char="▸"/>
            </a:pPr>
            <a:r>
              <a:rPr b="0" sz="900">
                <a:solidFill>
                  <a:srgbClr val="3B3535"/>
                </a:solidFill>
                <a:latin typeface="Helvetica"/>
              </a:rPr>
              <a:t>La salida  ·  Texto en la ventana  ·  Archivos en tu disco</a:t>
            </a:r>
          </a:p>
          <a:p>
            <a:pPr marL="164592" indent="-164592">
              <a:spcAft>
                <a:spcPts val="400"/>
              </a:spcAft>
              <a:buClr>
                <a:srgbClr val="DA1B2E"/>
              </a:buClr>
              <a:buFont typeface="Arial"/>
              <a:buChar char="▸"/>
            </a:pPr>
            <a:r>
              <a:rPr b="0" sz="900">
                <a:solidFill>
                  <a:srgbClr val="3B3535"/>
                </a:solidFill>
                <a:latin typeface="Helvetica"/>
              </a:rPr>
              <a:t>Tu rol  ·  Tipear el próximo prompt  ·  Leer el plan, guiar a mitad de camino</a:t>
            </a:r>
          </a:p>
        </p:txBody>
      </p:sp>
      <p:pic>
        <p:nvPicPr>
          <p:cNvPr id="6" name="Picture 5" descr="s1-3-1-chat-vs-agente.png"/>
          <p:cNvPicPr>
            <a:picLocks noChangeAspect="1"/>
          </p:cNvPicPr>
          <p:nvPr/>
        </p:nvPicPr>
        <p:blipFill>
          <a:blip r:embed="rId2"/>
          <a:stretch>
            <a:fillRect/>
          </a:stretch>
        </p:blipFill>
        <p:spPr>
          <a:xfrm>
            <a:off x="5257800" y="2208544"/>
            <a:ext cx="3401568" cy="180083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dirty="0">
                <a:solidFill>
                  <a:srgbClr val="1F1E1E"/>
                </a:solidFill>
                <a:latin typeface="Helvetica Bold" pitchFamily="34" charset="0"/>
                <a:ea typeface="Roboto Mono Medium" pitchFamily="34" charset="-122"/>
                <a:cs typeface="Roboto Mono Medium" pitchFamily="34" charset="-120"/>
              </a:rPr>
              <a:t>Agenda</a:t>
            </a:r>
            <a:endParaRPr lang="en-US" sz="2150" dirty="0"/>
          </a:p>
        </p:txBody>
      </p:sp>
      <p:sp>
        <p:nvSpPr>
          <p:cNvPr id="3" name="Shape 1"/>
          <p:cNvSpPr/>
          <p:nvPr/>
        </p:nvSpPr>
        <p:spPr>
          <a:xfrm>
            <a:off x="606103" y="994172"/>
            <a:ext cx="14288" cy="3644354"/>
          </a:xfrm>
          <a:prstGeom prst="roundRect">
            <a:avLst>
              <a:gd name="adj" fmla="val 39999"/>
            </a:avLst>
          </a:prstGeom>
          <a:solidFill>
            <a:srgbClr val="D8D4D4"/>
          </a:solidFill>
          <a:ln/>
        </p:spPr>
        <p:txBody>
          <a:bodyPr/>
          <a:p/>
        </p:txBody>
      </p:sp>
      <p:sp>
        <p:nvSpPr>
          <p:cNvPr id="4" name="Shape 2"/>
          <p:cNvSpPr/>
          <p:nvPr/>
        </p:nvSpPr>
        <p:spPr>
          <a:xfrm>
            <a:off x="717314" y="1112490"/>
            <a:ext cx="334714" cy="14288"/>
          </a:xfrm>
          <a:prstGeom prst="roundRect">
            <a:avLst>
              <a:gd name="adj" fmla="val 39999"/>
            </a:avLst>
          </a:prstGeom>
          <a:solidFill>
            <a:srgbClr val="D8D4D4"/>
          </a:solidFill>
          <a:ln/>
        </p:spPr>
        <p:txBody>
          <a:bodyPr/>
          <a:p/>
        </p:txBody>
      </p:sp>
      <p:sp>
        <p:nvSpPr>
          <p:cNvPr id="5" name="Shape 3"/>
          <p:cNvSpPr/>
          <p:nvPr/>
        </p:nvSpPr>
        <p:spPr>
          <a:xfrm>
            <a:off x="480603" y="994172"/>
            <a:ext cx="250999" cy="250999"/>
          </a:xfrm>
          <a:prstGeom prst="roundRect">
            <a:avLst>
              <a:gd name="adj" fmla="val 2277"/>
            </a:avLst>
          </a:prstGeom>
          <a:solidFill>
            <a:srgbClr val="F2EEEE"/>
          </a:solidFill>
          <a:ln w="4763">
            <a:solidFill>
              <a:srgbClr val="F33447"/>
            </a:solidFill>
            <a:prstDash val="solid"/>
          </a:ln>
        </p:spPr>
        <p:txBody>
          <a:bodyPr/>
          <a:p/>
        </p:txBody>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1</a:t>
            </a:r>
            <a:endParaRPr lang="en-US" sz="1300" dirty="0"/>
          </a:p>
        </p:txBody>
      </p:sp>
      <p:sp>
        <p:nvSpPr>
          <p:cNvPr id="7" name="Text 5"/>
          <p:cNvSpPr/>
          <p:nvPr/>
        </p:nvSpPr>
        <p:spPr>
          <a:xfrm>
            <a:off x="1164059" y="103249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De chat a agente: dónde encaja Cowork</a:t>
            </a:r>
            <a:endParaRPr lang="en-US" sz="1050"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Del chat a delegar un resultado: dónde encaja Cowork</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txBody>
          <a:bodyPr/>
          <a:p/>
        </p:txBody>
      </p:sp>
      <p:sp>
        <p:nvSpPr>
          <p:cNvPr id="10" name="Shape 8"/>
          <p:cNvSpPr/>
          <p:nvPr/>
        </p:nvSpPr>
        <p:spPr>
          <a:xfrm>
            <a:off x="480603" y="1534864"/>
            <a:ext cx="250999" cy="250999"/>
          </a:xfrm>
          <a:prstGeom prst="roundRect">
            <a:avLst>
              <a:gd name="adj" fmla="val 2277"/>
            </a:avLst>
          </a:prstGeom>
          <a:solidFill>
            <a:srgbClr val="DA1B2E"/>
          </a:solidFill>
          <a:ln w="4763">
            <a:solidFill>
              <a:srgbClr val="D8D4D4"/>
            </a:solidFill>
            <a:prstDash val="solid"/>
          </a:ln>
        </p:spPr>
        <p:txBody>
          <a:bodyPr/>
          <a:p/>
        </p:txBody>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FFFFFF"/>
                </a:solidFill>
                <a:latin typeface="Helvetica Bold" pitchFamily="34" charset="0"/>
                <a:ea typeface="Roboto Mono Medium" pitchFamily="34" charset="-122"/>
                <a:cs typeface="Roboto Mono Medium" pitchFamily="34" charset="-120"/>
              </a:rPr>
              <a:t>2</a:t>
            </a:r>
            <a:endParaRPr lang="en-US" sz="1300" dirty="0"/>
          </a:p>
        </p:txBody>
      </p:sp>
      <p:sp>
        <p:nvSpPr>
          <p:cNvPr id="12" name="Text 10"/>
          <p:cNvSpPr/>
          <p:nvPr/>
        </p:nvSpPr>
        <p:spPr>
          <a:xfrm>
            <a:off x="1164059" y="157318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Lo básico: interfaz, Instrucciones y Projects</a:t>
            </a:r>
            <a:endParaRPr lang="en-US" sz="1050"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La interfaz, las Instrucciones y los Projects</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txBody>
          <a:bodyPr/>
          <a:p/>
        </p:txBody>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txBody>
          <a:bodyPr/>
          <a:p/>
        </p:txBody>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3</a:t>
            </a:r>
            <a:endParaRPr lang="en-US" sz="1300" dirty="0"/>
          </a:p>
        </p:txBody>
      </p:sp>
      <p:sp>
        <p:nvSpPr>
          <p:cNvPr id="17" name="Text 15"/>
          <p:cNvSpPr/>
          <p:nvPr/>
        </p:nvSpPr>
        <p:spPr>
          <a:xfrm>
            <a:off x="1164059" y="2113880"/>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Extender Cowork: Skills y archivos MD / metadata</a:t>
            </a:r>
            <a:endParaRPr lang="en-US" sz="1050"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Skills y por qué los archivos MD / metadata son el lenguaje común</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txBody>
          <a:bodyPr/>
          <a:p/>
        </p:txBody>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txBody>
          <a:bodyPr/>
          <a:p/>
        </p:txBody>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4</a:t>
            </a:r>
            <a:endParaRPr lang="en-US" sz="1300" dirty="0"/>
          </a:p>
        </p:txBody>
      </p:sp>
      <p:sp>
        <p:nvSpPr>
          <p:cNvPr id="22" name="Text 20"/>
          <p:cNvSpPr/>
          <p:nvPr/>
        </p:nvSpPr>
        <p:spPr>
          <a:xfrm>
            <a:off x="1164059" y="2654573"/>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Conectar y automatizar: Connectors/MCP y Schedule</a:t>
            </a:r>
            <a:endParaRPr lang="en-US" sz="1050"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Connectors/MCP y tareas programadas con Schedule</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txBody>
          <a:bodyPr/>
          <a:p/>
        </p:txBody>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txBody>
          <a:bodyPr/>
          <a:p/>
        </p:txBody>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5</a:t>
            </a:r>
            <a:endParaRPr lang="en-US" sz="1300" dirty="0"/>
          </a:p>
        </p:txBody>
      </p:sp>
      <p:sp>
        <p:nvSpPr>
          <p:cNvPr id="27" name="Text 25"/>
          <p:cNvSpPr/>
          <p:nvPr/>
        </p:nvSpPr>
        <p:spPr>
          <a:xfrm>
            <a:off x="1164059" y="319526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Compartir resultados: Live Artifacts</a:t>
            </a:r>
            <a:endParaRPr lang="en-US" sz="1050"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Live Artifacts: compartir el resultado vivo</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txBody>
          <a:bodyPr/>
          <a:p/>
        </p:txBody>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txBody>
          <a:bodyPr/>
          <a:p/>
        </p:txBody>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6</a:t>
            </a:r>
            <a:endParaRPr lang="en-US" sz="1300" dirty="0"/>
          </a:p>
        </p:txBody>
      </p:sp>
      <p:sp>
        <p:nvSpPr>
          <p:cNvPr id="32" name="Text 30"/>
          <p:cNvSpPr/>
          <p:nvPr/>
        </p:nvSpPr>
        <p:spPr>
          <a:xfrm>
            <a:off x="1164059" y="373595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Advanced: Subagentes y Plugins</a:t>
            </a:r>
            <a:endParaRPr lang="en-US" sz="1050"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Subagentes en paralelo y Plugins para distribuir</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txBody>
          <a:bodyPr/>
          <a:p/>
        </p:txBody>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txBody>
          <a:bodyPr/>
          <a:p/>
        </p:txBody>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7</a:t>
            </a:r>
            <a:endParaRPr lang="en-US" sz="1300" dirty="0"/>
          </a:p>
        </p:txBody>
      </p:sp>
      <p:sp>
        <p:nvSpPr>
          <p:cNvPr id="37" name="Text 35"/>
          <p:cNvSpPr/>
          <p:nvPr/>
        </p:nvSpPr>
        <p:spPr>
          <a:xfrm>
            <a:off x="1164059" y="4276651"/>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Conclusiones</a:t>
            </a:r>
            <a:endParaRPr lang="en-US" sz="1050"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El loop completo, gobernanza y advertencias</a:t>
            </a:r>
            <a:endParaRPr lang="en-US" sz="8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903427"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903427" cy="237744"/>
          </a:xfrm>
          <a:prstGeom prst="rect">
            <a:avLst/>
          </a:prstGeom>
          <a:noFill/>
        </p:spPr>
        <p:txBody>
          <a:bodyPr wrap="none" lIns="0" rIns="0" tIns="0" bIns="0" anchor="ctr">
            <a:spAutoFit/>
          </a:bodyPr>
          <a:lstStyle/>
          <a:p>
            <a:pPr algn="ctr"/>
            <a:r>
              <a:rPr b="1" sz="800">
                <a:solidFill>
                  <a:srgbClr val="3B3535"/>
                </a:solidFill>
                <a:latin typeface="Helvetica Bold"/>
              </a:rPr>
              <a:t>LO BÁSICO</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100">
                <a:solidFill>
                  <a:srgbClr val="1F1E1E"/>
                </a:solidFill>
                <a:latin typeface="Helvetica Bold"/>
              </a:rPr>
              <a:t>(Demo time) Conozcamos la interfaz de Cowork</a:t>
            </a:r>
          </a:p>
        </p:txBody>
      </p:sp>
      <p:sp>
        <p:nvSpPr>
          <p:cNvPr id="5" name="TextBox 4"/>
          <p:cNvSpPr txBox="1"/>
          <p:nvPr/>
        </p:nvSpPr>
        <p:spPr>
          <a:xfrm>
            <a:off x="493776" y="1667865"/>
            <a:ext cx="4526280" cy="3178454"/>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SLIDE DE DEMO EN VIVO</a:t>
            </a:r>
            <a:r>
              <a:rPr b="0" sz="1000">
                <a:solidFill>
                  <a:srgbClr val="3B3535"/>
                </a:solidFill>
                <a:latin typeface="Helvetica"/>
              </a:rPr>
              <a:t> — Tour rápido de la pestaña Cowork sobre la app real, no sobre la slide.</a:t>
            </a:r>
          </a:p>
          <a:p>
            <a:pPr marL="164592" indent="-164592">
              <a:spcBef>
                <a:spcPts val="0"/>
              </a:spcBef>
              <a:spcAft>
                <a:spcPts val="400"/>
              </a:spcAft>
              <a:buClr>
                <a:srgbClr val="3B3535"/>
              </a:buClr>
              <a:buFont typeface="Arial"/>
              <a:buChar char="•"/>
            </a:pPr>
            <a:r>
              <a:rPr b="0" sz="1000">
                <a:solidFill>
                  <a:srgbClr val="3B3535"/>
                </a:solidFill>
                <a:latin typeface="Helvetica"/>
              </a:rPr>
              <a:t>Anatomía de la pestaña Cowork (referencia anotada):</a:t>
            </a:r>
          </a:p>
          <a:p>
            <a:pPr marL="164592" indent="-164592">
              <a:spcBef>
                <a:spcPts val="0"/>
              </a:spcBef>
              <a:spcAft>
                <a:spcPts val="400"/>
              </a:spcAft>
              <a:buClr>
                <a:srgbClr val="3B3535"/>
              </a:buClr>
              <a:buFont typeface="Arial"/>
              <a:buChar char="•"/>
            </a:pPr>
            <a:r>
              <a:rPr b="0" sz="1000">
                <a:solidFill>
                  <a:srgbClr val="3B3535"/>
                </a:solidFill>
                <a:latin typeface="Helvetica"/>
              </a:rPr>
              <a:t>Elementos a señalar en vivo: el selector de modo </a:t>
            </a:r>
            <a:r>
              <a:rPr b="1" sz="1000">
                <a:solidFill>
                  <a:srgbClr val="3B3535"/>
                </a:solidFill>
                <a:latin typeface="Helvetica Bold"/>
              </a:rPr>
              <a:t>"Ask"</a:t>
            </a:r>
            <a:r>
              <a:rPr b="0" sz="1000">
                <a:solidFill>
                  <a:srgbClr val="3B3535"/>
                </a:solidFill>
                <a:latin typeface="Helvetica"/>
              </a:rPr>
              <a:t> (Ask before acting / Act without asking), el selector de carpeta de trabajo, la pestaña </a:t>
            </a:r>
            <a:r>
              <a:rPr b="1" sz="1000">
                <a:solidFill>
                  <a:srgbClr val="3B3535"/>
                </a:solidFill>
                <a:latin typeface="Helvetica Bold"/>
              </a:rPr>
              <a:t>Scheduled</a:t>
            </a:r>
            <a:r>
              <a:rPr b="0" sz="1000">
                <a:solidFill>
                  <a:srgbClr val="3B3535"/>
                </a:solidFill>
                <a:latin typeface="Helvetica"/>
              </a:rPr>
              <a:t>, la pestaña </a:t>
            </a:r>
            <a:r>
              <a:rPr b="1" sz="1000">
                <a:solidFill>
                  <a:srgbClr val="3B3535"/>
                </a:solidFill>
                <a:latin typeface="Helvetica Bold"/>
              </a:rPr>
              <a:t>Live artifacts</a:t>
            </a:r>
            <a:r>
              <a:rPr b="0" sz="1000">
                <a:solidFill>
                  <a:srgbClr val="3B3535"/>
                </a:solidFill>
                <a:latin typeface="Helvetica"/>
              </a:rPr>
              <a:t>, el panel de un </a:t>
            </a:r>
            <a:r>
              <a:rPr b="1" sz="1000">
                <a:solidFill>
                  <a:srgbClr val="3B3535"/>
                </a:solidFill>
                <a:latin typeface="Helvetica Bold"/>
              </a:rPr>
              <a:t>Project</a:t>
            </a:r>
            <a:r>
              <a:rPr b="0" sz="1000">
                <a:solidFill>
                  <a:srgbClr val="3B3535"/>
                </a:solidFill>
                <a:latin typeface="Helvetica"/>
              </a:rPr>
              <a:t>.</a:t>
            </a:r>
          </a:p>
          <a:p>
            <a:pPr marL="164592" indent="-164592">
              <a:spcBef>
                <a:spcPts val="0"/>
              </a:spcBef>
              <a:spcAft>
                <a:spcPts val="400"/>
              </a:spcAft>
              <a:buClr>
                <a:srgbClr val="3B3535"/>
              </a:buClr>
              <a:buFont typeface="Arial"/>
              <a:buChar char="•"/>
            </a:pPr>
            <a:r>
              <a:rPr b="0" sz="1000">
                <a:solidFill>
                  <a:srgbClr val="3B3535"/>
                </a:solidFill>
                <a:latin typeface="Helvetica"/>
              </a:rPr>
              <a:t>Control en Cowork = el dropdown de modo + los prompts de aprobar/redirigir por acción + el selector de carpeta. </a:t>
            </a:r>
            <a:r>
              <a:rPr b="1" sz="1000">
                <a:solidFill>
                  <a:srgbClr val="3B3535"/>
                </a:solidFill>
                <a:latin typeface="Helvetica Bold"/>
              </a:rPr>
              <a:t>No hay slash commands</a:t>
            </a:r>
            <a:r>
              <a:rPr b="0" sz="1000">
                <a:solidFill>
                  <a:srgbClr val="3B3535"/>
                </a:solidFill>
                <a:latin typeface="Helvetica"/>
              </a:rPr>
              <a:t>: Cowork es GUI.</a:t>
            </a:r>
          </a:p>
        </p:txBody>
      </p:sp>
      <p:pic>
        <p:nvPicPr>
          <p:cNvPr id="6" name="Picture 5" descr="screenshot-cowork-tab.png"/>
          <p:cNvPicPr>
            <a:picLocks noChangeAspect="1"/>
          </p:cNvPicPr>
          <p:nvPr/>
        </p:nvPicPr>
        <p:blipFill>
          <a:blip r:embed="rId2"/>
          <a:stretch>
            <a:fillRect/>
          </a:stretch>
        </p:blipFill>
        <p:spPr>
          <a:xfrm>
            <a:off x="5257800" y="2133553"/>
            <a:ext cx="3401568" cy="224707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903427"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903427" cy="237744"/>
          </a:xfrm>
          <a:prstGeom prst="rect">
            <a:avLst/>
          </a:prstGeom>
          <a:noFill/>
        </p:spPr>
        <p:txBody>
          <a:bodyPr wrap="none" lIns="0" rIns="0" tIns="0" bIns="0" anchor="ctr">
            <a:spAutoFit/>
          </a:bodyPr>
          <a:lstStyle/>
          <a:p>
            <a:pPr algn="ctr"/>
            <a:r>
              <a:rPr b="1" sz="800">
                <a:solidFill>
                  <a:srgbClr val="3B3535"/>
                </a:solidFill>
                <a:latin typeface="Helvetica Bold"/>
              </a:rPr>
              <a:t>LO BÁSICO</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000">
                <a:solidFill>
                  <a:srgbClr val="1F1E1E"/>
                </a:solidFill>
                <a:latin typeface="Helvetica Bold"/>
              </a:rPr>
              <a:t>Los bloques de Cowork: cada problema, una pieza</a:t>
            </a:r>
          </a:p>
        </p:txBody>
      </p:sp>
      <p:sp>
        <p:nvSpPr>
          <p:cNvPr id="5" name="TextBox 4"/>
          <p:cNvSpPr txBox="1"/>
          <p:nvPr/>
        </p:nvSpPr>
        <p:spPr>
          <a:xfrm>
            <a:off x="493776" y="1636775"/>
            <a:ext cx="4526280" cy="3209544"/>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900">
                <a:solidFill>
                  <a:srgbClr val="3B3535"/>
                </a:solidFill>
                <a:latin typeface="Helvetica Bold"/>
              </a:rPr>
              <a:t>La idea.</a:t>
            </a:r>
            <a:r>
              <a:rPr b="0" sz="900">
                <a:solidFill>
                  <a:srgbClr val="3B3535"/>
                </a:solidFill>
                <a:latin typeface="Helvetica"/>
              </a:rPr>
              <a:t> Cowork no se aprende como una lista de features sueltas, sino como </a:t>
            </a:r>
            <a:r>
              <a:rPr b="1" sz="900">
                <a:solidFill>
                  <a:srgbClr val="3B3535"/>
                </a:solidFill>
                <a:latin typeface="Helvetica Bold"/>
              </a:rPr>
              <a:t>bloques que se apilan</a:t>
            </a:r>
            <a:r>
              <a:rPr b="0" sz="900">
                <a:solidFill>
                  <a:srgbClr val="3B3535"/>
                </a:solidFill>
                <a:latin typeface="Helvetica"/>
              </a:rPr>
              <a:t>: cada bloque resuelve un problema concreto y recurrente, y al sumarse vuelven al agente cada vez más rico y autónomo. </a:t>
            </a:r>
            <a:r>
              <a:rPr b="1" sz="900">
                <a:solidFill>
                  <a:srgbClr val="3B3535"/>
                </a:solidFill>
                <a:latin typeface="Helvetica Bold"/>
              </a:rPr>
              <a:t>Importante:</a:t>
            </a:r>
            <a:r>
              <a:rPr b="0" sz="900">
                <a:solidFill>
                  <a:srgbClr val="3B3535"/>
                </a:solidFill>
                <a:latin typeface="Helvetica"/>
              </a:rPr>
              <a:t> estos bloques </a:t>
            </a:r>
            <a:r>
              <a:rPr b="1" sz="900">
                <a:solidFill>
                  <a:srgbClr val="3B3535"/>
                </a:solidFill>
                <a:latin typeface="Helvetica Bold"/>
              </a:rPr>
              <a:t>no</a:t>
            </a:r>
            <a:r>
              <a:rPr b="0" sz="900">
                <a:solidFill>
                  <a:srgbClr val="3B3535"/>
                </a:solidFill>
                <a:latin typeface="Helvetica"/>
              </a:rPr>
              <a:t> son una escalera estricta — usás solo los que tu tarea necesita; se combinan, no se exigen unos a otros.</a:t>
            </a:r>
          </a:p>
          <a:p>
            <a:pPr marL="164592" indent="-164592">
              <a:spcBef>
                <a:spcPts val="0"/>
              </a:spcBef>
              <a:spcAft>
                <a:spcPts val="400"/>
              </a:spcAft>
              <a:buClr>
                <a:srgbClr val="3B3535"/>
              </a:buClr>
              <a:buFont typeface="Arial"/>
              <a:buChar char="•"/>
            </a:pPr>
            <a:r>
              <a:rPr b="1" sz="900">
                <a:solidFill>
                  <a:srgbClr val="3B3535"/>
                </a:solidFill>
                <a:latin typeface="Helvetica Bold"/>
              </a:rPr>
              <a:t>Este es el mapa de toda la charla.</a:t>
            </a:r>
            <a:r>
              <a:rPr b="0" sz="900">
                <a:solidFill>
                  <a:srgbClr val="3B3535"/>
                </a:solidFill>
                <a:latin typeface="Helvetica"/>
              </a:rPr>
              <a:t> Vamos a </a:t>
            </a:r>
            <a:r>
              <a:rPr b="1" sz="900">
                <a:solidFill>
                  <a:srgbClr val="3B3535"/>
                </a:solidFill>
                <a:latin typeface="Helvetica Bold"/>
              </a:rPr>
              <a:t>recorrer cada bloque, uno por uno</a:t>
            </a:r>
            <a:r>
              <a:rPr b="0" sz="900">
                <a:solidFill>
                  <a:srgbClr val="3B3535"/>
                </a:solidFill>
                <a:latin typeface="Helvetica"/>
              </a:rPr>
              <a:t>, en el resto de la sesión — en este orden. Volvé a esta slide como "estamos acá" cuando quieras ubicarte.</a:t>
            </a:r>
          </a:p>
          <a:p>
            <a:pPr marL="164592" indent="-164592">
              <a:spcBef>
                <a:spcPts val="0"/>
              </a:spcBef>
              <a:spcAft>
                <a:spcPts val="400"/>
              </a:spcAft>
              <a:buClr>
                <a:srgbClr val="3B3535"/>
              </a:buClr>
              <a:buFont typeface="Arial"/>
              <a:buChar char="•"/>
            </a:pPr>
            <a:r>
              <a:rPr b="1" sz="900">
                <a:solidFill>
                  <a:srgbClr val="3B3535"/>
                </a:solidFill>
                <a:latin typeface="Helvetica Bold"/>
              </a:rPr>
              <a:t>Cada bloque = un problema que ya tuviste:</a:t>
            </a:r>
          </a:p>
          <a:p>
            <a:pPr marL="402336" indent="-164592">
              <a:spcBef>
                <a:spcPts val="0"/>
              </a:spcBef>
              <a:spcAft>
                <a:spcPts val="400"/>
              </a:spcAft>
              <a:buClr>
                <a:srgbClr val="DA1B2E"/>
              </a:buClr>
              <a:buFont typeface="Arial"/>
              <a:buChar char="–"/>
            </a:pPr>
            <a:r>
              <a:rPr b="1" sz="750">
                <a:solidFill>
                  <a:srgbClr val="3B3535"/>
                </a:solidFill>
                <a:latin typeface="Helvetica Bold"/>
              </a:rPr>
              <a:t>Un prompt / chatear</a:t>
            </a:r>
            <a:r>
              <a:rPr b="0" sz="750">
                <a:solidFill>
                  <a:srgbClr val="3B3535"/>
                </a:solidFill>
                <a:latin typeface="Helvetica"/>
              </a:rPr>
              <a:t> → hago todo a mano, un mensaje a la vez.</a:t>
            </a:r>
          </a:p>
          <a:p>
            <a:pPr marL="402336" indent="-164592">
              <a:spcBef>
                <a:spcPts val="0"/>
              </a:spcBef>
              <a:spcAft>
                <a:spcPts val="400"/>
              </a:spcAft>
              <a:buClr>
                <a:srgbClr val="DA1B2E"/>
              </a:buClr>
              <a:buFont typeface="Arial"/>
              <a:buChar char="–"/>
            </a:pPr>
            <a:r>
              <a:rPr b="1" sz="750">
                <a:solidFill>
                  <a:srgbClr val="3B3535"/>
                </a:solidFill>
                <a:latin typeface="Helvetica Bold"/>
              </a:rPr>
              <a:t>Instrucciones</a:t>
            </a:r>
            <a:r>
              <a:rPr b="0" sz="750">
                <a:solidFill>
                  <a:srgbClr val="3B3535"/>
                </a:solidFill>
                <a:latin typeface="Helvetica"/>
              </a:rPr>
              <a:t> → no quiero repetir el contexto en cada prompt.</a:t>
            </a:r>
          </a:p>
          <a:p>
            <a:pPr marL="402336" indent="-164592">
              <a:spcBef>
                <a:spcPts val="0"/>
              </a:spcBef>
              <a:spcAft>
                <a:spcPts val="400"/>
              </a:spcAft>
              <a:buClr>
                <a:srgbClr val="DA1B2E"/>
              </a:buClr>
              <a:buFont typeface="Arial"/>
              <a:buChar char="–"/>
            </a:pPr>
            <a:r>
              <a:rPr b="1" sz="750">
                <a:solidFill>
                  <a:srgbClr val="3B3535"/>
                </a:solidFill>
                <a:latin typeface="Helvetica Bold"/>
              </a:rPr>
              <a:t>Projects</a:t>
            </a:r>
            <a:r>
              <a:rPr b="0" sz="750">
                <a:solidFill>
                  <a:srgbClr val="3B3535"/>
                </a:solidFill>
                <a:latin typeface="Helvetica"/>
              </a:rPr>
              <a:t> → quiero guardar y organizar todo en un lugar fijo.</a:t>
            </a:r>
          </a:p>
          <a:p>
            <a:pPr marL="402336" indent="-164592">
              <a:spcBef>
                <a:spcPts val="0"/>
              </a:spcBef>
              <a:spcAft>
                <a:spcPts val="400"/>
              </a:spcAft>
              <a:buClr>
                <a:srgbClr val="DA1B2E"/>
              </a:buClr>
              <a:buFont typeface="Arial"/>
              <a:buChar char="–"/>
            </a:pPr>
            <a:r>
              <a:rPr b="1" sz="750">
                <a:solidFill>
                  <a:srgbClr val="3B3535"/>
                </a:solidFill>
                <a:latin typeface="Helvetica Bold"/>
              </a:rPr>
              <a:t>Skills</a:t>
            </a:r>
            <a:r>
              <a:rPr b="0" sz="750">
                <a:solidFill>
                  <a:srgbClr val="3B3535"/>
                </a:solidFill>
                <a:latin typeface="Helvetica"/>
              </a:rPr>
              <a:t> → no quiero repetir la misma tarea.</a:t>
            </a:r>
          </a:p>
          <a:p>
            <a:pPr marL="402336" indent="-164592">
              <a:spcBef>
                <a:spcPts val="0"/>
              </a:spcBef>
              <a:spcAft>
                <a:spcPts val="400"/>
              </a:spcAft>
              <a:buClr>
                <a:srgbClr val="DA1B2E"/>
              </a:buClr>
              <a:buFont typeface="Arial"/>
              <a:buChar char="–"/>
            </a:pPr>
            <a:r>
              <a:rPr b="1" sz="750">
                <a:solidFill>
                  <a:srgbClr val="3B3535"/>
                </a:solidFill>
                <a:latin typeface="Helvetica Bold"/>
              </a:rPr>
              <a:t>Connectors / MCP</a:t>
            </a:r>
            <a:r>
              <a:rPr b="0" sz="750">
                <a:solidFill>
                  <a:srgbClr val="3B3535"/>
                </a:solidFill>
                <a:latin typeface="Helvetica"/>
              </a:rPr>
              <a:t> → quiero traer datos de mis herramientas.</a:t>
            </a:r>
          </a:p>
          <a:p>
            <a:pPr marL="402336" indent="-164592">
              <a:spcBef>
                <a:spcPts val="0"/>
              </a:spcBef>
              <a:spcAft>
                <a:spcPts val="400"/>
              </a:spcAft>
              <a:buClr>
                <a:srgbClr val="DA1B2E"/>
              </a:buClr>
              <a:buFont typeface="Arial"/>
              <a:buChar char="–"/>
            </a:pPr>
            <a:r>
              <a:rPr b="1" sz="750">
                <a:solidFill>
                  <a:srgbClr val="3B3535"/>
                </a:solidFill>
                <a:latin typeface="Helvetica Bold"/>
              </a:rPr>
              <a:t>Schedule</a:t>
            </a:r>
            <a:r>
              <a:rPr b="0" sz="750">
                <a:solidFill>
                  <a:srgbClr val="3B3535"/>
                </a:solidFill>
                <a:latin typeface="Helvetica"/>
              </a:rPr>
              <a:t> → quiero que corra solo.</a:t>
            </a:r>
          </a:p>
          <a:p>
            <a:pPr marL="402336" indent="-164592">
              <a:spcBef>
                <a:spcPts val="0"/>
              </a:spcBef>
              <a:spcAft>
                <a:spcPts val="400"/>
              </a:spcAft>
              <a:buClr>
                <a:srgbClr val="DA1B2E"/>
              </a:buClr>
              <a:buFont typeface="Arial"/>
              <a:buChar char="–"/>
            </a:pPr>
            <a:r>
              <a:rPr b="1" sz="750">
                <a:solidFill>
                  <a:srgbClr val="3B3535"/>
                </a:solidFill>
                <a:latin typeface="Helvetica Bold"/>
              </a:rPr>
              <a:t>Live Artifacts</a:t>
            </a:r>
            <a:r>
              <a:rPr b="0" sz="750">
                <a:solidFill>
                  <a:srgbClr val="3B3535"/>
                </a:solidFill>
                <a:latin typeface="Helvetica"/>
              </a:rPr>
              <a:t> → quiero compartir el resultado vivo — un colaborador que entrega solo.</a:t>
            </a:r>
          </a:p>
          <a:p>
            <a:pPr marL="164592" indent="-164592">
              <a:spcBef>
                <a:spcPts val="0"/>
              </a:spcBef>
              <a:spcAft>
                <a:spcPts val="400"/>
              </a:spcAft>
              <a:buClr>
                <a:srgbClr val="3B3535"/>
              </a:buClr>
              <a:buFont typeface="Arial"/>
              <a:buChar char="•"/>
            </a:pPr>
            <a:r>
              <a:rPr b="1" sz="900">
                <a:solidFill>
                  <a:srgbClr val="3B3535"/>
                </a:solidFill>
                <a:latin typeface="Helvetica Bold"/>
              </a:rPr>
              <a:t>Plugins, transversal.</a:t>
            </a:r>
            <a:r>
              <a:rPr b="0" sz="900">
                <a:solidFill>
                  <a:srgbClr val="3B3535"/>
                </a:solidFill>
                <a:latin typeface="Helvetica"/>
              </a:rPr>
              <a:t> Hay una pieza que no es un bloque más en la pila: los </a:t>
            </a:r>
            <a:r>
              <a:rPr b="1" sz="900">
                <a:solidFill>
                  <a:srgbClr val="3B3535"/>
                </a:solidFill>
                <a:latin typeface="Helvetica Bold"/>
              </a:rPr>
              <a:t>Plugins</a:t>
            </a:r>
            <a:r>
              <a:rPr b="0" sz="900">
                <a:solidFill>
                  <a:srgbClr val="3B3535"/>
                </a:solidFill>
                <a:latin typeface="Helvetica"/>
              </a:rPr>
              <a:t> son la </a:t>
            </a:r>
            <a:r>
              <a:rPr b="1" sz="900">
                <a:solidFill>
                  <a:srgbClr val="3B3535"/>
                </a:solidFill>
                <a:latin typeface="Helvetica Bold"/>
              </a:rPr>
              <a:t>capa transversal de distribución</a:t>
            </a:r>
            <a:r>
              <a:rPr b="0" sz="900">
                <a:solidFill>
                  <a:srgbClr val="3B3535"/>
                </a:solidFill>
                <a:latin typeface="Helvetica"/>
              </a:rPr>
              <a:t> — empaquetan y reparten Skills, agentes y connectors a todos a la vez. La vemos al final de la charla (Sección 6).</a:t>
            </a:r>
          </a:p>
        </p:txBody>
      </p:sp>
      <p:pic>
        <p:nvPicPr>
          <p:cNvPr id="6" name="Picture 5" descr="s2-2-1-bloques-cowork.png"/>
          <p:cNvPicPr>
            <a:picLocks noChangeAspect="1"/>
          </p:cNvPicPr>
          <p:nvPr/>
        </p:nvPicPr>
        <p:blipFill>
          <a:blip r:embed="rId2"/>
          <a:stretch>
            <a:fillRect/>
          </a:stretch>
        </p:blipFill>
        <p:spPr>
          <a:xfrm>
            <a:off x="5257800" y="1690833"/>
            <a:ext cx="3401568" cy="31014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903427"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903427" cy="237744"/>
          </a:xfrm>
          <a:prstGeom prst="rect">
            <a:avLst/>
          </a:prstGeom>
          <a:noFill/>
        </p:spPr>
        <p:txBody>
          <a:bodyPr wrap="none" lIns="0" rIns="0" tIns="0" bIns="0" anchor="ctr">
            <a:spAutoFit/>
          </a:bodyPr>
          <a:lstStyle/>
          <a:p>
            <a:pPr algn="ctr"/>
            <a:r>
              <a:rPr b="1" sz="800">
                <a:solidFill>
                  <a:srgbClr val="3B3535"/>
                </a:solidFill>
                <a:latin typeface="Helvetica Bold"/>
              </a:rPr>
              <a:t>LO BÁSICO</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1700">
                <a:solidFill>
                  <a:srgbClr val="1F1E1E"/>
                </a:solidFill>
                <a:latin typeface="Helvetica Bold"/>
              </a:rPr>
              <a:t>Instrucciones: ajustar el comportamiento sin repetirte</a:t>
            </a:r>
          </a:p>
        </p:txBody>
      </p:sp>
      <p:sp>
        <p:nvSpPr>
          <p:cNvPr id="5" name="TextBox 4"/>
          <p:cNvSpPr txBox="1"/>
          <p:nvPr/>
        </p:nvSpPr>
        <p:spPr>
          <a:xfrm>
            <a:off x="493776" y="1543507"/>
            <a:ext cx="4526280" cy="3302812"/>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Concepto.</a:t>
            </a:r>
            <a:r>
              <a:rPr b="0" sz="1000">
                <a:solidFill>
                  <a:srgbClr val="3B3535"/>
                </a:solidFill>
                <a:latin typeface="Helvetica"/>
              </a:rPr>
              <a:t> Las Instrucciones son el "contrato de trabajo" del agente: reglas en lenguaje natural que valen para todo lo que hagas, sin tener que repetirlas en cada prompt.</a:t>
            </a:r>
          </a:p>
          <a:p>
            <a:pPr marL="164592" indent="-164592">
              <a:spcBef>
                <a:spcPts val="0"/>
              </a:spcBef>
              <a:spcAft>
                <a:spcPts val="400"/>
              </a:spcAft>
              <a:buClr>
                <a:srgbClr val="3B3535"/>
              </a:buClr>
              <a:buFont typeface="Arial"/>
              <a:buChar char="•"/>
            </a:pPr>
            <a:r>
              <a:rPr b="1" sz="1000">
                <a:solidFill>
                  <a:srgbClr val="3B3535"/>
                </a:solidFill>
                <a:latin typeface="Helvetica Bold"/>
              </a:rPr>
              <a:t>Ejemplo (Atlas) — qué podría decir un Instructions.</a:t>
            </a:r>
            <a:r>
              <a:rPr b="0" sz="1000">
                <a:solidFill>
                  <a:srgbClr val="3B3535"/>
                </a:solidFill>
                <a:latin typeface="Helvetica"/>
              </a:rPr>
              <a:t> Quién es Atlas, qué empresas sigue, su audiencia, su tono y su regla de oro:</a:t>
            </a:r>
          </a:p>
          <a:p>
            <a:pPr>
              <a:spcAft>
                <a:spcPts val="500"/>
              </a:spcAft>
            </a:pPr>
            <a:r>
              <a:rPr b="0" sz="1000">
                <a:solidFill>
                  <a:srgbClr val="3B3535"/>
                </a:solidFill>
                <a:latin typeface="Helvetica"/>
              </a:rPr>
              <a:t>Una sola vez escribís esto; vale para todos los prompts del Project.</a:t>
            </a:r>
          </a:p>
          <a:p>
            <a:pPr marL="164592" indent="-164592">
              <a:spcBef>
                <a:spcPts val="0"/>
              </a:spcBef>
              <a:spcAft>
                <a:spcPts val="400"/>
              </a:spcAft>
              <a:buClr>
                <a:srgbClr val="3B3535"/>
              </a:buClr>
              <a:buFont typeface="Arial"/>
              <a:buChar char="•"/>
            </a:pPr>
            <a:r>
              <a:rPr b="1" sz="1000">
                <a:solidFill>
                  <a:srgbClr val="3B3535"/>
                </a:solidFill>
                <a:latin typeface="Helvetica Bold"/>
              </a:rPr>
              <a:t>Cosas importantes a tener en cuenta.</a:t>
            </a:r>
          </a:p>
          <a:p>
            <a:pPr marL="402336" indent="-164592">
              <a:spcBef>
                <a:spcPts val="0"/>
              </a:spcBef>
              <a:spcAft>
                <a:spcPts val="400"/>
              </a:spcAft>
              <a:buClr>
                <a:srgbClr val="DA1B2E"/>
              </a:buClr>
              <a:buFont typeface="Arial"/>
              <a:buChar char="–"/>
            </a:pPr>
            <a:r>
              <a:rPr b="0" sz="850">
                <a:solidFill>
                  <a:srgbClr val="3B3535"/>
                </a:solidFill>
                <a:latin typeface="Helvetica"/>
              </a:rPr>
              <a:t>Mantenelas cortas y claras; son lenguaje natural, no código.</a:t>
            </a:r>
          </a:p>
          <a:p>
            <a:pPr marL="402336" indent="-164592">
              <a:spcBef>
                <a:spcPts val="0"/>
              </a:spcBef>
              <a:spcAft>
                <a:spcPts val="400"/>
              </a:spcAft>
              <a:buClr>
                <a:srgbClr val="DA1B2E"/>
              </a:buClr>
              <a:buFont typeface="Arial"/>
              <a:buChar char="–"/>
            </a:pPr>
            <a:r>
              <a:rPr b="0" sz="850">
                <a:solidFill>
                  <a:srgbClr val="3B3535"/>
                </a:solidFill>
                <a:latin typeface="Helvetica"/>
              </a:rPr>
              <a:t>Sirven para evitar repetir lo mismo en cada prompt: lo que decís una vez vale para todo el Project.</a:t>
            </a:r>
          </a:p>
          <a:p>
            <a:pPr marL="402336" indent="-164592">
              <a:spcBef>
                <a:spcPts val="0"/>
              </a:spcBef>
              <a:spcAft>
                <a:spcPts val="400"/>
              </a:spcAft>
              <a:buClr>
                <a:srgbClr val="DA1B2E"/>
              </a:buClr>
              <a:buFont typeface="Arial"/>
              <a:buChar char="–"/>
            </a:pPr>
            <a:r>
              <a:rPr b="0" sz="850">
                <a:solidFill>
                  <a:srgbClr val="3B3535"/>
                </a:solidFill>
                <a:latin typeface="Helvetica"/>
              </a:rPr>
              <a:t>Es el lugar para fijar reglas no negociables (como el disclaimer legal).</a:t>
            </a:r>
          </a:p>
        </p:txBody>
      </p:sp>
      <p:pic>
        <p:nvPicPr>
          <p:cNvPr id="6" name="Picture 5" descr="s2-3-1-tarjeta-instrucciones.png"/>
          <p:cNvPicPr>
            <a:picLocks noChangeAspect="1"/>
          </p:cNvPicPr>
          <p:nvPr/>
        </p:nvPicPr>
        <p:blipFill>
          <a:blip r:embed="rId2"/>
          <a:stretch>
            <a:fillRect/>
          </a:stretch>
        </p:blipFill>
        <p:spPr>
          <a:xfrm>
            <a:off x="5257800" y="2144429"/>
            <a:ext cx="3401568" cy="210096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903427"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903427" cy="237744"/>
          </a:xfrm>
          <a:prstGeom prst="rect">
            <a:avLst/>
          </a:prstGeom>
          <a:noFill/>
        </p:spPr>
        <p:txBody>
          <a:bodyPr wrap="none" lIns="0" rIns="0" tIns="0" bIns="0" anchor="ctr">
            <a:spAutoFit/>
          </a:bodyPr>
          <a:lstStyle/>
          <a:p>
            <a:pPr algn="ctr"/>
            <a:r>
              <a:rPr b="1" sz="800">
                <a:solidFill>
                  <a:srgbClr val="3B3535"/>
                </a:solidFill>
                <a:latin typeface="Helvetica Bold"/>
              </a:rPr>
              <a:t>LO BÁSICO</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400">
                <a:solidFill>
                  <a:srgbClr val="1F1E1E"/>
                </a:solidFill>
                <a:latin typeface="Helvetica Bold"/>
              </a:rPr>
              <a:t>Projects: guardar todo en un lugar fijo</a:t>
            </a:r>
          </a:p>
        </p:txBody>
      </p:sp>
      <p:pic>
        <p:nvPicPr>
          <p:cNvPr id="5" name="Picture 4" descr="folder.outlined.DA1B2E.png"/>
          <p:cNvPicPr>
            <a:picLocks noChangeAspect="1"/>
          </p:cNvPicPr>
          <p:nvPr/>
        </p:nvPicPr>
        <p:blipFill>
          <a:blip r:embed="rId3"/>
          <a:stretch>
            <a:fillRect/>
          </a:stretch>
        </p:blipFill>
        <p:spPr>
          <a:xfrm>
            <a:off x="512064" y="1828800"/>
            <a:ext cx="329184" cy="329184"/>
          </a:xfrm>
          <a:prstGeom prst="rect">
            <a:avLst/>
          </a:prstGeom>
        </p:spPr>
      </p:pic>
      <p:sp>
        <p:nvSpPr>
          <p:cNvPr id="6" name="TextBox 5"/>
          <p:cNvSpPr txBox="1"/>
          <p:nvPr/>
        </p:nvSpPr>
        <p:spPr>
          <a:xfrm>
            <a:off x="1042415" y="1783080"/>
            <a:ext cx="7086600" cy="274320"/>
          </a:xfrm>
          <a:prstGeom prst="rect">
            <a:avLst/>
          </a:prstGeom>
          <a:noFill/>
        </p:spPr>
        <p:txBody>
          <a:bodyPr wrap="square" lIns="0" rIns="0" tIns="0" bIns="0" anchor="t">
            <a:spAutoFit/>
          </a:bodyPr>
          <a:lstStyle/>
          <a:p>
            <a:pPr algn="l"/>
            <a:r>
              <a:rPr sz="1300" b="1">
                <a:solidFill>
                  <a:srgbClr val="1F1E1E"/>
                </a:solidFill>
                <a:latin typeface="Helvetica Bold"/>
              </a:rPr>
              <a:t>Concepto</a:t>
            </a:r>
          </a:p>
        </p:txBody>
      </p:sp>
      <p:sp>
        <p:nvSpPr>
          <p:cNvPr id="7" name="TextBox 6"/>
          <p:cNvSpPr txBox="1"/>
          <p:nvPr/>
        </p:nvSpPr>
        <p:spPr>
          <a:xfrm>
            <a:off x="1042415" y="2084831"/>
            <a:ext cx="7086600" cy="731519"/>
          </a:xfrm>
          <a:prstGeom prst="rect">
            <a:avLst/>
          </a:prstGeom>
          <a:noFill/>
        </p:spPr>
        <p:txBody>
          <a:bodyPr wrap="square" lIns="0" rIns="0" tIns="0" bIns="0" anchor="t">
            <a:spAutoFit/>
          </a:bodyPr>
          <a:lstStyle/>
          <a:p>
            <a:pPr algn="l"/>
            <a:r>
              <a:rPr sz="1050" b="0">
                <a:solidFill>
                  <a:srgbClr val="3B3535"/>
                </a:solidFill>
                <a:latin typeface="Helvetica"/>
              </a:rPr>
              <a:t>Un Project es un espacio de trabajo autocontenido: le da al agente una carpeta propia, memoria y un lugar fijo para sus tareas. Tres capas persistentes: Instrucciones, base de conocimiento y Chats.</a:t>
            </a:r>
          </a:p>
        </p:txBody>
      </p:sp>
      <p:pic>
        <p:nvPicPr>
          <p:cNvPr id="8" name="Picture 7" descr="check_circle.outlined.DA1B2E.png"/>
          <p:cNvPicPr>
            <a:picLocks noChangeAspect="1"/>
          </p:cNvPicPr>
          <p:nvPr/>
        </p:nvPicPr>
        <p:blipFill>
          <a:blip r:embed="rId4"/>
          <a:stretch>
            <a:fillRect/>
          </a:stretch>
        </p:blipFill>
        <p:spPr>
          <a:xfrm>
            <a:off x="512064" y="2871216"/>
            <a:ext cx="329184" cy="329184"/>
          </a:xfrm>
          <a:prstGeom prst="rect">
            <a:avLst/>
          </a:prstGeom>
        </p:spPr>
      </p:pic>
      <p:sp>
        <p:nvSpPr>
          <p:cNvPr id="9" name="TextBox 8"/>
          <p:cNvSpPr txBox="1"/>
          <p:nvPr/>
        </p:nvSpPr>
        <p:spPr>
          <a:xfrm>
            <a:off x="1042415" y="2825496"/>
            <a:ext cx="7086600" cy="274320"/>
          </a:xfrm>
          <a:prstGeom prst="rect">
            <a:avLst/>
          </a:prstGeom>
          <a:noFill/>
        </p:spPr>
        <p:txBody>
          <a:bodyPr wrap="square" lIns="0" rIns="0" tIns="0" bIns="0" anchor="t">
            <a:spAutoFit/>
          </a:bodyPr>
          <a:lstStyle/>
          <a:p>
            <a:pPr algn="l"/>
            <a:r>
              <a:rPr sz="1300" b="1">
                <a:solidFill>
                  <a:srgbClr val="1F1E1E"/>
                </a:solidFill>
                <a:latin typeface="Helvetica Bold"/>
              </a:rPr>
              <a:t>Ventajas</a:t>
            </a:r>
          </a:p>
        </p:txBody>
      </p:sp>
      <p:sp>
        <p:nvSpPr>
          <p:cNvPr id="10" name="TextBox 9"/>
          <p:cNvSpPr txBox="1"/>
          <p:nvPr/>
        </p:nvSpPr>
        <p:spPr>
          <a:xfrm>
            <a:off x="1042415" y="3127248"/>
            <a:ext cx="7086600" cy="731519"/>
          </a:xfrm>
          <a:prstGeom prst="rect">
            <a:avLst/>
          </a:prstGeom>
          <a:noFill/>
        </p:spPr>
        <p:txBody>
          <a:bodyPr wrap="square" lIns="0" rIns="0" tIns="0" bIns="0" anchor="t">
            <a:spAutoFit/>
          </a:bodyPr>
          <a:lstStyle/>
          <a:p>
            <a:pPr algn="l"/>
            <a:r>
              <a:rPr sz="1050" b="0">
                <a:solidFill>
                  <a:srgbClr val="3B3535"/>
                </a:solidFill>
                <a:latin typeface="Helvetica"/>
              </a:rPr>
              <a:t>Todo queda organizado y reutilizable: las Instrucciones valen para todo el Project, la memoria recuerda tus correcciones y preferencias, y los archivos viven en una carpeta concreta de tu disco.</a:t>
            </a:r>
          </a:p>
        </p:txBody>
      </p:sp>
      <p:pic>
        <p:nvPicPr>
          <p:cNvPr id="11" name="Picture 10" descr="warning.outlined.DA1B2E.png"/>
          <p:cNvPicPr>
            <a:picLocks noChangeAspect="1"/>
          </p:cNvPicPr>
          <p:nvPr/>
        </p:nvPicPr>
        <p:blipFill>
          <a:blip r:embed="rId5"/>
          <a:stretch>
            <a:fillRect/>
          </a:stretch>
        </p:blipFill>
        <p:spPr>
          <a:xfrm>
            <a:off x="512064" y="3913631"/>
            <a:ext cx="329184" cy="329184"/>
          </a:xfrm>
          <a:prstGeom prst="rect">
            <a:avLst/>
          </a:prstGeom>
        </p:spPr>
      </p:pic>
      <p:sp>
        <p:nvSpPr>
          <p:cNvPr id="12" name="TextBox 11"/>
          <p:cNvSpPr txBox="1"/>
          <p:nvPr/>
        </p:nvSpPr>
        <p:spPr>
          <a:xfrm>
            <a:off x="1042415" y="3867911"/>
            <a:ext cx="7086600" cy="274320"/>
          </a:xfrm>
          <a:prstGeom prst="rect">
            <a:avLst/>
          </a:prstGeom>
          <a:noFill/>
        </p:spPr>
        <p:txBody>
          <a:bodyPr wrap="square" lIns="0" rIns="0" tIns="0" bIns="0" anchor="t">
            <a:spAutoFit/>
          </a:bodyPr>
          <a:lstStyle/>
          <a:p>
            <a:pPr algn="l"/>
            <a:r>
              <a:rPr sz="1300" b="1">
                <a:solidFill>
                  <a:srgbClr val="1F1E1E"/>
                </a:solidFill>
                <a:latin typeface="Helvetica Bold"/>
              </a:rPr>
              <a:t>Cosas importantes a tener en cuenta</a:t>
            </a:r>
          </a:p>
        </p:txBody>
      </p:sp>
      <p:sp>
        <p:nvSpPr>
          <p:cNvPr id="13" name="TextBox 12"/>
          <p:cNvSpPr txBox="1"/>
          <p:nvPr/>
        </p:nvSpPr>
        <p:spPr>
          <a:xfrm>
            <a:off x="1042415" y="4169663"/>
            <a:ext cx="7086600" cy="731519"/>
          </a:xfrm>
          <a:prstGeom prst="rect">
            <a:avLst/>
          </a:prstGeom>
          <a:noFill/>
        </p:spPr>
        <p:txBody>
          <a:bodyPr wrap="square" lIns="0" rIns="0" tIns="0" bIns="0" anchor="t">
            <a:spAutoFit/>
          </a:bodyPr>
          <a:lstStyle/>
          <a:p>
            <a:pPr algn="l"/>
            <a:r>
              <a:rPr sz="1050" b="0">
                <a:solidFill>
                  <a:srgbClr val="3B3535"/>
                </a:solidFill>
                <a:latin typeface="Helvetica"/>
              </a:rPr>
              <a:t>Los chats de un mismo Project no comparten contexto entre sí (solo la base de conocimiento). Qué carpetas se conceden lo controla el selector del sistema operativo, no un archivo. Buena práctica: una carpeta dedicada, nunca con datos confidenciales.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903427"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903427" cy="237744"/>
          </a:xfrm>
          <a:prstGeom prst="rect">
            <a:avLst/>
          </a:prstGeom>
          <a:noFill/>
        </p:spPr>
        <p:txBody>
          <a:bodyPr wrap="none" lIns="0" rIns="0" tIns="0" bIns="0" anchor="ctr">
            <a:spAutoFit/>
          </a:bodyPr>
          <a:lstStyle/>
          <a:p>
            <a:pPr algn="ctr"/>
            <a:r>
              <a:rPr b="1" sz="800">
                <a:solidFill>
                  <a:srgbClr val="3B3535"/>
                </a:solidFill>
                <a:latin typeface="Helvetica Bold"/>
              </a:rPr>
              <a:t>LO BÁSICO</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000">
                <a:solidFill>
                  <a:srgbClr val="1F1E1E"/>
                </a:solidFill>
                <a:latin typeface="Helvetica Bold"/>
              </a:rPr>
              <a:t>El selector de carpetas y el panel de contexto</a:t>
            </a:r>
          </a:p>
        </p:txBody>
      </p:sp>
      <p:sp>
        <p:nvSpPr>
          <p:cNvPr id="5" name="TextBox 4"/>
          <p:cNvSpPr txBox="1"/>
          <p:nvPr/>
        </p:nvSpPr>
        <p:spPr>
          <a:xfrm>
            <a:off x="493776" y="1636775"/>
            <a:ext cx="4526280" cy="3209544"/>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Conceder una carpeta de trabajo.</a:t>
            </a:r>
            <a:r>
              <a:rPr b="0" sz="1000">
                <a:solidFill>
                  <a:srgbClr val="3B3535"/>
                </a:solidFill>
                <a:latin typeface="Helvetica"/>
              </a:rPr>
              <a:t> Cowork no toca tu disco por sí solo: vos le concedés una carpeta con el </a:t>
            </a:r>
            <a:r>
              <a:rPr b="1" sz="1000">
                <a:solidFill>
                  <a:srgbClr val="3B3535"/>
                </a:solidFill>
                <a:latin typeface="Helvetica Bold"/>
              </a:rPr>
              <a:t>selector de carpetas del sistema operativo</a:t>
            </a:r>
            <a:r>
              <a:rPr b="0" sz="1000">
                <a:solidFill>
                  <a:srgbClr val="3B3535"/>
                </a:solidFill>
                <a:latin typeface="Helvetica"/>
              </a:rPr>
              <a:t> (el mismo folder picker que usás para abrir cualquier archivo). Lo que quede fuera de esa carpeta, Cowork no lo ve.</a:t>
            </a:r>
          </a:p>
          <a:p>
            <a:pPr marL="164592" indent="-164592">
              <a:spcBef>
                <a:spcPts val="0"/>
              </a:spcBef>
              <a:spcAft>
                <a:spcPts val="400"/>
              </a:spcAft>
              <a:buClr>
                <a:srgbClr val="3B3535"/>
              </a:buClr>
              <a:buFont typeface="Arial"/>
              <a:buChar char="•"/>
            </a:pPr>
            <a:r>
              <a:rPr b="1" sz="1000">
                <a:solidFill>
                  <a:srgbClr val="3B3535"/>
                </a:solidFill>
                <a:latin typeface="Helvetica Bold"/>
              </a:rPr>
              <a:t>El panel de contexto del Project.</a:t>
            </a:r>
            <a:r>
              <a:rPr b="0" sz="1000">
                <a:solidFill>
                  <a:srgbClr val="3B3535"/>
                </a:solidFill>
                <a:latin typeface="Helvetica"/>
              </a:rPr>
              <a:t> Es donde viven las Instrucciones, la base de conocimiento y la carpeta concedida — la "foto" de todo lo que el agente tiene a mano para ese Project.</a:t>
            </a:r>
          </a:p>
          <a:p>
            <a:pPr marL="164592" indent="-164592">
              <a:spcBef>
                <a:spcPts val="0"/>
              </a:spcBef>
              <a:spcAft>
                <a:spcPts val="400"/>
              </a:spcAft>
              <a:buClr>
                <a:srgbClr val="3B3535"/>
              </a:buClr>
              <a:buFont typeface="Arial"/>
              <a:buChar char="•"/>
            </a:pPr>
            <a:r>
              <a:rPr b="1" sz="1000">
                <a:solidFill>
                  <a:srgbClr val="3B3535"/>
                </a:solidFill>
                <a:latin typeface="Helvetica Bold"/>
              </a:rPr>
              <a:t>Nota de seguridad.</a:t>
            </a:r>
            <a:r>
              <a:rPr b="0" sz="1000">
                <a:solidFill>
                  <a:srgbClr val="3B3535"/>
                </a:solidFill>
                <a:latin typeface="Helvetica"/>
              </a:rPr>
              <a:t> El selector es a la vez tu garantía y tu límite: Cowork solo trabaja sobre lo que le concedés. </a:t>
            </a:r>
            <a:r>
              <a:rPr b="1" sz="1000">
                <a:solidFill>
                  <a:srgbClr val="3B3535"/>
                </a:solidFill>
                <a:latin typeface="Helvetica Bold"/>
              </a:rPr>
              <a:t>Nunca concedas una carpeta con datos sensibles, credenciales o información bajo NDA.</a:t>
            </a:r>
            <a:r>
              <a:rPr b="0" sz="1000">
                <a:solidFill>
                  <a:srgbClr val="3B3535"/>
                </a:solidFill>
                <a:latin typeface="Helvetica"/>
              </a:rPr>
              <a:t> Buena práctica: una carpeta dedicada por Project, para saber siempre qué está en alcance.</a:t>
            </a:r>
          </a:p>
        </p:txBody>
      </p:sp>
      <p:pic>
        <p:nvPicPr>
          <p:cNvPr id="6" name="Picture 5" descr="project.png"/>
          <p:cNvPicPr>
            <a:picLocks noChangeAspect="1"/>
          </p:cNvPicPr>
          <p:nvPr/>
        </p:nvPicPr>
        <p:blipFill>
          <a:blip r:embed="rId2"/>
          <a:stretch>
            <a:fillRect/>
          </a:stretch>
        </p:blipFill>
        <p:spPr>
          <a:xfrm>
            <a:off x="5257800" y="1659937"/>
            <a:ext cx="3401568" cy="1476152"/>
          </a:xfrm>
          <a:prstGeom prst="rect">
            <a:avLst/>
          </a:prstGeom>
        </p:spPr>
      </p:pic>
      <p:pic>
        <p:nvPicPr>
          <p:cNvPr id="7" name="Picture 6" descr="context.png"/>
          <p:cNvPicPr>
            <a:picLocks noChangeAspect="1"/>
          </p:cNvPicPr>
          <p:nvPr/>
        </p:nvPicPr>
        <p:blipFill>
          <a:blip r:embed="rId3"/>
          <a:stretch>
            <a:fillRect/>
          </a:stretch>
        </p:blipFill>
        <p:spPr>
          <a:xfrm>
            <a:off x="5257800" y="3347005"/>
            <a:ext cx="3401568" cy="14761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dirty="0">
                <a:solidFill>
                  <a:srgbClr val="1F1E1E"/>
                </a:solidFill>
                <a:latin typeface="Helvetica Bold" pitchFamily="34" charset="0"/>
                <a:ea typeface="Roboto Mono Medium" pitchFamily="34" charset="-122"/>
                <a:cs typeface="Roboto Mono Medium" pitchFamily="34" charset="-120"/>
              </a:rPr>
              <a:t>Agenda</a:t>
            </a:r>
            <a:endParaRPr lang="en-US" sz="2150" dirty="0"/>
          </a:p>
        </p:txBody>
      </p:sp>
      <p:sp>
        <p:nvSpPr>
          <p:cNvPr id="3" name="Shape 1"/>
          <p:cNvSpPr/>
          <p:nvPr/>
        </p:nvSpPr>
        <p:spPr>
          <a:xfrm>
            <a:off x="606103" y="994172"/>
            <a:ext cx="14288" cy="3644354"/>
          </a:xfrm>
          <a:prstGeom prst="roundRect">
            <a:avLst>
              <a:gd name="adj" fmla="val 39999"/>
            </a:avLst>
          </a:prstGeom>
          <a:solidFill>
            <a:srgbClr val="D8D4D4"/>
          </a:solidFill>
          <a:ln/>
        </p:spPr>
        <p:txBody>
          <a:bodyPr/>
          <a:p/>
        </p:txBody>
      </p:sp>
      <p:sp>
        <p:nvSpPr>
          <p:cNvPr id="4" name="Shape 2"/>
          <p:cNvSpPr/>
          <p:nvPr/>
        </p:nvSpPr>
        <p:spPr>
          <a:xfrm>
            <a:off x="717314" y="1112490"/>
            <a:ext cx="334714" cy="14288"/>
          </a:xfrm>
          <a:prstGeom prst="roundRect">
            <a:avLst>
              <a:gd name="adj" fmla="val 39999"/>
            </a:avLst>
          </a:prstGeom>
          <a:solidFill>
            <a:srgbClr val="D8D4D4"/>
          </a:solidFill>
          <a:ln/>
        </p:spPr>
        <p:txBody>
          <a:bodyPr/>
          <a:p/>
        </p:txBody>
      </p:sp>
      <p:sp>
        <p:nvSpPr>
          <p:cNvPr id="5" name="Shape 3"/>
          <p:cNvSpPr/>
          <p:nvPr/>
        </p:nvSpPr>
        <p:spPr>
          <a:xfrm>
            <a:off x="480603" y="994172"/>
            <a:ext cx="250999" cy="250999"/>
          </a:xfrm>
          <a:prstGeom prst="roundRect">
            <a:avLst>
              <a:gd name="adj" fmla="val 2277"/>
            </a:avLst>
          </a:prstGeom>
          <a:solidFill>
            <a:srgbClr val="F2EEEE"/>
          </a:solidFill>
          <a:ln w="4763">
            <a:solidFill>
              <a:srgbClr val="F33447"/>
            </a:solidFill>
            <a:prstDash val="solid"/>
          </a:ln>
        </p:spPr>
        <p:txBody>
          <a:bodyPr/>
          <a:p/>
        </p:txBody>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1</a:t>
            </a:r>
            <a:endParaRPr lang="en-US" sz="1300" dirty="0"/>
          </a:p>
        </p:txBody>
      </p:sp>
      <p:sp>
        <p:nvSpPr>
          <p:cNvPr id="7" name="Text 5"/>
          <p:cNvSpPr/>
          <p:nvPr/>
        </p:nvSpPr>
        <p:spPr>
          <a:xfrm>
            <a:off x="1164059" y="103249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De chat a agente: dónde encaja Cowork</a:t>
            </a:r>
            <a:endParaRPr lang="en-US" sz="1050"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Del chat a delegar un resultado: dónde encaja Cowork</a:t>
            </a:r>
            <a:endParaRPr lang="en-US" sz="850" dirty="0"/>
          </a:p>
        </p:txBody>
      </p:sp>
      <p:sp>
        <p:nvSpPr>
          <p:cNvPr id="9" name="Shape 7"/>
          <p:cNvSpPr/>
          <p:nvPr/>
        </p:nvSpPr>
        <p:spPr>
          <a:xfrm>
            <a:off x="717314" y="1653183"/>
            <a:ext cx="334714" cy="14288"/>
          </a:xfrm>
          <a:prstGeom prst="roundRect">
            <a:avLst>
              <a:gd name="adj" fmla="val 39999"/>
            </a:avLst>
          </a:prstGeom>
          <a:solidFill>
            <a:srgbClr val="F33447"/>
          </a:solidFill>
          <a:ln/>
        </p:spPr>
        <p:txBody>
          <a:bodyPr/>
          <a:p/>
        </p:txBody>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txBody>
          <a:bodyPr/>
          <a:p/>
        </p:txBody>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2</a:t>
            </a:r>
            <a:endParaRPr lang="en-US" sz="1300" dirty="0"/>
          </a:p>
        </p:txBody>
      </p:sp>
      <p:sp>
        <p:nvSpPr>
          <p:cNvPr id="12" name="Text 10"/>
          <p:cNvSpPr/>
          <p:nvPr/>
        </p:nvSpPr>
        <p:spPr>
          <a:xfrm>
            <a:off x="1164059" y="157318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Lo básico: interfaz, Instrucciones y Projects</a:t>
            </a:r>
            <a:endParaRPr lang="en-US" sz="1050"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La interfaz, las Instrucciones y los Projects</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txBody>
          <a:bodyPr/>
          <a:p/>
        </p:txBody>
      </p:sp>
      <p:sp>
        <p:nvSpPr>
          <p:cNvPr id="15" name="Shape 13"/>
          <p:cNvSpPr/>
          <p:nvPr/>
        </p:nvSpPr>
        <p:spPr>
          <a:xfrm>
            <a:off x="480603" y="2075557"/>
            <a:ext cx="250999" cy="250999"/>
          </a:xfrm>
          <a:prstGeom prst="roundRect">
            <a:avLst>
              <a:gd name="adj" fmla="val 2277"/>
            </a:avLst>
          </a:prstGeom>
          <a:solidFill>
            <a:srgbClr val="DA1B2E"/>
          </a:solidFill>
          <a:ln w="4763">
            <a:solidFill>
              <a:srgbClr val="D8D4D4"/>
            </a:solidFill>
            <a:prstDash val="solid"/>
          </a:ln>
        </p:spPr>
        <p:txBody>
          <a:bodyPr/>
          <a:p/>
        </p:txBody>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FFFFFF"/>
                </a:solidFill>
                <a:latin typeface="Helvetica Bold" pitchFamily="34" charset="0"/>
                <a:ea typeface="Roboto Mono Medium" pitchFamily="34" charset="-122"/>
                <a:cs typeface="Roboto Mono Medium" pitchFamily="34" charset="-120"/>
              </a:rPr>
              <a:t>3</a:t>
            </a:r>
            <a:endParaRPr lang="en-US" sz="1300" dirty="0"/>
          </a:p>
        </p:txBody>
      </p:sp>
      <p:sp>
        <p:nvSpPr>
          <p:cNvPr id="17" name="Text 15"/>
          <p:cNvSpPr/>
          <p:nvPr/>
        </p:nvSpPr>
        <p:spPr>
          <a:xfrm>
            <a:off x="1164059" y="2113880"/>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Extender Cowork: Skills y archivos MD / metadata</a:t>
            </a:r>
            <a:endParaRPr lang="en-US" sz="1050"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Skills y por qué los archivos MD / metadata son el lenguaje común</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txBody>
          <a:bodyPr/>
          <a:p/>
        </p:txBody>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txBody>
          <a:bodyPr/>
          <a:p/>
        </p:txBody>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4</a:t>
            </a:r>
            <a:endParaRPr lang="en-US" sz="1300" dirty="0"/>
          </a:p>
        </p:txBody>
      </p:sp>
      <p:sp>
        <p:nvSpPr>
          <p:cNvPr id="22" name="Text 20"/>
          <p:cNvSpPr/>
          <p:nvPr/>
        </p:nvSpPr>
        <p:spPr>
          <a:xfrm>
            <a:off x="1164059" y="2654573"/>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Conectar y automatizar: Connectors/MCP y Schedule</a:t>
            </a:r>
            <a:endParaRPr lang="en-US" sz="1050"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Connectors/MCP y tareas programadas con Schedule</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txBody>
          <a:bodyPr/>
          <a:p/>
        </p:txBody>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txBody>
          <a:bodyPr/>
          <a:p/>
        </p:txBody>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5</a:t>
            </a:r>
            <a:endParaRPr lang="en-US" sz="1300" dirty="0"/>
          </a:p>
        </p:txBody>
      </p:sp>
      <p:sp>
        <p:nvSpPr>
          <p:cNvPr id="27" name="Text 25"/>
          <p:cNvSpPr/>
          <p:nvPr/>
        </p:nvSpPr>
        <p:spPr>
          <a:xfrm>
            <a:off x="1164059" y="319526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Compartir resultados: Live Artifacts</a:t>
            </a:r>
            <a:endParaRPr lang="en-US" sz="1050"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Live Artifacts: compartir el resultado vivo</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txBody>
          <a:bodyPr/>
          <a:p/>
        </p:txBody>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txBody>
          <a:bodyPr/>
          <a:p/>
        </p:txBody>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6</a:t>
            </a:r>
            <a:endParaRPr lang="en-US" sz="1300" dirty="0"/>
          </a:p>
        </p:txBody>
      </p:sp>
      <p:sp>
        <p:nvSpPr>
          <p:cNvPr id="32" name="Text 30"/>
          <p:cNvSpPr/>
          <p:nvPr/>
        </p:nvSpPr>
        <p:spPr>
          <a:xfrm>
            <a:off x="1164059" y="373595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Advanced: Subagentes y Plugins</a:t>
            </a:r>
            <a:endParaRPr lang="en-US" sz="1050"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Subagentes en paralelo y Plugins para distribuir</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txBody>
          <a:bodyPr/>
          <a:p/>
        </p:txBody>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txBody>
          <a:bodyPr/>
          <a:p/>
        </p:txBody>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7</a:t>
            </a:r>
            <a:endParaRPr lang="en-US" sz="1300" dirty="0"/>
          </a:p>
        </p:txBody>
      </p:sp>
      <p:sp>
        <p:nvSpPr>
          <p:cNvPr id="37" name="Text 35"/>
          <p:cNvSpPr/>
          <p:nvPr/>
        </p:nvSpPr>
        <p:spPr>
          <a:xfrm>
            <a:off x="1164059" y="4276651"/>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Conclusiones</a:t>
            </a:r>
            <a:endParaRPr lang="en-US" sz="1050"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El loop completo, gobernanza y advertencias</a:t>
            </a:r>
            <a:endParaRPr lang="en-US" sz="85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298448"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298448" cy="237744"/>
          </a:xfrm>
          <a:prstGeom prst="rect">
            <a:avLst/>
          </a:prstGeom>
          <a:noFill/>
        </p:spPr>
        <p:txBody>
          <a:bodyPr wrap="none" lIns="0" rIns="0" tIns="0" bIns="0" anchor="ctr">
            <a:spAutoFit/>
          </a:bodyPr>
          <a:lstStyle/>
          <a:p>
            <a:pPr algn="ctr"/>
            <a:r>
              <a:rPr b="1" sz="800">
                <a:solidFill>
                  <a:srgbClr val="3B3535"/>
                </a:solidFill>
                <a:latin typeface="Helvetica Bold"/>
              </a:rPr>
              <a:t>EXTENDER COWORK</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100">
                <a:solidFill>
                  <a:srgbClr val="1F1E1E"/>
                </a:solidFill>
                <a:latin typeface="Helvetica Bold"/>
              </a:rPr>
              <a:t>Skills: enseñarle a Claude algo una sola vez</a:t>
            </a:r>
          </a:p>
        </p:txBody>
      </p:sp>
      <p:pic>
        <p:nvPicPr>
          <p:cNvPr id="5" name="Picture 4" descr="lightbulb.outlined.DA1B2E.png"/>
          <p:cNvPicPr>
            <a:picLocks noChangeAspect="1"/>
          </p:cNvPicPr>
          <p:nvPr/>
        </p:nvPicPr>
        <p:blipFill>
          <a:blip r:embed="rId3"/>
          <a:stretch>
            <a:fillRect/>
          </a:stretch>
        </p:blipFill>
        <p:spPr>
          <a:xfrm>
            <a:off x="512064" y="1773936"/>
            <a:ext cx="329184" cy="329184"/>
          </a:xfrm>
          <a:prstGeom prst="rect">
            <a:avLst/>
          </a:prstGeom>
        </p:spPr>
      </p:pic>
      <p:sp>
        <p:nvSpPr>
          <p:cNvPr id="6" name="TextBox 5"/>
          <p:cNvSpPr txBox="1"/>
          <p:nvPr/>
        </p:nvSpPr>
        <p:spPr>
          <a:xfrm>
            <a:off x="1042415" y="1728216"/>
            <a:ext cx="7086600" cy="274320"/>
          </a:xfrm>
          <a:prstGeom prst="rect">
            <a:avLst/>
          </a:prstGeom>
          <a:noFill/>
        </p:spPr>
        <p:txBody>
          <a:bodyPr wrap="square" lIns="0" rIns="0" tIns="0" bIns="0" anchor="t">
            <a:spAutoFit/>
          </a:bodyPr>
          <a:lstStyle/>
          <a:p>
            <a:pPr algn="l"/>
            <a:r>
              <a:rPr sz="1250" b="1">
                <a:solidFill>
                  <a:srgbClr val="1F1E1E"/>
                </a:solidFill>
                <a:latin typeface="Helvetica Bold"/>
              </a:rPr>
              <a:t>Concepto</a:t>
            </a:r>
          </a:p>
        </p:txBody>
      </p:sp>
      <p:sp>
        <p:nvSpPr>
          <p:cNvPr id="7" name="TextBox 6"/>
          <p:cNvSpPr txBox="1"/>
          <p:nvPr/>
        </p:nvSpPr>
        <p:spPr>
          <a:xfrm>
            <a:off x="1042415" y="2029967"/>
            <a:ext cx="7086600" cy="475488"/>
          </a:xfrm>
          <a:prstGeom prst="rect">
            <a:avLst/>
          </a:prstGeom>
          <a:noFill/>
        </p:spPr>
        <p:txBody>
          <a:bodyPr wrap="square" lIns="0" rIns="0" tIns="0" bIns="0" anchor="t">
            <a:spAutoFit/>
          </a:bodyPr>
          <a:lstStyle/>
          <a:p>
            <a:pPr algn="l"/>
            <a:r>
              <a:rPr sz="950" b="0">
                <a:solidFill>
                  <a:srgbClr val="3B3535"/>
                </a:solidFill>
                <a:latin typeface="Helvetica"/>
              </a:rPr>
              <a:t>Una Skill es una instrucción reutilizable (+ scripts) que el agente carga cuando tu pedido coincide con su descripción. «Todo lo que le explicás a Claude dos veces es una Skill que deberías escribir una vez.»</a:t>
            </a:r>
          </a:p>
        </p:txBody>
      </p:sp>
      <p:pic>
        <p:nvPicPr>
          <p:cNvPr id="8" name="Picture 7" descr="settings.outlined.DA1B2E.png"/>
          <p:cNvPicPr>
            <a:picLocks noChangeAspect="1"/>
          </p:cNvPicPr>
          <p:nvPr/>
        </p:nvPicPr>
        <p:blipFill>
          <a:blip r:embed="rId4"/>
          <a:stretch>
            <a:fillRect/>
          </a:stretch>
        </p:blipFill>
        <p:spPr>
          <a:xfrm>
            <a:off x="512064" y="2560320"/>
            <a:ext cx="329184" cy="329184"/>
          </a:xfrm>
          <a:prstGeom prst="rect">
            <a:avLst/>
          </a:prstGeom>
        </p:spPr>
      </p:pic>
      <p:sp>
        <p:nvSpPr>
          <p:cNvPr id="9" name="TextBox 8"/>
          <p:cNvSpPr txBox="1"/>
          <p:nvPr/>
        </p:nvSpPr>
        <p:spPr>
          <a:xfrm>
            <a:off x="1042415" y="2514600"/>
            <a:ext cx="7086600" cy="274320"/>
          </a:xfrm>
          <a:prstGeom prst="rect">
            <a:avLst/>
          </a:prstGeom>
          <a:noFill/>
        </p:spPr>
        <p:txBody>
          <a:bodyPr wrap="square" lIns="0" rIns="0" tIns="0" bIns="0" anchor="t">
            <a:spAutoFit/>
          </a:bodyPr>
          <a:lstStyle/>
          <a:p>
            <a:pPr algn="l"/>
            <a:r>
              <a:rPr sz="1250" b="1">
                <a:solidFill>
                  <a:srgbClr val="1F1E1E"/>
                </a:solidFill>
                <a:latin typeface="Helvetica Bold"/>
              </a:rPr>
              <a:t>Cómo se crea (GUI, sin slash commands)</a:t>
            </a:r>
          </a:p>
        </p:txBody>
      </p:sp>
      <p:sp>
        <p:nvSpPr>
          <p:cNvPr id="10" name="TextBox 9"/>
          <p:cNvSpPr txBox="1"/>
          <p:nvPr/>
        </p:nvSpPr>
        <p:spPr>
          <a:xfrm>
            <a:off x="1042415" y="2816351"/>
            <a:ext cx="7086600" cy="475488"/>
          </a:xfrm>
          <a:prstGeom prst="rect">
            <a:avLst/>
          </a:prstGeom>
          <a:noFill/>
        </p:spPr>
        <p:txBody>
          <a:bodyPr wrap="square" lIns="0" rIns="0" tIns="0" bIns="0" anchor="t">
            <a:spAutoFit/>
          </a:bodyPr>
          <a:lstStyle/>
          <a:p>
            <a:pPr algn="l"/>
            <a:r>
              <a:rPr sz="950" b="0">
                <a:solidFill>
                  <a:srgbClr val="3B3535"/>
                </a:solidFill>
                <a:latin typeface="Helvetica"/>
              </a:rPr>
              <a:t>(1) Pedísela en lenguaje natural: Claude escribe el SKILL.md y vos la habilitás en Customize → Skills. (2) Subís un ZIP por Customize → Skills. Requisito: Code execution habilitado (Settings → Capabilities).</a:t>
            </a:r>
          </a:p>
        </p:txBody>
      </p:sp>
      <p:pic>
        <p:nvPicPr>
          <p:cNvPr id="11" name="Picture 10" descr="star.outlined.DA1B2E.png"/>
          <p:cNvPicPr>
            <a:picLocks noChangeAspect="1"/>
          </p:cNvPicPr>
          <p:nvPr/>
        </p:nvPicPr>
        <p:blipFill>
          <a:blip r:embed="rId5"/>
          <a:stretch>
            <a:fillRect/>
          </a:stretch>
        </p:blipFill>
        <p:spPr>
          <a:xfrm>
            <a:off x="512064" y="3346704"/>
            <a:ext cx="329184" cy="329184"/>
          </a:xfrm>
          <a:prstGeom prst="rect">
            <a:avLst/>
          </a:prstGeom>
        </p:spPr>
      </p:pic>
      <p:sp>
        <p:nvSpPr>
          <p:cNvPr id="12" name="TextBox 11"/>
          <p:cNvSpPr txBox="1"/>
          <p:nvPr/>
        </p:nvSpPr>
        <p:spPr>
          <a:xfrm>
            <a:off x="1042415" y="3300984"/>
            <a:ext cx="7086600" cy="274320"/>
          </a:xfrm>
          <a:prstGeom prst="rect">
            <a:avLst/>
          </a:prstGeom>
          <a:noFill/>
        </p:spPr>
        <p:txBody>
          <a:bodyPr wrap="square" lIns="0" rIns="0" tIns="0" bIns="0" anchor="t">
            <a:spAutoFit/>
          </a:bodyPr>
          <a:lstStyle/>
          <a:p>
            <a:pPr algn="l"/>
            <a:r>
              <a:rPr sz="1250" b="1">
                <a:solidFill>
                  <a:srgbClr val="1F1E1E"/>
                </a:solidFill>
                <a:latin typeface="Helvetica Bold"/>
              </a:rPr>
              <a:t>Ejemplo (Atlas): reporte-semanal</a:t>
            </a:r>
          </a:p>
        </p:txBody>
      </p:sp>
      <p:sp>
        <p:nvSpPr>
          <p:cNvPr id="13" name="TextBox 12"/>
          <p:cNvSpPr txBox="1"/>
          <p:nvPr/>
        </p:nvSpPr>
        <p:spPr>
          <a:xfrm>
            <a:off x="1042415" y="3602736"/>
            <a:ext cx="7086600" cy="475488"/>
          </a:xfrm>
          <a:prstGeom prst="rect">
            <a:avLst/>
          </a:prstGeom>
          <a:noFill/>
        </p:spPr>
        <p:txBody>
          <a:bodyPr wrap="square" lIns="0" rIns="0" tIns="0" bIns="0" anchor="t">
            <a:spAutoFit/>
          </a:bodyPr>
          <a:lstStyle/>
          <a:p>
            <a:pPr algn="l"/>
            <a:r>
              <a:rPr sz="950" b="0">
                <a:solidFill>
                  <a:srgbClr val="3B3535"/>
                </a:solidFill>
                <a:latin typeface="Helvetica"/>
              </a:rPr>
              <a:t>Lee todos los archivos crudos de una carpeta fuentes/, consolida por empresa y genera un reporte con formato fijo. Guarda con sufijo -new para no pisar el ejemplo.</a:t>
            </a:r>
          </a:p>
        </p:txBody>
      </p:sp>
      <p:sp>
        <p:nvSpPr>
          <p:cNvPr id="14" name="Rounded Rectangle 13"/>
          <p:cNvSpPr/>
          <p:nvPr/>
        </p:nvSpPr>
        <p:spPr>
          <a:xfrm>
            <a:off x="493776" y="4206240"/>
            <a:ext cx="8138160" cy="676656"/>
          </a:xfrm>
          <a:prstGeom prst="roundRect">
            <a:avLst>
              <a:gd name="adj" fmla="val 851"/>
            </a:avLst>
          </a:prstGeom>
          <a:solidFill>
            <a:srgbClr val="F7BBC1"/>
          </a:solidFill>
          <a:ln>
            <a:noFill/>
          </a:ln>
          <a:effectLst/>
        </p:spPr>
        <p:txBody>
          <a:bodyPr rtlCol="0" anchor="ctr"/>
          <a:lstStyle/>
          <a:p>
            <a:pPr algn="ctr"/>
          </a:p>
        </p:txBody>
      </p:sp>
      <p:pic>
        <p:nvPicPr>
          <p:cNvPr id="15" name="Picture 14" descr="warning.outlined.DA1B2E.png"/>
          <p:cNvPicPr>
            <a:picLocks noChangeAspect="1"/>
          </p:cNvPicPr>
          <p:nvPr/>
        </p:nvPicPr>
        <p:blipFill>
          <a:blip r:embed="rId6"/>
          <a:stretch>
            <a:fillRect/>
          </a:stretch>
        </p:blipFill>
        <p:spPr>
          <a:xfrm>
            <a:off x="649224" y="4434840"/>
            <a:ext cx="219456" cy="219456"/>
          </a:xfrm>
          <a:prstGeom prst="rect">
            <a:avLst/>
          </a:prstGeom>
        </p:spPr>
      </p:pic>
      <p:sp>
        <p:nvSpPr>
          <p:cNvPr id="16" name="TextBox 15"/>
          <p:cNvSpPr txBox="1"/>
          <p:nvPr/>
        </p:nvSpPr>
        <p:spPr>
          <a:xfrm>
            <a:off x="996696" y="4297679"/>
            <a:ext cx="7452360" cy="493776"/>
          </a:xfrm>
          <a:prstGeom prst="rect">
            <a:avLst/>
          </a:prstGeom>
          <a:noFill/>
        </p:spPr>
        <p:txBody>
          <a:bodyPr wrap="square" lIns="0" rIns="0" tIns="0" bIns="0" anchor="ctr">
            <a:spAutoFit/>
          </a:bodyPr>
          <a:lstStyle/>
          <a:p>
            <a:pPr algn="l"/>
            <a:r>
              <a:rPr sz="1050" b="0">
                <a:solidFill>
                  <a:srgbClr val="000000"/>
                </a:solidFill>
                <a:latin typeface="Helvetica"/>
              </a:rPr>
              <a:t>OJO — la trampa del Save: pedís la Skill y Claude escribe el archivo, pero si no le das Save / enable en Customize, no queda habilitada y parece que «no funciona».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298448"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298448" cy="237744"/>
          </a:xfrm>
          <a:prstGeom prst="rect">
            <a:avLst/>
          </a:prstGeom>
          <a:noFill/>
        </p:spPr>
        <p:txBody>
          <a:bodyPr wrap="none" lIns="0" rIns="0" tIns="0" bIns="0" anchor="ctr">
            <a:spAutoFit/>
          </a:bodyPr>
          <a:lstStyle/>
          <a:p>
            <a:pPr algn="ctr"/>
            <a:r>
              <a:rPr b="1" sz="800">
                <a:solidFill>
                  <a:srgbClr val="3B3535"/>
                </a:solidFill>
                <a:latin typeface="Helvetica Bold"/>
              </a:rPr>
              <a:t>EXTENDER COWORK</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1700">
                <a:solidFill>
                  <a:srgbClr val="1F1E1E"/>
                </a:solidFill>
                <a:latin typeface="Helvetica Bold"/>
              </a:rPr>
              <a:t>(Sideway) Archivos MD y metadata: el lenguaje común del mundo LLM</a:t>
            </a:r>
          </a:p>
        </p:txBody>
      </p:sp>
      <p:pic>
        <p:nvPicPr>
          <p:cNvPr id="5" name="Picture 4" descr="description.outlined.DA1B2E.png"/>
          <p:cNvPicPr>
            <a:picLocks noChangeAspect="1"/>
          </p:cNvPicPr>
          <p:nvPr/>
        </p:nvPicPr>
        <p:blipFill>
          <a:blip r:embed="rId3"/>
          <a:stretch>
            <a:fillRect/>
          </a:stretch>
        </p:blipFill>
        <p:spPr>
          <a:xfrm>
            <a:off x="512064" y="1755648"/>
            <a:ext cx="329184" cy="329184"/>
          </a:xfrm>
          <a:prstGeom prst="rect">
            <a:avLst/>
          </a:prstGeom>
        </p:spPr>
      </p:pic>
      <p:sp>
        <p:nvSpPr>
          <p:cNvPr id="6" name="TextBox 5"/>
          <p:cNvSpPr txBox="1"/>
          <p:nvPr/>
        </p:nvSpPr>
        <p:spPr>
          <a:xfrm>
            <a:off x="1042415" y="1709928"/>
            <a:ext cx="7086600" cy="274320"/>
          </a:xfrm>
          <a:prstGeom prst="rect">
            <a:avLst/>
          </a:prstGeom>
          <a:noFill/>
        </p:spPr>
        <p:txBody>
          <a:bodyPr wrap="square" lIns="0" rIns="0" tIns="0" bIns="0" anchor="t">
            <a:spAutoFit/>
          </a:bodyPr>
          <a:lstStyle/>
          <a:p>
            <a:pPr algn="l"/>
            <a:r>
              <a:rPr sz="1300" b="1">
                <a:solidFill>
                  <a:srgbClr val="1F1E1E"/>
                </a:solidFill>
                <a:latin typeface="Helvetica Bold"/>
              </a:rPr>
              <a:t>Concepto</a:t>
            </a:r>
          </a:p>
        </p:txBody>
      </p:sp>
      <p:sp>
        <p:nvSpPr>
          <p:cNvPr id="7" name="TextBox 6"/>
          <p:cNvSpPr txBox="1"/>
          <p:nvPr/>
        </p:nvSpPr>
        <p:spPr>
          <a:xfrm>
            <a:off x="1042415" y="2011679"/>
            <a:ext cx="7086600" cy="740663"/>
          </a:xfrm>
          <a:prstGeom prst="rect">
            <a:avLst/>
          </a:prstGeom>
          <a:noFill/>
        </p:spPr>
        <p:txBody>
          <a:bodyPr wrap="square" lIns="0" rIns="0" tIns="0" bIns="0" anchor="t">
            <a:spAutoFit/>
          </a:bodyPr>
          <a:lstStyle/>
          <a:p>
            <a:pPr algn="l"/>
            <a:r>
              <a:rPr sz="1050" b="0">
                <a:solidFill>
                  <a:srgbClr val="3B3535"/>
                </a:solidFill>
                <a:latin typeface="Helvetica"/>
              </a:rPr>
              <a:t>Casi todo lo que configurás alrededor de un agente — Instrucciones, SKILL.md, archivos de agentes, docs de plugins, salidas — es texto plano en Markdown (.md). Markdown es la lingua franca del mundo LLM.</a:t>
            </a:r>
          </a:p>
        </p:txBody>
      </p:sp>
      <p:pic>
        <p:nvPicPr>
          <p:cNvPr id="8" name="Picture 7" descr="data_object.outlined.DA1B2E.png"/>
          <p:cNvPicPr>
            <a:picLocks noChangeAspect="1"/>
          </p:cNvPicPr>
          <p:nvPr/>
        </p:nvPicPr>
        <p:blipFill>
          <a:blip r:embed="rId4"/>
          <a:stretch>
            <a:fillRect/>
          </a:stretch>
        </p:blipFill>
        <p:spPr>
          <a:xfrm>
            <a:off x="512064" y="2807208"/>
            <a:ext cx="329184" cy="329184"/>
          </a:xfrm>
          <a:prstGeom prst="rect">
            <a:avLst/>
          </a:prstGeom>
        </p:spPr>
      </p:pic>
      <p:sp>
        <p:nvSpPr>
          <p:cNvPr id="9" name="TextBox 8"/>
          <p:cNvSpPr txBox="1"/>
          <p:nvPr/>
        </p:nvSpPr>
        <p:spPr>
          <a:xfrm>
            <a:off x="1042415" y="2761488"/>
            <a:ext cx="7086600" cy="274320"/>
          </a:xfrm>
          <a:prstGeom prst="rect">
            <a:avLst/>
          </a:prstGeom>
          <a:noFill/>
        </p:spPr>
        <p:txBody>
          <a:bodyPr wrap="square" lIns="0" rIns="0" tIns="0" bIns="0" anchor="t">
            <a:spAutoFit/>
          </a:bodyPr>
          <a:lstStyle/>
          <a:p>
            <a:pPr algn="l"/>
            <a:r>
              <a:rPr sz="1300" b="1">
                <a:solidFill>
                  <a:srgbClr val="1F1E1E"/>
                </a:solidFill>
                <a:latin typeface="Helvetica Bold"/>
              </a:rPr>
              <a:t>Metadata / headers</a:t>
            </a:r>
          </a:p>
        </p:txBody>
      </p:sp>
      <p:sp>
        <p:nvSpPr>
          <p:cNvPr id="10" name="TextBox 9"/>
          <p:cNvSpPr txBox="1"/>
          <p:nvPr/>
        </p:nvSpPr>
        <p:spPr>
          <a:xfrm>
            <a:off x="1042415" y="3063239"/>
            <a:ext cx="7086600" cy="740663"/>
          </a:xfrm>
          <a:prstGeom prst="rect">
            <a:avLst/>
          </a:prstGeom>
          <a:noFill/>
        </p:spPr>
        <p:txBody>
          <a:bodyPr wrap="square" lIns="0" rIns="0" tIns="0" bIns="0" anchor="t">
            <a:spAutoFit/>
          </a:bodyPr>
          <a:lstStyle/>
          <a:p>
            <a:pPr algn="l"/>
            <a:r>
              <a:rPr sz="1050" b="0">
                <a:solidFill>
                  <a:srgbClr val="3B3535"/>
                </a:solidFill>
                <a:latin typeface="Helvetica"/>
              </a:rPr>
              <a:t>Muchos archivos arrancan con un bloque de metadata (un «header» en YAML): un SKILL.md declara name y description. Esa description es lo que dispara la Skill, de forma semántica, no por palabra clave.</a:t>
            </a:r>
          </a:p>
        </p:txBody>
      </p:sp>
      <p:pic>
        <p:nvPicPr>
          <p:cNvPr id="11" name="Picture 10" descr="lightbulb.outlined.DA1B2E.png"/>
          <p:cNvPicPr>
            <a:picLocks noChangeAspect="1"/>
          </p:cNvPicPr>
          <p:nvPr/>
        </p:nvPicPr>
        <p:blipFill>
          <a:blip r:embed="rId5"/>
          <a:stretch>
            <a:fillRect/>
          </a:stretch>
        </p:blipFill>
        <p:spPr>
          <a:xfrm>
            <a:off x="512064" y="3858768"/>
            <a:ext cx="329184" cy="329184"/>
          </a:xfrm>
          <a:prstGeom prst="rect">
            <a:avLst/>
          </a:prstGeom>
        </p:spPr>
      </p:pic>
      <p:sp>
        <p:nvSpPr>
          <p:cNvPr id="12" name="TextBox 11"/>
          <p:cNvSpPr txBox="1"/>
          <p:nvPr/>
        </p:nvSpPr>
        <p:spPr>
          <a:xfrm>
            <a:off x="1042415" y="3813048"/>
            <a:ext cx="7086600" cy="274320"/>
          </a:xfrm>
          <a:prstGeom prst="rect">
            <a:avLst/>
          </a:prstGeom>
          <a:noFill/>
        </p:spPr>
        <p:txBody>
          <a:bodyPr wrap="square" lIns="0" rIns="0" tIns="0" bIns="0" anchor="t">
            <a:spAutoFit/>
          </a:bodyPr>
          <a:lstStyle/>
          <a:p>
            <a:pPr algn="l"/>
            <a:r>
              <a:rPr sz="1300" b="1">
                <a:solidFill>
                  <a:srgbClr val="1F1E1E"/>
                </a:solidFill>
                <a:latin typeface="Helvetica Bold"/>
              </a:rPr>
              <a:t>Por qué importa en el mundo LLM</a:t>
            </a:r>
          </a:p>
        </p:txBody>
      </p:sp>
      <p:sp>
        <p:nvSpPr>
          <p:cNvPr id="13" name="TextBox 12"/>
          <p:cNvSpPr txBox="1"/>
          <p:nvPr/>
        </p:nvSpPr>
        <p:spPr>
          <a:xfrm>
            <a:off x="1042415" y="4114800"/>
            <a:ext cx="7086600" cy="740663"/>
          </a:xfrm>
          <a:prstGeom prst="rect">
            <a:avLst/>
          </a:prstGeom>
          <a:noFill/>
        </p:spPr>
        <p:txBody>
          <a:bodyPr wrap="square" lIns="0" rIns="0" tIns="0" bIns="0" anchor="t">
            <a:spAutoFit/>
          </a:bodyPr>
          <a:lstStyle/>
          <a:p>
            <a:pPr algn="l"/>
            <a:r>
              <a:rPr sz="1050" b="0">
                <a:solidFill>
                  <a:srgbClr val="3B3535"/>
                </a:solidFill>
                <a:latin typeface="Helvetica"/>
              </a:rPr>
              <a:t>El modelo lee texto: entiende la config directamente, sin formato propietario. La metadata dice qué es cada archivo y cuándo usarlo. Es portable y versionable: el mismo SKILL.md funciona entre herramientas (Cowork y Codex).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298448"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298448" cy="237744"/>
          </a:xfrm>
          <a:prstGeom prst="rect">
            <a:avLst/>
          </a:prstGeom>
          <a:noFill/>
        </p:spPr>
        <p:txBody>
          <a:bodyPr wrap="none" lIns="0" rIns="0" tIns="0" bIns="0" anchor="ctr">
            <a:spAutoFit/>
          </a:bodyPr>
          <a:lstStyle/>
          <a:p>
            <a:pPr algn="ctr"/>
            <a:r>
              <a:rPr b="1" sz="800">
                <a:solidFill>
                  <a:srgbClr val="3B3535"/>
                </a:solidFill>
                <a:latin typeface="Helvetica Bold"/>
              </a:rPr>
              <a:t>EXTENDER COWORK</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3100">
                <a:solidFill>
                  <a:srgbClr val="1F1E1E"/>
                </a:solidFill>
                <a:latin typeface="Helvetica Bold"/>
              </a:rPr>
              <a:t>Anatomía de un SKILL.md</a:t>
            </a:r>
          </a:p>
        </p:txBody>
      </p:sp>
      <p:sp>
        <p:nvSpPr>
          <p:cNvPr id="5" name="TextBox 4"/>
          <p:cNvSpPr txBox="1"/>
          <p:nvPr/>
        </p:nvSpPr>
        <p:spPr>
          <a:xfrm>
            <a:off x="493776" y="1496872"/>
            <a:ext cx="4526280" cy="3349447"/>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0" sz="1000">
                <a:solidFill>
                  <a:srgbClr val="3B3535"/>
                </a:solidFill>
                <a:latin typeface="Helvetica"/>
              </a:rPr>
              <a:t>Así se ve un SKILL.md por dentro: un </a:t>
            </a:r>
            <a:r>
              <a:rPr b="1" sz="1000">
                <a:solidFill>
                  <a:srgbClr val="3B3535"/>
                </a:solidFill>
                <a:latin typeface="Helvetica Bold"/>
              </a:rPr>
              <a:t>bloque de metadata</a:t>
            </a:r>
            <a:r>
              <a:rPr b="0" sz="1000">
                <a:solidFill>
                  <a:srgbClr val="3B3535"/>
                </a:solidFill>
                <a:latin typeface="Helvetica"/>
              </a:rPr>
              <a:t> arriba y el </a:t>
            </a:r>
            <a:r>
              <a:rPr b="1" sz="1000">
                <a:solidFill>
                  <a:srgbClr val="3B3535"/>
                </a:solidFill>
                <a:latin typeface="Helvetica Bold"/>
              </a:rPr>
              <a:t>cuerpo de instrucciones</a:t>
            </a:r>
            <a:r>
              <a:rPr b="0" sz="1000">
                <a:solidFill>
                  <a:srgbClr val="3B3535"/>
                </a:solidFill>
                <a:latin typeface="Helvetica"/>
              </a:rPr>
              <a:t> abajo. Nada más — es texto plano.</a:t>
            </a:r>
          </a:p>
          <a:p>
            <a:pPr marL="164592" indent="-164592">
              <a:spcBef>
                <a:spcPts val="0"/>
              </a:spcBef>
              <a:spcAft>
                <a:spcPts val="400"/>
              </a:spcAft>
              <a:buClr>
                <a:srgbClr val="3B3535"/>
              </a:buClr>
              <a:buFont typeface="Arial"/>
              <a:buChar char="•"/>
            </a:pPr>
            <a:r>
              <a:rPr b="1" sz="1000">
                <a:solidFill>
                  <a:srgbClr val="3B3535"/>
                </a:solidFill>
                <a:latin typeface="Helvetica Bold"/>
              </a:rPr>
              <a:t>La metadata (el header).</a:t>
            </a:r>
            <a:r>
              <a:rPr b="0" sz="1000">
                <a:solidFill>
                  <a:srgbClr val="3B3535"/>
                </a:solidFill>
                <a:latin typeface="Helvetica"/>
              </a:rPr>
              <a:t> name identifica la Skill; description es lo que </a:t>
            </a:r>
            <a:r>
              <a:rPr b="1" sz="1000">
                <a:solidFill>
                  <a:srgbClr val="3B3535"/>
                </a:solidFill>
                <a:latin typeface="Helvetica Bold"/>
              </a:rPr>
              <a:t>decide cuándo se activa</a:t>
            </a:r>
            <a:r>
              <a:rPr b="0" sz="1000">
                <a:solidFill>
                  <a:srgbClr val="3B3535"/>
                </a:solidFill>
                <a:latin typeface="Helvetica"/>
              </a:rPr>
              <a:t> — de forma semántica, no por palabra clave exacta. Una buena description = la Skill se dispara cuando corresponde.</a:t>
            </a:r>
          </a:p>
          <a:p>
            <a:pPr marL="164592" indent="-164592">
              <a:spcBef>
                <a:spcPts val="0"/>
              </a:spcBef>
              <a:spcAft>
                <a:spcPts val="400"/>
              </a:spcAft>
              <a:buClr>
                <a:srgbClr val="3B3535"/>
              </a:buClr>
              <a:buFont typeface="Arial"/>
              <a:buChar char="•"/>
            </a:pPr>
            <a:r>
              <a:rPr b="1" sz="1000">
                <a:solidFill>
                  <a:srgbClr val="3B3535"/>
                </a:solidFill>
                <a:latin typeface="Helvetica Bold"/>
              </a:rPr>
              <a:t>El cuerpo.</a:t>
            </a:r>
            <a:r>
              <a:rPr b="0" sz="1000">
                <a:solidFill>
                  <a:srgbClr val="3B3535"/>
                </a:solidFill>
                <a:latin typeface="Helvetica"/>
              </a:rPr>
              <a:t> Markdown común: los pasos que el agente sigue cuando la Skill se activa.</a:t>
            </a:r>
          </a:p>
          <a:p>
            <a:pPr marL="164592" indent="-164592">
              <a:spcBef>
                <a:spcPts val="0"/>
              </a:spcBef>
              <a:spcAft>
                <a:spcPts val="400"/>
              </a:spcAft>
              <a:buClr>
                <a:srgbClr val="3B3535"/>
              </a:buClr>
              <a:buFont typeface="Arial"/>
              <a:buChar char="•"/>
            </a:pPr>
            <a:r>
              <a:rPr b="0" sz="1000">
                <a:solidFill>
                  <a:srgbClr val="3B3535"/>
                </a:solidFill>
                <a:latin typeface="Helvetica"/>
              </a:rPr>
              <a:t>Nota de alcance: reforzamos el sideway anterior (MD + metadata) con un ejemplo tangible — no entramos en el detalle fino del formato.</a:t>
            </a:r>
          </a:p>
        </p:txBody>
      </p:sp>
      <p:pic>
        <p:nvPicPr>
          <p:cNvPr id="6" name="Picture 5" descr="s3-3-1-anatomia-skill-md.png"/>
          <p:cNvPicPr>
            <a:picLocks noChangeAspect="1"/>
          </p:cNvPicPr>
          <p:nvPr/>
        </p:nvPicPr>
        <p:blipFill>
          <a:blip r:embed="rId2"/>
          <a:stretch>
            <a:fillRect/>
          </a:stretch>
        </p:blipFill>
        <p:spPr>
          <a:xfrm>
            <a:off x="5257800" y="1996054"/>
            <a:ext cx="3401568" cy="235108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dirty="0">
                <a:solidFill>
                  <a:srgbClr val="1F1E1E"/>
                </a:solidFill>
                <a:latin typeface="Helvetica Bold" pitchFamily="34" charset="0"/>
                <a:ea typeface="Roboto Mono Medium" pitchFamily="34" charset="-122"/>
                <a:cs typeface="Roboto Mono Medium" pitchFamily="34" charset="-120"/>
              </a:rPr>
              <a:t>Agenda</a:t>
            </a:r>
            <a:endParaRPr lang="en-US" sz="2150" dirty="0"/>
          </a:p>
        </p:txBody>
      </p:sp>
      <p:sp>
        <p:nvSpPr>
          <p:cNvPr id="3" name="Shape 1"/>
          <p:cNvSpPr/>
          <p:nvPr/>
        </p:nvSpPr>
        <p:spPr>
          <a:xfrm>
            <a:off x="606103" y="994172"/>
            <a:ext cx="14288" cy="3644354"/>
          </a:xfrm>
          <a:prstGeom prst="roundRect">
            <a:avLst>
              <a:gd name="adj" fmla="val 39999"/>
            </a:avLst>
          </a:prstGeom>
          <a:solidFill>
            <a:srgbClr val="D8D4D4"/>
          </a:solidFill>
          <a:ln/>
        </p:spPr>
        <p:txBody>
          <a:bodyPr/>
          <a:p/>
        </p:txBody>
      </p:sp>
      <p:sp>
        <p:nvSpPr>
          <p:cNvPr id="4" name="Shape 2"/>
          <p:cNvSpPr/>
          <p:nvPr/>
        </p:nvSpPr>
        <p:spPr>
          <a:xfrm>
            <a:off x="717314" y="1112490"/>
            <a:ext cx="334714" cy="14288"/>
          </a:xfrm>
          <a:prstGeom prst="roundRect">
            <a:avLst>
              <a:gd name="adj" fmla="val 39999"/>
            </a:avLst>
          </a:prstGeom>
          <a:solidFill>
            <a:srgbClr val="D8D4D4"/>
          </a:solidFill>
          <a:ln/>
        </p:spPr>
        <p:txBody>
          <a:bodyPr/>
          <a:p/>
        </p:txBody>
      </p:sp>
      <p:sp>
        <p:nvSpPr>
          <p:cNvPr id="5" name="Shape 3"/>
          <p:cNvSpPr/>
          <p:nvPr/>
        </p:nvSpPr>
        <p:spPr>
          <a:xfrm>
            <a:off x="480603" y="994172"/>
            <a:ext cx="250999" cy="250999"/>
          </a:xfrm>
          <a:prstGeom prst="roundRect">
            <a:avLst>
              <a:gd name="adj" fmla="val 2277"/>
            </a:avLst>
          </a:prstGeom>
          <a:solidFill>
            <a:srgbClr val="F2EEEE"/>
          </a:solidFill>
          <a:ln w="4763">
            <a:solidFill>
              <a:srgbClr val="F33447"/>
            </a:solidFill>
            <a:prstDash val="solid"/>
          </a:ln>
        </p:spPr>
        <p:txBody>
          <a:bodyPr/>
          <a:p/>
        </p:txBody>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1</a:t>
            </a:r>
            <a:endParaRPr lang="en-US" sz="1300" dirty="0"/>
          </a:p>
        </p:txBody>
      </p:sp>
      <p:sp>
        <p:nvSpPr>
          <p:cNvPr id="7" name="Text 5"/>
          <p:cNvSpPr/>
          <p:nvPr/>
        </p:nvSpPr>
        <p:spPr>
          <a:xfrm>
            <a:off x="1164059" y="103249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De chat a agente: dónde encaja Cowork</a:t>
            </a:r>
            <a:endParaRPr lang="en-US" sz="1050"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Del chat a delegar un resultado: dónde encaja Cowork</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txBody>
          <a:bodyPr/>
          <a:p/>
        </p:txBody>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txBody>
          <a:bodyPr/>
          <a:p/>
        </p:txBody>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2</a:t>
            </a:r>
            <a:endParaRPr lang="en-US" sz="1300" dirty="0"/>
          </a:p>
        </p:txBody>
      </p:sp>
      <p:sp>
        <p:nvSpPr>
          <p:cNvPr id="12" name="Text 10"/>
          <p:cNvSpPr/>
          <p:nvPr/>
        </p:nvSpPr>
        <p:spPr>
          <a:xfrm>
            <a:off x="1164059" y="157318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Lo básico: interfaz, Instrucciones y Projects</a:t>
            </a:r>
            <a:endParaRPr lang="en-US" sz="1050"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La interfaz, las Instrucciones y los Projects</a:t>
            </a:r>
            <a:endParaRPr lang="en-US" sz="850" dirty="0"/>
          </a:p>
        </p:txBody>
      </p:sp>
      <p:sp>
        <p:nvSpPr>
          <p:cNvPr id="14" name="Shape 12"/>
          <p:cNvSpPr/>
          <p:nvPr/>
        </p:nvSpPr>
        <p:spPr>
          <a:xfrm>
            <a:off x="717314" y="2193875"/>
            <a:ext cx="334714" cy="14288"/>
          </a:xfrm>
          <a:prstGeom prst="roundRect">
            <a:avLst>
              <a:gd name="adj" fmla="val 39999"/>
            </a:avLst>
          </a:prstGeom>
          <a:solidFill>
            <a:srgbClr val="F33447"/>
          </a:solidFill>
          <a:ln/>
        </p:spPr>
        <p:txBody>
          <a:bodyPr/>
          <a:p/>
        </p:txBody>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txBody>
          <a:bodyPr/>
          <a:p/>
        </p:txBody>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3</a:t>
            </a:r>
            <a:endParaRPr lang="en-US" sz="1300" dirty="0"/>
          </a:p>
        </p:txBody>
      </p:sp>
      <p:sp>
        <p:nvSpPr>
          <p:cNvPr id="17" name="Text 15"/>
          <p:cNvSpPr/>
          <p:nvPr/>
        </p:nvSpPr>
        <p:spPr>
          <a:xfrm>
            <a:off x="1164059" y="2113880"/>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Extender Cowork: Skills y archivos MD / metadata</a:t>
            </a:r>
            <a:endParaRPr lang="en-US" sz="1050"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Skills y por qué los archivos MD / metadata son el lenguaje común</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txBody>
          <a:bodyPr/>
          <a:p/>
        </p:txBody>
      </p:sp>
      <p:sp>
        <p:nvSpPr>
          <p:cNvPr id="20" name="Shape 18"/>
          <p:cNvSpPr/>
          <p:nvPr/>
        </p:nvSpPr>
        <p:spPr>
          <a:xfrm>
            <a:off x="480603" y="2616250"/>
            <a:ext cx="250999" cy="250999"/>
          </a:xfrm>
          <a:prstGeom prst="roundRect">
            <a:avLst>
              <a:gd name="adj" fmla="val 2277"/>
            </a:avLst>
          </a:prstGeom>
          <a:solidFill>
            <a:srgbClr val="DA1B2E"/>
          </a:solidFill>
          <a:ln w="4763">
            <a:solidFill>
              <a:srgbClr val="D8D4D4"/>
            </a:solidFill>
            <a:prstDash val="solid"/>
          </a:ln>
        </p:spPr>
        <p:txBody>
          <a:bodyPr/>
          <a:p/>
        </p:txBody>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FFFFFF"/>
                </a:solidFill>
                <a:latin typeface="Helvetica Bold" pitchFamily="34" charset="0"/>
                <a:ea typeface="Roboto Mono Medium" pitchFamily="34" charset="-122"/>
                <a:cs typeface="Roboto Mono Medium" pitchFamily="34" charset="-120"/>
              </a:rPr>
              <a:t>4</a:t>
            </a:r>
            <a:endParaRPr lang="en-US" sz="1300" dirty="0"/>
          </a:p>
        </p:txBody>
      </p:sp>
      <p:sp>
        <p:nvSpPr>
          <p:cNvPr id="22" name="Text 20"/>
          <p:cNvSpPr/>
          <p:nvPr/>
        </p:nvSpPr>
        <p:spPr>
          <a:xfrm>
            <a:off x="1164059" y="2654573"/>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Conectar y automatizar: Connectors/MCP y Schedule</a:t>
            </a:r>
            <a:endParaRPr lang="en-US" sz="1050"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Connectors/MCP y tareas programadas con Schedule</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txBody>
          <a:bodyPr/>
          <a:p/>
        </p:txBody>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txBody>
          <a:bodyPr/>
          <a:p/>
        </p:txBody>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5</a:t>
            </a:r>
            <a:endParaRPr lang="en-US" sz="1300" dirty="0"/>
          </a:p>
        </p:txBody>
      </p:sp>
      <p:sp>
        <p:nvSpPr>
          <p:cNvPr id="27" name="Text 25"/>
          <p:cNvSpPr/>
          <p:nvPr/>
        </p:nvSpPr>
        <p:spPr>
          <a:xfrm>
            <a:off x="1164059" y="319526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Compartir resultados: Live Artifacts</a:t>
            </a:r>
            <a:endParaRPr lang="en-US" sz="1050"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Live Artifacts: compartir el resultado vivo</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txBody>
          <a:bodyPr/>
          <a:p/>
        </p:txBody>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txBody>
          <a:bodyPr/>
          <a:p/>
        </p:txBody>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6</a:t>
            </a:r>
            <a:endParaRPr lang="en-US" sz="1300" dirty="0"/>
          </a:p>
        </p:txBody>
      </p:sp>
      <p:sp>
        <p:nvSpPr>
          <p:cNvPr id="32" name="Text 30"/>
          <p:cNvSpPr/>
          <p:nvPr/>
        </p:nvSpPr>
        <p:spPr>
          <a:xfrm>
            <a:off x="1164059" y="373595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Advanced: Subagentes y Plugins</a:t>
            </a:r>
            <a:endParaRPr lang="en-US" sz="1050"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Subagentes en paralelo y Plugins para distribuir</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txBody>
          <a:bodyPr/>
          <a:p/>
        </p:txBody>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txBody>
          <a:bodyPr/>
          <a:p/>
        </p:txBody>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7</a:t>
            </a:r>
            <a:endParaRPr lang="en-US" sz="1300" dirty="0"/>
          </a:p>
        </p:txBody>
      </p:sp>
      <p:sp>
        <p:nvSpPr>
          <p:cNvPr id="37" name="Text 35"/>
          <p:cNvSpPr/>
          <p:nvPr/>
        </p:nvSpPr>
        <p:spPr>
          <a:xfrm>
            <a:off x="1164059" y="4276651"/>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Conclusiones</a:t>
            </a:r>
            <a:endParaRPr lang="en-US" sz="1050"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El loop completo, gobernanza y advertencias</a:t>
            </a:r>
            <a:endParaRPr lang="en-US" sz="85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759305"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759305" cy="237744"/>
          </a:xfrm>
          <a:prstGeom prst="rect">
            <a:avLst/>
          </a:prstGeom>
          <a:noFill/>
        </p:spPr>
        <p:txBody>
          <a:bodyPr wrap="none" lIns="0" rIns="0" tIns="0" bIns="0" anchor="ctr">
            <a:spAutoFit/>
          </a:bodyPr>
          <a:lstStyle/>
          <a:p>
            <a:pPr algn="ctr"/>
            <a:r>
              <a:rPr b="1" sz="800">
                <a:solidFill>
                  <a:srgbClr val="3B3535"/>
                </a:solidFill>
                <a:latin typeface="Helvetica Bold"/>
              </a:rPr>
              <a:t>CONECTAR Y AUTOMATIZAR</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250">
                <a:solidFill>
                  <a:srgbClr val="1F1E1E"/>
                </a:solidFill>
                <a:latin typeface="Helvetica Bold"/>
              </a:rPr>
              <a:t>Connectors y MCP: las "manos" del agente</a:t>
            </a:r>
          </a:p>
        </p:txBody>
      </p:sp>
      <p:sp>
        <p:nvSpPr>
          <p:cNvPr id="5" name="TextBox 4"/>
          <p:cNvSpPr txBox="1"/>
          <p:nvPr/>
        </p:nvSpPr>
        <p:spPr>
          <a:xfrm>
            <a:off x="493776" y="1371600"/>
            <a:ext cx="4526280" cy="3474720"/>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Qué son los Connectors.</a:t>
            </a:r>
            <a:r>
              <a:rPr b="0" sz="1000">
                <a:solidFill>
                  <a:srgbClr val="3B3535"/>
                </a:solidFill>
                <a:latin typeface="Helvetica"/>
              </a:rPr>
              <a:t> Son lo que le permite al agente tocar sistemas externos que de otro modo no podría: Drive, Gmail, Slack, bases de datos, APIs. "Las manos: lo que el agente puede tocar que de otro modo no podría."</a:t>
            </a:r>
          </a:p>
          <a:p>
            <a:pPr marL="164592" indent="-164592">
              <a:spcBef>
                <a:spcPts val="0"/>
              </a:spcBef>
              <a:spcAft>
                <a:spcPts val="400"/>
              </a:spcAft>
              <a:buClr>
                <a:srgbClr val="3B3535"/>
              </a:buClr>
              <a:buFont typeface="Arial"/>
              <a:buChar char="•"/>
            </a:pPr>
            <a:r>
              <a:rPr b="1" sz="1000">
                <a:solidFill>
                  <a:srgbClr val="3B3535"/>
                </a:solidFill>
                <a:latin typeface="Helvetica Bold"/>
              </a:rPr>
              <a:t>Qué es MCP (Model Context Protocol).</a:t>
            </a:r>
            <a:r>
              <a:rPr b="0" sz="1000">
                <a:solidFill>
                  <a:srgbClr val="3B3535"/>
                </a:solidFill>
                <a:latin typeface="Helvetica"/>
              </a:rPr>
              <a:t> El estándar detrás de los Connectors: una forma estandarizada de conectar Claude con sistemas externos. Cualquier app que exponga un servidor MCP se vuelve algo con lo que podés "hablar" (Figma, Vercel, Cal.com, Home Assistant…). El patrón: la plataforma abre sus internals como herramientas MCP; el agente no gana una capacidad nueva, la plataforma se vuelve conversacional.</a:t>
            </a:r>
          </a:p>
          <a:p>
            <a:pPr marL="164592" indent="-164592">
              <a:spcBef>
                <a:spcPts val="0"/>
              </a:spcBef>
              <a:spcAft>
                <a:spcPts val="400"/>
              </a:spcAft>
              <a:buClr>
                <a:srgbClr val="3B3535"/>
              </a:buClr>
              <a:buFont typeface="Arial"/>
              <a:buChar char="•"/>
            </a:pPr>
            <a:r>
              <a:rPr b="0" sz="1000">
                <a:solidFill>
                  <a:srgbClr val="3B3535"/>
                </a:solidFill>
                <a:latin typeface="Helvetica"/>
              </a:rPr>
              <a:t>En la próxima slide vemos </a:t>
            </a:r>
            <a:r>
              <a:rPr b="1" sz="1000">
                <a:solidFill>
                  <a:srgbClr val="3B3535"/>
                </a:solidFill>
                <a:latin typeface="Helvetica Bold"/>
              </a:rPr>
              <a:t>cómo se registra un Connector</a:t>
            </a:r>
            <a:r>
              <a:rPr b="0" sz="1000">
                <a:solidFill>
                  <a:srgbClr val="3B3535"/>
                </a:solidFill>
                <a:latin typeface="Helvetica"/>
              </a:rPr>
              <a:t> en la práctica (directorio + un clic).</a:t>
            </a:r>
          </a:p>
        </p:txBody>
      </p:sp>
      <p:pic>
        <p:nvPicPr>
          <p:cNvPr id="6" name="Picture 5" descr="s4-1-1-flujo-connector-mcp.png"/>
          <p:cNvPicPr>
            <a:picLocks noChangeAspect="1"/>
          </p:cNvPicPr>
          <p:nvPr/>
        </p:nvPicPr>
        <p:blipFill>
          <a:blip r:embed="rId2"/>
          <a:stretch>
            <a:fillRect/>
          </a:stretch>
        </p:blipFill>
        <p:spPr>
          <a:xfrm>
            <a:off x="5257800" y="2458660"/>
            <a:ext cx="3401568" cy="1300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759305"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759305" cy="237744"/>
          </a:xfrm>
          <a:prstGeom prst="rect">
            <a:avLst/>
          </a:prstGeom>
          <a:noFill/>
        </p:spPr>
        <p:txBody>
          <a:bodyPr wrap="none" lIns="0" rIns="0" tIns="0" bIns="0" anchor="ctr">
            <a:spAutoFit/>
          </a:bodyPr>
          <a:lstStyle/>
          <a:p>
            <a:pPr algn="ctr"/>
            <a:r>
              <a:rPr b="1" sz="800">
                <a:solidFill>
                  <a:srgbClr val="3B3535"/>
                </a:solidFill>
                <a:latin typeface="Helvetica Bold"/>
              </a:rPr>
              <a:t>CONECTAR Y AUTOMATIZAR</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3100">
                <a:solidFill>
                  <a:srgbClr val="1F1E1E"/>
                </a:solidFill>
                <a:latin typeface="Helvetica Bold"/>
              </a:rPr>
              <a:t>Cómo se registra un Connector</a:t>
            </a:r>
          </a:p>
        </p:txBody>
      </p:sp>
      <p:sp>
        <p:nvSpPr>
          <p:cNvPr id="5" name="TextBox 4"/>
          <p:cNvSpPr txBox="1"/>
          <p:nvPr/>
        </p:nvSpPr>
        <p:spPr>
          <a:xfrm>
            <a:off x="493776" y="1496872"/>
            <a:ext cx="4526280" cy="3349447"/>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No estás programando: te conectás.</a:t>
            </a:r>
            <a:r>
              <a:rPr b="0" sz="1000">
                <a:solidFill>
                  <a:srgbClr val="3B3535"/>
                </a:solidFill>
                <a:latin typeface="Helvetica"/>
              </a:rPr>
              <a:t> Registrar un Connector es como conectar Gmail a una app nueva — buscás el servicio en un directorio y le das </a:t>
            </a:r>
            <a:r>
              <a:rPr b="1" sz="1000">
                <a:solidFill>
                  <a:srgbClr val="3B3535"/>
                </a:solidFill>
                <a:latin typeface="Helvetica Bold"/>
              </a:rPr>
              <a:t>Connect</a:t>
            </a:r>
            <a:r>
              <a:rPr b="0" sz="1000">
                <a:solidFill>
                  <a:srgbClr val="3B3535"/>
                </a:solidFill>
                <a:latin typeface="Helvetica"/>
              </a:rPr>
              <a:t>. Configurado por la UI; no hay archivo local que editar.</a:t>
            </a:r>
          </a:p>
          <a:p>
            <a:pPr marL="164592" indent="-164592">
              <a:spcBef>
                <a:spcPts val="0"/>
              </a:spcBef>
              <a:spcAft>
                <a:spcPts val="400"/>
              </a:spcAft>
              <a:buClr>
                <a:srgbClr val="3B3535"/>
              </a:buClr>
              <a:buFont typeface="Arial"/>
              <a:buChar char="•"/>
            </a:pPr>
            <a:r>
              <a:rPr b="1" sz="1000">
                <a:solidFill>
                  <a:srgbClr val="3B3535"/>
                </a:solidFill>
                <a:latin typeface="Helvetica Bold"/>
              </a:rPr>
              <a:t>El directorio de Connectors.</a:t>
            </a:r>
            <a:r>
              <a:rPr b="0" sz="1000">
                <a:solidFill>
                  <a:srgbClr val="3B3535"/>
                </a:solidFill>
                <a:latin typeface="Helvetica"/>
              </a:rPr>
              <a:t> Cowork trae un </a:t>
            </a:r>
            <a:r>
              <a:rPr b="1" sz="1000">
                <a:solidFill>
                  <a:srgbClr val="3B3535"/>
                </a:solidFill>
                <a:latin typeface="Helvetica Bold"/>
              </a:rPr>
              <a:t>directorio</a:t>
            </a:r>
            <a:r>
              <a:rPr b="0" sz="1000">
                <a:solidFill>
                  <a:srgbClr val="3B3535"/>
                </a:solidFill>
                <a:latin typeface="Helvetica"/>
              </a:rPr>
              <a:t> con servicios listos para conectar de un clic:</a:t>
            </a:r>
          </a:p>
          <a:p>
            <a:pPr marL="164592" indent="-164592">
              <a:spcBef>
                <a:spcPts val="0"/>
              </a:spcBef>
              <a:spcAft>
                <a:spcPts val="400"/>
              </a:spcAft>
              <a:buClr>
                <a:srgbClr val="3B3535"/>
              </a:buClr>
              <a:buFont typeface="Arial"/>
              <a:buChar char="•"/>
            </a:pPr>
            <a:r>
              <a:rPr b="1" sz="1000">
                <a:solidFill>
                  <a:srgbClr val="3B3535"/>
                </a:solidFill>
                <a:latin typeface="Helvetica Bold"/>
              </a:rPr>
              <a:t>Conexión de un clic.</a:t>
            </a:r>
            <a:r>
              <a:rPr b="0" sz="1000">
                <a:solidFill>
                  <a:srgbClr val="3B3535"/>
                </a:solidFill>
                <a:latin typeface="Helvetica"/>
              </a:rPr>
              <a:t> Buscás el servicio, le das </a:t>
            </a:r>
            <a:r>
              <a:rPr b="1" sz="1000">
                <a:solidFill>
                  <a:srgbClr val="3B3535"/>
                </a:solidFill>
                <a:latin typeface="Helvetica Bold"/>
              </a:rPr>
              <a:t>Connect</a:t>
            </a:r>
            <a:r>
              <a:rPr b="0" sz="1000">
                <a:solidFill>
                  <a:srgbClr val="3B3535"/>
                </a:solidFill>
                <a:latin typeface="Helvetica"/>
              </a:rPr>
              <a:t> y autorizás — y queda disponible para el agente:</a:t>
            </a:r>
          </a:p>
          <a:p>
            <a:pPr marL="164592" indent="-164592">
              <a:spcBef>
                <a:spcPts val="0"/>
              </a:spcBef>
              <a:spcAft>
                <a:spcPts val="400"/>
              </a:spcAft>
              <a:buClr>
                <a:srgbClr val="3B3535"/>
              </a:buClr>
              <a:buFont typeface="Arial"/>
              <a:buChar char="•"/>
            </a:pPr>
            <a:r>
              <a:rPr b="1" sz="1000">
                <a:solidFill>
                  <a:srgbClr val="3B3535"/>
                </a:solidFill>
                <a:latin typeface="Helvetica Bold"/>
              </a:rPr>
              <a:t>Ejemplo (Atlas).</a:t>
            </a:r>
            <a:r>
              <a:rPr b="0" sz="1000">
                <a:solidFill>
                  <a:srgbClr val="3B3535"/>
                </a:solidFill>
                <a:latin typeface="Helvetica"/>
              </a:rPr>
              <a:t> </a:t>
            </a:r>
            <a:r>
              <a:rPr b="1" sz="1000">
                <a:solidFill>
                  <a:srgbClr val="3B3535"/>
                </a:solidFill>
                <a:latin typeface="Helvetica Bold"/>
              </a:rPr>
              <a:t>MT Newswires</a:t>
            </a:r>
            <a:r>
              <a:rPr b="0" sz="1000">
                <a:solidFill>
                  <a:srgbClr val="3B3535"/>
                </a:solidFill>
                <a:latin typeface="Helvetica"/>
              </a:rPr>
              <a:t> ya tiene un connector listo: lo buscás y le das Connect, como cualquier app. </a:t>
            </a:r>
            <a:r>
              <a:rPr b="1" sz="1000">
                <a:solidFill>
                  <a:srgbClr val="3B3535"/>
                </a:solidFill>
                <a:latin typeface="Helvetica Bold"/>
              </a:rPr>
              <a:t>Gmail</a:t>
            </a:r>
            <a:r>
              <a:rPr b="0" sz="1000">
                <a:solidFill>
                  <a:srgbClr val="3B3535"/>
                </a:solidFill>
                <a:latin typeface="Helvetica"/>
              </a:rPr>
              <a:t>, igual: un clic en el directorio. Con eso, Atlas pasa a leer noticias de mercado y a dejar borradores de correo — sin que vos programes nada.</a:t>
            </a:r>
          </a:p>
        </p:txBody>
      </p:sp>
      <p:pic>
        <p:nvPicPr>
          <p:cNvPr id="6" name="Picture 5" descr="connectors_directory.png"/>
          <p:cNvPicPr>
            <a:picLocks noChangeAspect="1"/>
          </p:cNvPicPr>
          <p:nvPr/>
        </p:nvPicPr>
        <p:blipFill>
          <a:blip r:embed="rId2"/>
          <a:stretch>
            <a:fillRect/>
          </a:stretch>
        </p:blipFill>
        <p:spPr>
          <a:xfrm>
            <a:off x="5925221" y="1496872"/>
            <a:ext cx="2066724" cy="1592427"/>
          </a:xfrm>
          <a:prstGeom prst="rect">
            <a:avLst/>
          </a:prstGeom>
        </p:spPr>
      </p:pic>
      <p:pic>
        <p:nvPicPr>
          <p:cNvPr id="7" name="Picture 6" descr="connector_browser.png"/>
          <p:cNvPicPr>
            <a:picLocks noChangeAspect="1"/>
          </p:cNvPicPr>
          <p:nvPr/>
        </p:nvPicPr>
        <p:blipFill>
          <a:blip r:embed="rId3"/>
          <a:stretch>
            <a:fillRect/>
          </a:stretch>
        </p:blipFill>
        <p:spPr>
          <a:xfrm>
            <a:off x="5257800" y="3299512"/>
            <a:ext cx="3401568" cy="150118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759305"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759305" cy="237744"/>
          </a:xfrm>
          <a:prstGeom prst="rect">
            <a:avLst/>
          </a:prstGeom>
          <a:noFill/>
        </p:spPr>
        <p:txBody>
          <a:bodyPr wrap="none" lIns="0" rIns="0" tIns="0" bIns="0" anchor="ctr">
            <a:spAutoFit/>
          </a:bodyPr>
          <a:lstStyle/>
          <a:p>
            <a:pPr algn="ctr"/>
            <a:r>
              <a:rPr b="1" sz="800">
                <a:solidFill>
                  <a:srgbClr val="3B3535"/>
                </a:solidFill>
                <a:latin typeface="Helvetica Bold"/>
              </a:rPr>
              <a:t>CONECTAR Y AUTOMATIZAR</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800">
                <a:solidFill>
                  <a:srgbClr val="1F1E1E"/>
                </a:solidFill>
                <a:latin typeface="Helvetica Bold"/>
              </a:rPr>
              <a:t>Schedule: que Cowork trabaje solo</a:t>
            </a:r>
          </a:p>
        </p:txBody>
      </p:sp>
      <p:sp>
        <p:nvSpPr>
          <p:cNvPr id="5" name="TextBox 4"/>
          <p:cNvSpPr txBox="1"/>
          <p:nvPr/>
        </p:nvSpPr>
        <p:spPr>
          <a:xfrm>
            <a:off x="493776" y="1885492"/>
            <a:ext cx="4526280" cy="2960827"/>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900">
                <a:solidFill>
                  <a:srgbClr val="3B3535"/>
                </a:solidFill>
                <a:latin typeface="Helvetica Bold"/>
              </a:rPr>
              <a:t>Para qué sirve.</a:t>
            </a:r>
            <a:r>
              <a:rPr b="0" sz="900">
                <a:solidFill>
                  <a:srgbClr val="3B3535"/>
                </a:solidFill>
                <a:latin typeface="Helvetica"/>
              </a:rPr>
              <a:t> Todo lo anterior es reactivo (vos pedís, Claude hace). Schedule hace a Cowork </a:t>
            </a:r>
            <a:r>
              <a:rPr b="1" sz="900">
                <a:solidFill>
                  <a:srgbClr val="3B3535"/>
                </a:solidFill>
                <a:latin typeface="Helvetica Bold"/>
              </a:rPr>
              <a:t>proactivo</a:t>
            </a:r>
            <a:r>
              <a:rPr b="0" sz="900">
                <a:solidFill>
                  <a:srgbClr val="3B3535"/>
                </a:solidFill>
                <a:latin typeface="Helvetica"/>
              </a:rPr>
              <a:t>: describís una tarea una vez, elegís una cadencia, y Claude la corre solo.</a:t>
            </a:r>
          </a:p>
          <a:p>
            <a:pPr marL="164592" indent="-164592">
              <a:spcBef>
                <a:spcPts val="0"/>
              </a:spcBef>
              <a:spcAft>
                <a:spcPts val="400"/>
              </a:spcAft>
              <a:buClr>
                <a:srgbClr val="3B3535"/>
              </a:buClr>
              <a:buFont typeface="Arial"/>
              <a:buChar char="•"/>
            </a:pPr>
            <a:r>
              <a:rPr b="1" sz="900">
                <a:solidFill>
                  <a:srgbClr val="3B3535"/>
                </a:solidFill>
                <a:latin typeface="Helvetica Bold"/>
              </a:rPr>
              <a:t>Cómo funciona.</a:t>
            </a:r>
          </a:p>
          <a:p>
            <a:pPr marL="402336" indent="-164592">
              <a:spcBef>
                <a:spcPts val="0"/>
              </a:spcBef>
              <a:spcAft>
                <a:spcPts val="400"/>
              </a:spcAft>
              <a:buClr>
                <a:srgbClr val="DA1B2E"/>
              </a:buClr>
              <a:buFont typeface="Arial"/>
              <a:buChar char="–"/>
            </a:pPr>
            <a:r>
              <a:rPr b="0" sz="750">
                <a:solidFill>
                  <a:srgbClr val="3B3535"/>
                </a:solidFill>
                <a:latin typeface="Helvetica"/>
              </a:rPr>
              <a:t>Describís la tarea una vez; Claude guarda el prompt como las instrucciones de la tarea.</a:t>
            </a:r>
          </a:p>
          <a:p>
            <a:pPr marL="402336" indent="-164592">
              <a:spcBef>
                <a:spcPts val="0"/>
              </a:spcBef>
              <a:spcAft>
                <a:spcPts val="400"/>
              </a:spcAft>
              <a:buClr>
                <a:srgbClr val="DA1B2E"/>
              </a:buClr>
              <a:buFont typeface="Arial"/>
              <a:buChar char="–"/>
            </a:pPr>
            <a:r>
              <a:rPr b="0" sz="750">
                <a:solidFill>
                  <a:srgbClr val="3B3535"/>
                </a:solidFill>
                <a:latin typeface="Helvetica"/>
              </a:rPr>
              <a:t>Elegís cadencia: por hora · diaria · semanal · días de semana · o </a:t>
            </a:r>
            <a:r>
              <a:rPr b="1" sz="750">
                <a:solidFill>
                  <a:srgbClr val="3B3535"/>
                </a:solidFill>
                <a:latin typeface="Helvetica Bold"/>
              </a:rPr>
              <a:t>a demanda</a:t>
            </a:r>
            <a:r>
              <a:rPr b="0" sz="750">
                <a:solidFill>
                  <a:srgbClr val="3B3535"/>
                </a:solidFill>
                <a:latin typeface="Helvetica"/>
              </a:rPr>
              <a:t> ("Run now").</a:t>
            </a:r>
          </a:p>
          <a:p>
            <a:pPr marL="402336" indent="-164592">
              <a:spcBef>
                <a:spcPts val="0"/>
              </a:spcBef>
              <a:spcAft>
                <a:spcPts val="400"/>
              </a:spcAft>
              <a:buClr>
                <a:srgbClr val="DA1B2E"/>
              </a:buClr>
              <a:buFont typeface="Arial"/>
              <a:buChar char="–"/>
            </a:pPr>
            <a:r>
              <a:rPr b="0" sz="750">
                <a:solidFill>
                  <a:srgbClr val="3B3535"/>
                </a:solidFill>
                <a:latin typeface="Helvetica"/>
              </a:rPr>
              <a:t>Cada corrida abre su </a:t>
            </a:r>
            <a:r>
              <a:rPr b="1" sz="750">
                <a:solidFill>
                  <a:srgbClr val="3B3535"/>
                </a:solidFill>
                <a:latin typeface="Helvetica Bold"/>
              </a:rPr>
              <a:t>propia sesión fresca de Cowork</a:t>
            </a:r>
            <a:r>
              <a:rPr b="0" sz="750">
                <a:solidFill>
                  <a:srgbClr val="3B3535"/>
                </a:solidFill>
                <a:latin typeface="Helvetica"/>
              </a:rPr>
              <a:t> y avisa al terminar.</a:t>
            </a:r>
          </a:p>
          <a:p>
            <a:pPr marL="402336" indent="-164592">
              <a:spcBef>
                <a:spcPts val="0"/>
              </a:spcBef>
              <a:spcAft>
                <a:spcPts val="400"/>
              </a:spcAft>
              <a:buClr>
                <a:srgbClr val="DA1B2E"/>
              </a:buClr>
              <a:buFont typeface="Arial"/>
              <a:buChar char="–"/>
            </a:pPr>
            <a:r>
              <a:rPr b="0" sz="750">
                <a:solidFill>
                  <a:srgbClr val="3B3535"/>
                </a:solidFill>
                <a:latin typeface="Helvetica"/>
              </a:rPr>
              <a:t>Tiene los </a:t>
            </a:r>
            <a:r>
              <a:rPr b="1" sz="750">
                <a:solidFill>
                  <a:srgbClr val="3B3535"/>
                </a:solidFill>
                <a:latin typeface="Helvetica Bold"/>
              </a:rPr>
              <a:t>mismos poderes</a:t>
            </a:r>
            <a:r>
              <a:rPr b="0" sz="750">
                <a:solidFill>
                  <a:srgbClr val="3B3535"/>
                </a:solidFill>
                <a:latin typeface="Helvetica"/>
              </a:rPr>
              <a:t> que una tarea normal: connectors, skills, plugins instalados.</a:t>
            </a:r>
          </a:p>
          <a:p>
            <a:pPr marL="402336" indent="-164592">
              <a:spcBef>
                <a:spcPts val="0"/>
              </a:spcBef>
              <a:spcAft>
                <a:spcPts val="400"/>
              </a:spcAft>
              <a:buClr>
                <a:srgbClr val="DA1B2E"/>
              </a:buClr>
              <a:buFont typeface="Arial"/>
              <a:buChar char="–"/>
            </a:pPr>
            <a:r>
              <a:rPr b="0" sz="750">
                <a:solidFill>
                  <a:srgbClr val="3B3535"/>
                </a:solidFill>
                <a:latin typeface="Helvetica"/>
              </a:rPr>
              <a:t>Vive en la pestaña </a:t>
            </a:r>
            <a:r>
              <a:rPr b="1" sz="750">
                <a:solidFill>
                  <a:srgbClr val="3B3535"/>
                </a:solidFill>
                <a:latin typeface="Helvetica Bold"/>
              </a:rPr>
              <a:t>Scheduled</a:t>
            </a:r>
            <a:r>
              <a:rPr b="0" sz="750">
                <a:solidFill>
                  <a:srgbClr val="3B3535"/>
                </a:solidFill>
                <a:latin typeface="Helvetica"/>
              </a:rPr>
              <a:t> de la barra lateral.</a:t>
            </a:r>
          </a:p>
          <a:p>
            <a:pPr marL="164592" indent="-164592">
              <a:spcBef>
                <a:spcPts val="0"/>
              </a:spcBef>
              <a:spcAft>
                <a:spcPts val="400"/>
              </a:spcAft>
              <a:buClr>
                <a:srgbClr val="3B3535"/>
              </a:buClr>
              <a:buFont typeface="Arial"/>
              <a:buChar char="•"/>
            </a:pPr>
            <a:r>
              <a:rPr b="1" sz="900">
                <a:solidFill>
                  <a:srgbClr val="3B3535"/>
                </a:solidFill>
                <a:latin typeface="Helvetica Bold"/>
              </a:rPr>
              <a:t> LA trampa — corre LOCAL, no en la nube.</a:t>
            </a:r>
            <a:r>
              <a:rPr b="0" sz="900">
                <a:solidFill>
                  <a:srgbClr val="3B3535"/>
                </a:solidFill>
                <a:latin typeface="Helvetica"/>
              </a:rPr>
              <a:t> Las tareas programadas de Cowork corren </a:t>
            </a:r>
            <a:r>
              <a:rPr b="1" sz="900">
                <a:solidFill>
                  <a:srgbClr val="3B3535"/>
                </a:solidFill>
                <a:latin typeface="Helvetica Bold"/>
              </a:rPr>
              <a:t>en tu computadora</a:t>
            </a:r>
            <a:r>
              <a:rPr b="0" sz="900">
                <a:solidFill>
                  <a:srgbClr val="3B3535"/>
                </a:solidFill>
                <a:latin typeface="Helvetica"/>
              </a:rPr>
              <a:t>, no en servidores de Anthropic. Solo se disparan </a:t>
            </a:r>
            <a:r>
              <a:rPr b="1" sz="900">
                <a:solidFill>
                  <a:srgbClr val="3B3535"/>
                </a:solidFill>
                <a:latin typeface="Helvetica Bold"/>
              </a:rPr>
              <a:t>con la máquina encendida y la app de Claude Desktop abierta</a:t>
            </a:r>
            <a:r>
              <a:rPr b="0" sz="900">
                <a:solidFill>
                  <a:srgbClr val="3B3535"/>
                </a:solidFill>
                <a:latin typeface="Helvetica"/>
              </a:rPr>
              <a:t>. Si estaba dormida/cerrada a la hora prevista, la corrida se </a:t>
            </a:r>
            <a:r>
              <a:rPr b="1" sz="900">
                <a:solidFill>
                  <a:srgbClr val="3B3535"/>
                </a:solidFill>
                <a:latin typeface="Helvetica Bold"/>
              </a:rPr>
              <a:t>saltea</a:t>
            </a:r>
            <a:r>
              <a:rPr b="0" sz="900">
                <a:solidFill>
                  <a:srgbClr val="3B3535"/>
                </a:solidFill>
                <a:latin typeface="Helvetica"/>
              </a:rPr>
              <a:t> — y se ejecuta automáticamente apenas la máquina despierta o reabrís la app (con aviso de "esto se saltó"). No esperes que tu laptop apagada genere el reporte del lunes.</a:t>
            </a:r>
          </a:p>
          <a:p>
            <a:pPr marL="402336" indent="-164592">
              <a:spcBef>
                <a:spcPts val="0"/>
              </a:spcBef>
              <a:spcAft>
                <a:spcPts val="400"/>
              </a:spcAft>
              <a:buClr>
                <a:srgbClr val="DA1B2E"/>
              </a:buClr>
              <a:buFont typeface="Arial"/>
              <a:buChar char="–"/>
            </a:pPr>
            <a:r>
              <a:rPr b="0" sz="750">
                <a:solidFill>
                  <a:srgbClr val="3B3535"/>
                </a:solidFill>
                <a:latin typeface="Helvetica"/>
              </a:rPr>
              <a:t>(Aparte, fuera de alcance:) existen agentes programados </a:t>
            </a:r>
            <a:r>
              <a:rPr b="1" sz="750">
                <a:solidFill>
                  <a:srgbClr val="3B3535"/>
                </a:solidFill>
                <a:latin typeface="Helvetica Bold"/>
              </a:rPr>
              <a:t>alojados en la nube</a:t>
            </a:r>
            <a:r>
              <a:rPr b="0" sz="750">
                <a:solidFill>
                  <a:srgbClr val="3B3535"/>
                </a:solidFill>
                <a:latin typeface="Helvetica"/>
              </a:rPr>
              <a:t>, pero son una funcionalidad separada — no es lo que hace el Schedule de Cowork.</a:t>
            </a:r>
          </a:p>
          <a:p>
            <a:pPr marL="164592" indent="-164592">
              <a:spcBef>
                <a:spcPts val="0"/>
              </a:spcBef>
              <a:spcAft>
                <a:spcPts val="400"/>
              </a:spcAft>
              <a:buClr>
                <a:srgbClr val="3B3535"/>
              </a:buClr>
              <a:buFont typeface="Arial"/>
              <a:buChar char="•"/>
            </a:pPr>
            <a:r>
              <a:rPr b="1" sz="900">
                <a:solidFill>
                  <a:srgbClr val="3B3535"/>
                </a:solidFill>
                <a:latin typeface="Helvetica Bold"/>
              </a:rPr>
              <a:t>Ejemplo (Atlas).</a:t>
            </a:r>
            <a:r>
              <a:rPr b="0" sz="900">
                <a:solidFill>
                  <a:srgbClr val="3B3535"/>
                </a:solidFill>
                <a:latin typeface="Helvetica"/>
              </a:rPr>
              <a:t> Cada lunes 8:00: buscar-accion → reporte-semanal → dejar el reporte como borrador en Gmail, listo antes de la reunión de las 9:00. Tip de demo: no esperar al lunes, usar "Run on demand".</a:t>
            </a:r>
          </a:p>
        </p:txBody>
      </p:sp>
      <p:pic>
        <p:nvPicPr>
          <p:cNvPr id="6" name="Picture 5" descr="schedule.png"/>
          <p:cNvPicPr>
            <a:picLocks noChangeAspect="1"/>
          </p:cNvPicPr>
          <p:nvPr/>
        </p:nvPicPr>
        <p:blipFill>
          <a:blip r:embed="rId2"/>
          <a:stretch>
            <a:fillRect/>
          </a:stretch>
        </p:blipFill>
        <p:spPr>
          <a:xfrm>
            <a:off x="5257800" y="1975842"/>
            <a:ext cx="3401568" cy="27801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dirty="0">
                <a:solidFill>
                  <a:srgbClr val="1F1E1E"/>
                </a:solidFill>
                <a:latin typeface="Helvetica Bold" pitchFamily="34" charset="0"/>
                <a:ea typeface="Roboto Mono Medium" pitchFamily="34" charset="-122"/>
                <a:cs typeface="Roboto Mono Medium" pitchFamily="34" charset="-120"/>
              </a:rPr>
              <a:t>Agenda</a:t>
            </a:r>
            <a:endParaRPr lang="en-US" sz="2150" dirty="0"/>
          </a:p>
        </p:txBody>
      </p:sp>
      <p:sp>
        <p:nvSpPr>
          <p:cNvPr id="3" name="Shape 1"/>
          <p:cNvSpPr/>
          <p:nvPr/>
        </p:nvSpPr>
        <p:spPr>
          <a:xfrm>
            <a:off x="606103" y="994172"/>
            <a:ext cx="14288" cy="3644354"/>
          </a:xfrm>
          <a:prstGeom prst="roundRect">
            <a:avLst>
              <a:gd name="adj" fmla="val 39999"/>
            </a:avLst>
          </a:prstGeom>
          <a:solidFill>
            <a:srgbClr val="D8D4D4"/>
          </a:solidFill>
          <a:ln/>
        </p:spPr>
        <p:txBody>
          <a:bodyPr/>
          <a:p/>
        </p:txBody>
      </p:sp>
      <p:sp>
        <p:nvSpPr>
          <p:cNvPr id="4" name="Shape 2"/>
          <p:cNvSpPr/>
          <p:nvPr/>
        </p:nvSpPr>
        <p:spPr>
          <a:xfrm>
            <a:off x="717314" y="1112490"/>
            <a:ext cx="334714" cy="14288"/>
          </a:xfrm>
          <a:prstGeom prst="roundRect">
            <a:avLst>
              <a:gd name="adj" fmla="val 39999"/>
            </a:avLst>
          </a:prstGeom>
          <a:solidFill>
            <a:srgbClr val="D8D4D4"/>
          </a:solidFill>
          <a:ln/>
        </p:spPr>
        <p:txBody>
          <a:bodyPr/>
          <a:p/>
        </p:txBody>
      </p:sp>
      <p:sp>
        <p:nvSpPr>
          <p:cNvPr id="5" name="Shape 3"/>
          <p:cNvSpPr/>
          <p:nvPr/>
        </p:nvSpPr>
        <p:spPr>
          <a:xfrm>
            <a:off x="480603" y="994172"/>
            <a:ext cx="250999" cy="250999"/>
          </a:xfrm>
          <a:prstGeom prst="roundRect">
            <a:avLst>
              <a:gd name="adj" fmla="val 2277"/>
            </a:avLst>
          </a:prstGeom>
          <a:solidFill>
            <a:srgbClr val="F2EEEE"/>
          </a:solidFill>
          <a:ln w="4763">
            <a:solidFill>
              <a:srgbClr val="F33447"/>
            </a:solidFill>
            <a:prstDash val="solid"/>
          </a:ln>
        </p:spPr>
        <p:txBody>
          <a:bodyPr/>
          <a:p/>
        </p:txBody>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1</a:t>
            </a:r>
            <a:endParaRPr lang="en-US" sz="1300" dirty="0"/>
          </a:p>
        </p:txBody>
      </p:sp>
      <p:sp>
        <p:nvSpPr>
          <p:cNvPr id="7" name="Text 5"/>
          <p:cNvSpPr/>
          <p:nvPr/>
        </p:nvSpPr>
        <p:spPr>
          <a:xfrm>
            <a:off x="1164059" y="103249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De chat a agente: dónde encaja Cowork</a:t>
            </a:r>
            <a:endParaRPr lang="en-US" sz="1050"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Del chat a delegar un resultado: dónde encaja Cowork</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txBody>
          <a:bodyPr/>
          <a:p/>
        </p:txBody>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txBody>
          <a:bodyPr/>
          <a:p/>
        </p:txBody>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2</a:t>
            </a:r>
            <a:endParaRPr lang="en-US" sz="1300" dirty="0"/>
          </a:p>
        </p:txBody>
      </p:sp>
      <p:sp>
        <p:nvSpPr>
          <p:cNvPr id="12" name="Text 10"/>
          <p:cNvSpPr/>
          <p:nvPr/>
        </p:nvSpPr>
        <p:spPr>
          <a:xfrm>
            <a:off x="1164059" y="157318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Lo básico: interfaz, Instrucciones y Projects</a:t>
            </a:r>
            <a:endParaRPr lang="en-US" sz="1050"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La interfaz, las Instrucciones y los Projects</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txBody>
          <a:bodyPr/>
          <a:p/>
        </p:txBody>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txBody>
          <a:bodyPr/>
          <a:p/>
        </p:txBody>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3</a:t>
            </a:r>
            <a:endParaRPr lang="en-US" sz="1300" dirty="0"/>
          </a:p>
        </p:txBody>
      </p:sp>
      <p:sp>
        <p:nvSpPr>
          <p:cNvPr id="17" name="Text 15"/>
          <p:cNvSpPr/>
          <p:nvPr/>
        </p:nvSpPr>
        <p:spPr>
          <a:xfrm>
            <a:off x="1164059" y="2113880"/>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Extender Cowork: Skills y archivos MD / metadata</a:t>
            </a:r>
            <a:endParaRPr lang="en-US" sz="1050"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Skills y por qué los archivos MD / metadata son el lenguaje común</a:t>
            </a:r>
            <a:endParaRPr lang="en-US" sz="850" dirty="0"/>
          </a:p>
        </p:txBody>
      </p:sp>
      <p:sp>
        <p:nvSpPr>
          <p:cNvPr id="19" name="Shape 17"/>
          <p:cNvSpPr/>
          <p:nvPr/>
        </p:nvSpPr>
        <p:spPr>
          <a:xfrm>
            <a:off x="717314" y="2734568"/>
            <a:ext cx="334714" cy="14288"/>
          </a:xfrm>
          <a:prstGeom prst="roundRect">
            <a:avLst>
              <a:gd name="adj" fmla="val 39999"/>
            </a:avLst>
          </a:prstGeom>
          <a:solidFill>
            <a:srgbClr val="F33447"/>
          </a:solidFill>
          <a:ln/>
        </p:spPr>
        <p:txBody>
          <a:bodyPr/>
          <a:p/>
        </p:txBody>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txBody>
          <a:bodyPr/>
          <a:p/>
        </p:txBody>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4</a:t>
            </a:r>
            <a:endParaRPr lang="en-US" sz="1300" dirty="0"/>
          </a:p>
        </p:txBody>
      </p:sp>
      <p:sp>
        <p:nvSpPr>
          <p:cNvPr id="22" name="Text 20"/>
          <p:cNvSpPr/>
          <p:nvPr/>
        </p:nvSpPr>
        <p:spPr>
          <a:xfrm>
            <a:off x="1164059" y="2654573"/>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Conectar y automatizar: Connectors/MCP y Schedule</a:t>
            </a:r>
            <a:endParaRPr lang="en-US" sz="1050"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Connectors/MCP y tareas programadas con Schedule</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txBody>
          <a:bodyPr/>
          <a:p/>
        </p:txBody>
      </p:sp>
      <p:sp>
        <p:nvSpPr>
          <p:cNvPr id="25" name="Shape 23"/>
          <p:cNvSpPr/>
          <p:nvPr/>
        </p:nvSpPr>
        <p:spPr>
          <a:xfrm>
            <a:off x="480603" y="3156942"/>
            <a:ext cx="250999" cy="250999"/>
          </a:xfrm>
          <a:prstGeom prst="roundRect">
            <a:avLst>
              <a:gd name="adj" fmla="val 2277"/>
            </a:avLst>
          </a:prstGeom>
          <a:solidFill>
            <a:srgbClr val="DA1B2E"/>
          </a:solidFill>
          <a:ln w="4763">
            <a:solidFill>
              <a:srgbClr val="D8D4D4"/>
            </a:solidFill>
            <a:prstDash val="solid"/>
          </a:ln>
        </p:spPr>
        <p:txBody>
          <a:bodyPr/>
          <a:p/>
        </p:txBody>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FFFFFF"/>
                </a:solidFill>
                <a:latin typeface="Helvetica Bold" pitchFamily="34" charset="0"/>
                <a:ea typeface="Roboto Mono Medium" pitchFamily="34" charset="-122"/>
                <a:cs typeface="Roboto Mono Medium" pitchFamily="34" charset="-120"/>
              </a:rPr>
              <a:t>5</a:t>
            </a:r>
            <a:endParaRPr lang="en-US" sz="1300" dirty="0"/>
          </a:p>
        </p:txBody>
      </p:sp>
      <p:sp>
        <p:nvSpPr>
          <p:cNvPr id="27" name="Text 25"/>
          <p:cNvSpPr/>
          <p:nvPr/>
        </p:nvSpPr>
        <p:spPr>
          <a:xfrm>
            <a:off x="1164059" y="319526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Compartir resultados: Live Artifacts</a:t>
            </a:r>
            <a:endParaRPr lang="en-US" sz="1050"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Live Artifacts: compartir el resultado vivo</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txBody>
          <a:bodyPr/>
          <a:p/>
        </p:txBody>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txBody>
          <a:bodyPr/>
          <a:p/>
        </p:txBody>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6</a:t>
            </a:r>
            <a:endParaRPr lang="en-US" sz="1300" dirty="0"/>
          </a:p>
        </p:txBody>
      </p:sp>
      <p:sp>
        <p:nvSpPr>
          <p:cNvPr id="32" name="Text 30"/>
          <p:cNvSpPr/>
          <p:nvPr/>
        </p:nvSpPr>
        <p:spPr>
          <a:xfrm>
            <a:off x="1164059" y="373595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Advanced: Subagentes y Plugins</a:t>
            </a:r>
            <a:endParaRPr lang="en-US" sz="1050"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Subagentes en paralelo y Plugins para distribuir</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txBody>
          <a:bodyPr/>
          <a:p/>
        </p:txBody>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txBody>
          <a:bodyPr/>
          <a:p/>
        </p:txBody>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7</a:t>
            </a:r>
            <a:endParaRPr lang="en-US" sz="1300" dirty="0"/>
          </a:p>
        </p:txBody>
      </p:sp>
      <p:sp>
        <p:nvSpPr>
          <p:cNvPr id="37" name="Text 35"/>
          <p:cNvSpPr/>
          <p:nvPr/>
        </p:nvSpPr>
        <p:spPr>
          <a:xfrm>
            <a:off x="1164059" y="4276651"/>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Conclusiones</a:t>
            </a:r>
            <a:endParaRPr lang="en-US" sz="1050"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El loop completo, gobernanza y advertencias</a:t>
            </a:r>
            <a:endParaRPr lang="en-US" sz="85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627632"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627632" cy="237744"/>
          </a:xfrm>
          <a:prstGeom prst="rect">
            <a:avLst/>
          </a:prstGeom>
          <a:noFill/>
        </p:spPr>
        <p:txBody>
          <a:bodyPr wrap="none" lIns="0" rIns="0" tIns="0" bIns="0" anchor="ctr">
            <a:spAutoFit/>
          </a:bodyPr>
          <a:lstStyle/>
          <a:p>
            <a:pPr algn="ctr"/>
            <a:r>
              <a:rPr b="1" sz="800">
                <a:solidFill>
                  <a:srgbClr val="3B3535"/>
                </a:solidFill>
                <a:latin typeface="Helvetica Bold"/>
              </a:rPr>
              <a:t>COMPARTIR RESULTADOS</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1700">
                <a:solidFill>
                  <a:srgbClr val="1F1E1E"/>
                </a:solidFill>
                <a:latin typeface="Helvetica Bold"/>
              </a:rPr>
              <a:t>Artifacts y Live Artifacts: del resultado a algo compartible</a:t>
            </a:r>
          </a:p>
        </p:txBody>
      </p:sp>
      <p:sp>
        <p:nvSpPr>
          <p:cNvPr id="5" name="TextBox 4"/>
          <p:cNvSpPr txBox="1"/>
          <p:nvPr/>
        </p:nvSpPr>
        <p:spPr>
          <a:xfrm>
            <a:off x="493776" y="1543507"/>
            <a:ext cx="4526280" cy="3302812"/>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900">
                <a:solidFill>
                  <a:srgbClr val="3B3535"/>
                </a:solidFill>
                <a:latin typeface="Helvetica Bold"/>
              </a:rPr>
              <a:t>Qué es un Artifact.</a:t>
            </a:r>
            <a:r>
              <a:rPr b="0" sz="900">
                <a:solidFill>
                  <a:srgbClr val="3B3535"/>
                </a:solidFill>
                <a:latin typeface="Helvetica"/>
              </a:rPr>
              <a:t> Una salida viva y ejecutable que se renderiza en un panel lateral: componentes React, páginas HTML, gráficos SVG, diagramas, tablas, documentos descargables.</a:t>
            </a:r>
          </a:p>
          <a:p>
            <a:pPr marL="164592" indent="-164592">
              <a:spcBef>
                <a:spcPts val="0"/>
              </a:spcBef>
              <a:spcAft>
                <a:spcPts val="400"/>
              </a:spcAft>
              <a:buClr>
                <a:srgbClr val="3B3535"/>
              </a:buClr>
              <a:buFont typeface="Arial"/>
              <a:buChar char="•"/>
            </a:pPr>
            <a:r>
              <a:rPr b="1" sz="900">
                <a:solidFill>
                  <a:srgbClr val="3B3535"/>
                </a:solidFill>
                <a:latin typeface="Helvetica Bold"/>
              </a:rPr>
              <a:t>Distinción live vs no-live (breve).</a:t>
            </a:r>
          </a:p>
          <a:p>
            <a:pPr marL="402336" indent="-164592">
              <a:spcBef>
                <a:spcPts val="0"/>
              </a:spcBef>
              <a:spcAft>
                <a:spcPts val="400"/>
              </a:spcAft>
              <a:buClr>
                <a:srgbClr val="DA1B2E"/>
              </a:buClr>
              <a:buFont typeface="Arial"/>
              <a:buChar char="–"/>
            </a:pPr>
            <a:r>
              <a:rPr b="1" sz="750">
                <a:solidFill>
                  <a:srgbClr val="3B3535"/>
                </a:solidFill>
                <a:latin typeface="Helvetica Bold"/>
              </a:rPr>
              <a:t>Artifact estándar</a:t>
            </a:r>
            <a:r>
              <a:rPr b="0" sz="750">
                <a:solidFill>
                  <a:srgbClr val="3B3535"/>
                </a:solidFill>
                <a:latin typeface="Helvetica"/>
              </a:rPr>
              <a:t> (todos los planes): salida de un solo archivo, estática — lo que generás es lo que queda.</a:t>
            </a:r>
          </a:p>
          <a:p>
            <a:pPr marL="402336" indent="-164592">
              <a:spcBef>
                <a:spcPts val="0"/>
              </a:spcBef>
              <a:spcAft>
                <a:spcPts val="400"/>
              </a:spcAft>
              <a:buClr>
                <a:srgbClr val="DA1B2E"/>
              </a:buClr>
              <a:buFont typeface="Arial"/>
              <a:buChar char="–"/>
            </a:pPr>
            <a:r>
              <a:rPr b="1" sz="750">
                <a:solidFill>
                  <a:srgbClr val="3B3535"/>
                </a:solidFill>
                <a:latin typeface="Helvetica Bold"/>
              </a:rPr>
              <a:t>Live Artifact</a:t>
            </a:r>
            <a:r>
              <a:rPr b="0" sz="750">
                <a:solidFill>
                  <a:srgbClr val="3B3535"/>
                </a:solidFill>
                <a:latin typeface="Helvetica"/>
              </a:rPr>
              <a:t> (Cowork, planes pagos): una </a:t>
            </a:r>
            <a:r>
              <a:rPr b="1" sz="750">
                <a:solidFill>
                  <a:srgbClr val="3B3535"/>
                </a:solidFill>
                <a:latin typeface="Helvetica Bold"/>
              </a:rPr>
              <a:t>página HTML interactiva y persistente</a:t>
            </a:r>
            <a:r>
              <a:rPr b="0" sz="750">
                <a:solidFill>
                  <a:srgbClr val="3B3535"/>
                </a:solidFill>
                <a:latin typeface="Helvetica"/>
              </a:rPr>
              <a:t> que vive en la pestaña </a:t>
            </a:r>
            <a:r>
              <a:rPr b="1" sz="750">
                <a:solidFill>
                  <a:srgbClr val="3B3535"/>
                </a:solidFill>
                <a:latin typeface="Helvetica Bold"/>
              </a:rPr>
              <a:t>"Live artifacts"</a:t>
            </a:r>
            <a:r>
              <a:rPr b="0" sz="750">
                <a:solidFill>
                  <a:srgbClr val="3B3535"/>
                </a:solidFill>
                <a:latin typeface="Helvetica"/>
              </a:rPr>
              <a:t> de Cowork. </a:t>
            </a:r>
            <a:r>
              <a:rPr b="1" sz="750">
                <a:solidFill>
                  <a:srgbClr val="3B3535"/>
                </a:solidFill>
                <a:latin typeface="Helvetica Bold"/>
              </a:rPr>
              <a:t>Se actualiza con datos actuales</a:t>
            </a:r>
            <a:r>
              <a:rPr b="0" sz="750">
                <a:solidFill>
                  <a:srgbClr val="3B3535"/>
                </a:solidFill>
                <a:latin typeface="Helvetica"/>
              </a:rPr>
              <a:t> de tus apps conectadas cada vez que la abrís, y </a:t>
            </a:r>
            <a:r>
              <a:rPr b="1" sz="750">
                <a:solidFill>
                  <a:srgbClr val="3B3535"/>
                </a:solidFill>
                <a:latin typeface="Helvetica Bold"/>
              </a:rPr>
              <a:t>guarda historial de versiones</a:t>
            </a:r>
            <a:r>
              <a:rPr b="0" sz="750">
                <a:solidFill>
                  <a:srgbClr val="3B3535"/>
                </a:solidFill>
                <a:latin typeface="Helvetica"/>
              </a:rPr>
              <a:t>.</a:t>
            </a:r>
          </a:p>
          <a:p>
            <a:pPr marL="164592" indent="-164592">
              <a:spcBef>
                <a:spcPts val="0"/>
              </a:spcBef>
              <a:spcAft>
                <a:spcPts val="400"/>
              </a:spcAft>
              <a:buClr>
                <a:srgbClr val="3B3535"/>
              </a:buClr>
              <a:buFont typeface="Arial"/>
              <a:buChar char="•"/>
            </a:pPr>
            <a:r>
              <a:rPr b="1" sz="900">
                <a:solidFill>
                  <a:srgbClr val="3B3535"/>
                </a:solidFill>
                <a:latin typeface="Helvetica Bold"/>
              </a:rPr>
              <a:t>Cómo se crea.</a:t>
            </a:r>
            <a:r>
              <a:rPr b="0" sz="900">
                <a:solidFill>
                  <a:srgbClr val="3B3535"/>
                </a:solidFill>
                <a:latin typeface="Helvetica"/>
              </a:rPr>
              <a:t> Dos formas: (1) </a:t>
            </a:r>
            <a:r>
              <a:rPr b="1" sz="900">
                <a:solidFill>
                  <a:srgbClr val="3B3535"/>
                </a:solidFill>
                <a:latin typeface="Helvetica Bold"/>
              </a:rPr>
              <a:t>desde una tarea de Cowork</a:t>
            </a:r>
            <a:r>
              <a:rPr b="0" sz="900">
                <a:solidFill>
                  <a:srgbClr val="3B3535"/>
                </a:solidFill>
                <a:latin typeface="Helvetica"/>
              </a:rPr>
              <a:t> (le pedís que el resultado sea un Live Artifact), o (2) desde la pestaña </a:t>
            </a:r>
            <a:r>
              <a:rPr b="1" sz="900">
                <a:solidFill>
                  <a:srgbClr val="3B3535"/>
                </a:solidFill>
                <a:latin typeface="Helvetica Bold"/>
              </a:rPr>
              <a:t>Live artifacts → New artifact → Chat with Claude</a:t>
            </a:r>
            <a:r>
              <a:rPr b="0" sz="900">
                <a:solidFill>
                  <a:srgbClr val="3B3535"/>
                </a:solidFill>
                <a:latin typeface="Helvetica"/>
              </a:rPr>
              <a:t>.</a:t>
            </a:r>
          </a:p>
          <a:p>
            <a:pPr marL="164592" indent="-164592">
              <a:spcBef>
                <a:spcPts val="0"/>
              </a:spcBef>
              <a:spcAft>
                <a:spcPts val="400"/>
              </a:spcAft>
              <a:buClr>
                <a:srgbClr val="3B3535"/>
              </a:buClr>
              <a:buFont typeface="Arial"/>
              <a:buChar char="•"/>
            </a:pPr>
            <a:r>
              <a:rPr b="1" sz="900">
                <a:solidFill>
                  <a:srgbClr val="3B3535"/>
                </a:solidFill>
                <a:latin typeface="Helvetica Bold"/>
              </a:rPr>
              <a:t>Estado actual del compartir — leer con cuidado.</a:t>
            </a:r>
            <a:r>
              <a:rPr b="0" sz="900">
                <a:solidFill>
                  <a:srgbClr val="3B3535"/>
                </a:solidFill>
                <a:latin typeface="Helvetica"/>
              </a:rPr>
              <a:t> Los Live Artifacts </a:t>
            </a:r>
            <a:r>
              <a:rPr b="1" sz="900">
                <a:solidFill>
                  <a:srgbClr val="3B3535"/>
                </a:solidFill>
                <a:latin typeface="Helvetica Bold"/>
              </a:rPr>
              <a:t>todavía NO son compartibles</a:t>
            </a:r>
            <a:r>
              <a:rPr b="0" sz="900">
                <a:solidFill>
                  <a:srgbClr val="3B3535"/>
                </a:solidFill>
                <a:latin typeface="Helvetica"/>
              </a:rPr>
              <a:t>: en el lanzamiento son </a:t>
            </a:r>
            <a:r>
              <a:rPr b="1" sz="900">
                <a:solidFill>
                  <a:srgbClr val="3B3535"/>
                </a:solidFill>
                <a:latin typeface="Helvetica Bold"/>
              </a:rPr>
              <a:t>para tu propio uso</a:t>
            </a:r>
            <a:r>
              <a:rPr b="0" sz="900">
                <a:solidFill>
                  <a:srgbClr val="3B3535"/>
                </a:solidFill>
                <a:latin typeface="Helvetica"/>
              </a:rPr>
              <a:t>; compartir está en el roadmap. Además son </a:t>
            </a:r>
            <a:r>
              <a:rPr b="1" sz="900">
                <a:solidFill>
                  <a:srgbClr val="3B3535"/>
                </a:solidFill>
                <a:latin typeface="Helvetica Bold"/>
              </a:rPr>
              <a:t>locales, no en la nube</a:t>
            </a:r>
            <a:r>
              <a:rPr b="0" sz="900">
                <a:solidFill>
                  <a:srgbClr val="3B3535"/>
                </a:solidFill>
                <a:latin typeface="Helvetica"/>
              </a:rPr>
              <a:t>: viven en tu computadora y no te siguen entre dispositivos. Y </a:t>
            </a:r>
            <a:r>
              <a:rPr b="1" sz="900">
                <a:solidFill>
                  <a:srgbClr val="3B3535"/>
                </a:solidFill>
                <a:latin typeface="Helvetica Bold"/>
              </a:rPr>
              <a:t>usan tus connectors sin volver a pedirte permiso</a:t>
            </a:r>
            <a:r>
              <a:rPr b="0" sz="900">
                <a:solidFill>
                  <a:srgbClr val="3B3535"/>
                </a:solidFill>
                <a:latin typeface="Helvetica"/>
              </a:rPr>
              <a:t> — solo los que aprobaste al crear/actualizar el artifact.</a:t>
            </a:r>
          </a:p>
          <a:p>
            <a:pPr marL="164592" indent="-164592">
              <a:spcBef>
                <a:spcPts val="0"/>
              </a:spcBef>
              <a:spcAft>
                <a:spcPts val="400"/>
              </a:spcAft>
              <a:buClr>
                <a:srgbClr val="3B3535"/>
              </a:buClr>
              <a:buFont typeface="Arial"/>
              <a:buChar char="•"/>
            </a:pPr>
            <a:r>
              <a:rPr b="1" sz="900">
                <a:solidFill>
                  <a:srgbClr val="3B3535"/>
                </a:solidFill>
                <a:latin typeface="Helvetica Bold"/>
              </a:rPr>
              <a:t>Ejemplo (Atlas).</a:t>
            </a:r>
            <a:r>
              <a:rPr b="0" sz="900">
                <a:solidFill>
                  <a:srgbClr val="3B3535"/>
                </a:solidFill>
                <a:latin typeface="Helvetica"/>
              </a:rPr>
              <a:t> El tablero pulso-semanal-FECHA: un Live Artifact nuevo por semana (queda un historial de versiones), con tarjetas por empresa, tabla resumen y un chip "LIVE", refrescado con los datos de la semana. Diseño basado en el boceto del jefe:</a:t>
            </a:r>
          </a:p>
        </p:txBody>
      </p:sp>
      <p:pic>
        <p:nvPicPr>
          <p:cNvPr id="6" name="Picture 5" descr="mockup-tablero.png"/>
          <p:cNvPicPr>
            <a:picLocks noChangeAspect="1"/>
          </p:cNvPicPr>
          <p:nvPr/>
        </p:nvPicPr>
        <p:blipFill>
          <a:blip r:embed="rId2"/>
          <a:stretch>
            <a:fillRect/>
          </a:stretch>
        </p:blipFill>
        <p:spPr>
          <a:xfrm>
            <a:off x="5257800" y="2090762"/>
            <a:ext cx="3401568" cy="220830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dirty="0">
                <a:solidFill>
                  <a:srgbClr val="1F1E1E"/>
                </a:solidFill>
                <a:latin typeface="Helvetica Bold" pitchFamily="34" charset="0"/>
                <a:ea typeface="Roboto Mono Medium" pitchFamily="34" charset="-122"/>
                <a:cs typeface="Roboto Mono Medium" pitchFamily="34" charset="-120"/>
              </a:rPr>
              <a:t>Agenda</a:t>
            </a:r>
            <a:endParaRPr lang="en-US" sz="2150" dirty="0"/>
          </a:p>
        </p:txBody>
      </p:sp>
      <p:sp>
        <p:nvSpPr>
          <p:cNvPr id="3" name="Shape 1"/>
          <p:cNvSpPr/>
          <p:nvPr/>
        </p:nvSpPr>
        <p:spPr>
          <a:xfrm>
            <a:off x="606103" y="994172"/>
            <a:ext cx="14288" cy="3644354"/>
          </a:xfrm>
          <a:prstGeom prst="roundRect">
            <a:avLst>
              <a:gd name="adj" fmla="val 39999"/>
            </a:avLst>
          </a:prstGeom>
          <a:solidFill>
            <a:srgbClr val="D8D4D4"/>
          </a:solidFill>
          <a:ln/>
        </p:spPr>
        <p:txBody>
          <a:bodyPr/>
          <a:p/>
        </p:txBody>
      </p:sp>
      <p:sp>
        <p:nvSpPr>
          <p:cNvPr id="4" name="Shape 2"/>
          <p:cNvSpPr/>
          <p:nvPr/>
        </p:nvSpPr>
        <p:spPr>
          <a:xfrm>
            <a:off x="717314" y="1112490"/>
            <a:ext cx="334714" cy="14288"/>
          </a:xfrm>
          <a:prstGeom prst="roundRect">
            <a:avLst>
              <a:gd name="adj" fmla="val 39999"/>
            </a:avLst>
          </a:prstGeom>
          <a:solidFill>
            <a:srgbClr val="D8D4D4"/>
          </a:solidFill>
          <a:ln/>
        </p:spPr>
        <p:txBody>
          <a:bodyPr/>
          <a:p/>
        </p:txBody>
      </p:sp>
      <p:sp>
        <p:nvSpPr>
          <p:cNvPr id="5" name="Shape 3"/>
          <p:cNvSpPr/>
          <p:nvPr/>
        </p:nvSpPr>
        <p:spPr>
          <a:xfrm>
            <a:off x="480603" y="994172"/>
            <a:ext cx="250999" cy="250999"/>
          </a:xfrm>
          <a:prstGeom prst="roundRect">
            <a:avLst>
              <a:gd name="adj" fmla="val 2277"/>
            </a:avLst>
          </a:prstGeom>
          <a:solidFill>
            <a:srgbClr val="F2EEEE"/>
          </a:solidFill>
          <a:ln w="4763">
            <a:solidFill>
              <a:srgbClr val="F33447"/>
            </a:solidFill>
            <a:prstDash val="solid"/>
          </a:ln>
        </p:spPr>
        <p:txBody>
          <a:bodyPr/>
          <a:p/>
        </p:txBody>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1</a:t>
            </a:r>
            <a:endParaRPr lang="en-US" sz="1300" dirty="0"/>
          </a:p>
        </p:txBody>
      </p:sp>
      <p:sp>
        <p:nvSpPr>
          <p:cNvPr id="7" name="Text 5"/>
          <p:cNvSpPr/>
          <p:nvPr/>
        </p:nvSpPr>
        <p:spPr>
          <a:xfrm>
            <a:off x="1164059" y="103249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De chat a agente: dónde encaja Cowork</a:t>
            </a:r>
            <a:endParaRPr lang="en-US" sz="1050"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Del chat a delegar un resultado: dónde encaja Cowork</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txBody>
          <a:bodyPr/>
          <a:p/>
        </p:txBody>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txBody>
          <a:bodyPr/>
          <a:p/>
        </p:txBody>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2</a:t>
            </a:r>
            <a:endParaRPr lang="en-US" sz="1300" dirty="0"/>
          </a:p>
        </p:txBody>
      </p:sp>
      <p:sp>
        <p:nvSpPr>
          <p:cNvPr id="12" name="Text 10"/>
          <p:cNvSpPr/>
          <p:nvPr/>
        </p:nvSpPr>
        <p:spPr>
          <a:xfrm>
            <a:off x="1164059" y="157318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Lo básico: interfaz, Instrucciones y Projects</a:t>
            </a:r>
            <a:endParaRPr lang="en-US" sz="1050"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La interfaz, las Instrucciones y los Projects</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txBody>
          <a:bodyPr/>
          <a:p/>
        </p:txBody>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txBody>
          <a:bodyPr/>
          <a:p/>
        </p:txBody>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3</a:t>
            </a:r>
            <a:endParaRPr lang="en-US" sz="1300" dirty="0"/>
          </a:p>
        </p:txBody>
      </p:sp>
      <p:sp>
        <p:nvSpPr>
          <p:cNvPr id="17" name="Text 15"/>
          <p:cNvSpPr/>
          <p:nvPr/>
        </p:nvSpPr>
        <p:spPr>
          <a:xfrm>
            <a:off x="1164059" y="2113880"/>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Extender Cowork: Skills y archivos MD / metadata</a:t>
            </a:r>
            <a:endParaRPr lang="en-US" sz="1050"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Skills y por qué los archivos MD / metadata son el lenguaje común</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txBody>
          <a:bodyPr/>
          <a:p/>
        </p:txBody>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txBody>
          <a:bodyPr/>
          <a:p/>
        </p:txBody>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4</a:t>
            </a:r>
            <a:endParaRPr lang="en-US" sz="1300" dirty="0"/>
          </a:p>
        </p:txBody>
      </p:sp>
      <p:sp>
        <p:nvSpPr>
          <p:cNvPr id="22" name="Text 20"/>
          <p:cNvSpPr/>
          <p:nvPr/>
        </p:nvSpPr>
        <p:spPr>
          <a:xfrm>
            <a:off x="1164059" y="2654573"/>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Conectar y automatizar: Connectors/MCP y Schedule</a:t>
            </a:r>
            <a:endParaRPr lang="en-US" sz="1050"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Connectors/MCP y tareas programadas con Schedule</a:t>
            </a:r>
            <a:endParaRPr lang="en-US" sz="850" dirty="0"/>
          </a:p>
        </p:txBody>
      </p:sp>
      <p:sp>
        <p:nvSpPr>
          <p:cNvPr id="24" name="Shape 22"/>
          <p:cNvSpPr/>
          <p:nvPr/>
        </p:nvSpPr>
        <p:spPr>
          <a:xfrm>
            <a:off x="717314" y="3275261"/>
            <a:ext cx="334714" cy="14288"/>
          </a:xfrm>
          <a:prstGeom prst="roundRect">
            <a:avLst>
              <a:gd name="adj" fmla="val 39999"/>
            </a:avLst>
          </a:prstGeom>
          <a:solidFill>
            <a:srgbClr val="F33447"/>
          </a:solidFill>
          <a:ln/>
        </p:spPr>
        <p:txBody>
          <a:bodyPr/>
          <a:p/>
        </p:txBody>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txBody>
          <a:bodyPr/>
          <a:p/>
        </p:txBody>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5</a:t>
            </a:r>
            <a:endParaRPr lang="en-US" sz="1300" dirty="0"/>
          </a:p>
        </p:txBody>
      </p:sp>
      <p:sp>
        <p:nvSpPr>
          <p:cNvPr id="27" name="Text 25"/>
          <p:cNvSpPr/>
          <p:nvPr/>
        </p:nvSpPr>
        <p:spPr>
          <a:xfrm>
            <a:off x="1164059" y="319526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Compartir resultados: Live Artifacts</a:t>
            </a:r>
            <a:endParaRPr lang="en-US" sz="1050"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Live Artifacts: compartir el resultado vivo</a:t>
            </a:r>
            <a:endParaRPr lang="en-US" sz="850" dirty="0"/>
          </a:p>
        </p:txBody>
      </p:sp>
      <p:sp>
        <p:nvSpPr>
          <p:cNvPr id="29" name="Shape 27"/>
          <p:cNvSpPr/>
          <p:nvPr/>
        </p:nvSpPr>
        <p:spPr>
          <a:xfrm>
            <a:off x="717314" y="3815953"/>
            <a:ext cx="334714" cy="14288"/>
          </a:xfrm>
          <a:prstGeom prst="roundRect">
            <a:avLst>
              <a:gd name="adj" fmla="val 39999"/>
            </a:avLst>
          </a:prstGeom>
          <a:solidFill>
            <a:srgbClr val="D8D4D4"/>
          </a:solidFill>
          <a:ln/>
        </p:spPr>
        <p:txBody>
          <a:bodyPr/>
          <a:p/>
        </p:txBody>
      </p:sp>
      <p:sp>
        <p:nvSpPr>
          <p:cNvPr id="30" name="Shape 28"/>
          <p:cNvSpPr/>
          <p:nvPr/>
        </p:nvSpPr>
        <p:spPr>
          <a:xfrm>
            <a:off x="480603" y="3697635"/>
            <a:ext cx="250999" cy="250999"/>
          </a:xfrm>
          <a:prstGeom prst="roundRect">
            <a:avLst>
              <a:gd name="adj" fmla="val 2277"/>
            </a:avLst>
          </a:prstGeom>
          <a:solidFill>
            <a:srgbClr val="DA1B2E"/>
          </a:solidFill>
          <a:ln w="4763">
            <a:solidFill>
              <a:srgbClr val="D8D4D4"/>
            </a:solidFill>
            <a:prstDash val="solid"/>
          </a:ln>
        </p:spPr>
        <p:txBody>
          <a:bodyPr/>
          <a:p/>
        </p:txBody>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FFFFFF"/>
                </a:solidFill>
                <a:latin typeface="Helvetica Bold" pitchFamily="34" charset="0"/>
                <a:ea typeface="Roboto Mono Medium" pitchFamily="34" charset="-122"/>
                <a:cs typeface="Roboto Mono Medium" pitchFamily="34" charset="-120"/>
              </a:rPr>
              <a:t>6</a:t>
            </a:r>
            <a:endParaRPr lang="en-US" sz="1300" dirty="0"/>
          </a:p>
        </p:txBody>
      </p:sp>
      <p:sp>
        <p:nvSpPr>
          <p:cNvPr id="32" name="Text 30"/>
          <p:cNvSpPr/>
          <p:nvPr/>
        </p:nvSpPr>
        <p:spPr>
          <a:xfrm>
            <a:off x="1164059" y="373595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Advanced: Subagentes y Plugins</a:t>
            </a:r>
            <a:endParaRPr lang="en-US" sz="1050"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Subagentes en paralelo y Plugins para distribuir</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txBody>
          <a:bodyPr/>
          <a:p/>
        </p:txBody>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txBody>
          <a:bodyPr/>
          <a:p/>
        </p:txBody>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7</a:t>
            </a:r>
            <a:endParaRPr lang="en-US" sz="1300" dirty="0"/>
          </a:p>
        </p:txBody>
      </p:sp>
      <p:sp>
        <p:nvSpPr>
          <p:cNvPr id="37" name="Text 35"/>
          <p:cNvSpPr/>
          <p:nvPr/>
        </p:nvSpPr>
        <p:spPr>
          <a:xfrm>
            <a:off x="1164059" y="4276651"/>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Conclusiones</a:t>
            </a:r>
            <a:endParaRPr lang="en-US" sz="1050"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El loop completo, gobernanza y advertencias</a:t>
            </a:r>
            <a:endParaRPr lang="en-US" sz="85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837590"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837590" cy="237744"/>
          </a:xfrm>
          <a:prstGeom prst="rect">
            <a:avLst/>
          </a:prstGeom>
          <a:noFill/>
        </p:spPr>
        <p:txBody>
          <a:bodyPr wrap="none" lIns="0" rIns="0" tIns="0" bIns="0" anchor="ctr">
            <a:spAutoFit/>
          </a:bodyPr>
          <a:lstStyle/>
          <a:p>
            <a:pPr algn="ctr"/>
            <a:r>
              <a:rPr b="1" sz="800">
                <a:solidFill>
                  <a:srgbClr val="3B3535"/>
                </a:solidFill>
                <a:latin typeface="Helvetica Bold"/>
              </a:rPr>
              <a:t>ADVANCED</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250">
                <a:solidFill>
                  <a:srgbClr val="1F1E1E"/>
                </a:solidFill>
                <a:latin typeface="Helvetica Bold"/>
              </a:rPr>
              <a:t>Subagentes: delegar sub-tareas en paralelo</a:t>
            </a:r>
          </a:p>
        </p:txBody>
      </p:sp>
      <p:sp>
        <p:nvSpPr>
          <p:cNvPr id="5" name="TextBox 4"/>
          <p:cNvSpPr txBox="1"/>
          <p:nvPr/>
        </p:nvSpPr>
        <p:spPr>
          <a:xfrm>
            <a:off x="493776" y="1714499"/>
            <a:ext cx="4526280" cy="3131820"/>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Concepto.</a:t>
            </a:r>
            <a:r>
              <a:rPr b="0" sz="1000">
                <a:solidFill>
                  <a:srgbClr val="3B3535"/>
                </a:solidFill>
                <a:latin typeface="Helvetica"/>
              </a:rPr>
              <a:t> Un Subagente es un asistente aislado, con su propio contexto, instrucciones y acceso a herramientas, al que el agente principal le delega un trabajo y del que recibe </a:t>
            </a:r>
            <a:r>
              <a:rPr b="1" sz="1000">
                <a:solidFill>
                  <a:srgbClr val="3B3535"/>
                </a:solidFill>
                <a:latin typeface="Helvetica Bold"/>
              </a:rPr>
              <a:t>un resumen</a:t>
            </a:r>
            <a:r>
              <a:rPr b="0" sz="1000">
                <a:solidFill>
                  <a:srgbClr val="3B3535"/>
                </a:solidFill>
                <a:latin typeface="Helvetica"/>
              </a:rPr>
              <a:t> (no la transcripción completa).</a:t>
            </a:r>
          </a:p>
          <a:p>
            <a:pPr marL="164592" indent="-164592">
              <a:spcBef>
                <a:spcPts val="0"/>
              </a:spcBef>
              <a:spcAft>
                <a:spcPts val="400"/>
              </a:spcAft>
              <a:buClr>
                <a:srgbClr val="3B3535"/>
              </a:buClr>
              <a:buFont typeface="Arial"/>
              <a:buChar char="•"/>
            </a:pPr>
            <a:r>
              <a:rPr b="1" sz="1000">
                <a:solidFill>
                  <a:srgbClr val="3B3535"/>
                </a:solidFill>
                <a:latin typeface="Helvetica Bold"/>
              </a:rPr>
              <a:t>Skill vs Subagente (la regla de una línea).</a:t>
            </a:r>
            <a:r>
              <a:rPr b="0" sz="1000">
                <a:solidFill>
                  <a:srgbClr val="3B3535"/>
                </a:solidFill>
                <a:latin typeface="Helvetica"/>
              </a:rPr>
              <a:t> Chico, y debe quedar frente a vos → </a:t>
            </a:r>
            <a:r>
              <a:rPr b="1" sz="1000">
                <a:solidFill>
                  <a:srgbClr val="3B3535"/>
                </a:solidFill>
                <a:latin typeface="Helvetica Bold"/>
              </a:rPr>
              <a:t>Skill</a:t>
            </a:r>
            <a:r>
              <a:rPr b="0" sz="1000">
                <a:solidFill>
                  <a:srgbClr val="3B3535"/>
                </a:solidFill>
                <a:latin typeface="Helvetica"/>
              </a:rPr>
              <a:t> (corre dentro de tu conversación). Grande o ruidoso, y debe correr en un proceso aparte → </a:t>
            </a:r>
            <a:r>
              <a:rPr b="1" sz="1000">
                <a:solidFill>
                  <a:srgbClr val="3B3535"/>
                </a:solidFill>
                <a:latin typeface="Helvetica Bold"/>
              </a:rPr>
              <a:t>Subagente</a:t>
            </a:r>
            <a:r>
              <a:rPr b="0" sz="1000">
                <a:solidFill>
                  <a:srgbClr val="3B3535"/>
                </a:solidFill>
                <a:latin typeface="Helvetica"/>
              </a:rPr>
              <a:t> (corre al lado, en su propio contexto).</a:t>
            </a:r>
          </a:p>
          <a:p>
            <a:pPr marL="164592" indent="-164592">
              <a:spcBef>
                <a:spcPts val="0"/>
              </a:spcBef>
              <a:spcAft>
                <a:spcPts val="400"/>
              </a:spcAft>
              <a:buClr>
                <a:srgbClr val="3B3535"/>
              </a:buClr>
              <a:buFont typeface="Arial"/>
              <a:buChar char="•"/>
            </a:pPr>
            <a:r>
              <a:rPr b="1" sz="1000">
                <a:solidFill>
                  <a:srgbClr val="3B3535"/>
                </a:solidFill>
                <a:latin typeface="Helvetica Bold"/>
              </a:rPr>
              <a:t>En Cowork.</a:t>
            </a:r>
            <a:r>
              <a:rPr b="0" sz="1000">
                <a:solidFill>
                  <a:srgbClr val="3B3535"/>
                </a:solidFill>
                <a:latin typeface="Helvetica"/>
              </a:rPr>
              <a:t> Los Subagentes se coordinan "por debajo" (under the hood): el agente principal los lanza cuando le conviene, y pueden correr </a:t>
            </a:r>
            <a:r>
              <a:rPr b="1" sz="1000">
                <a:solidFill>
                  <a:srgbClr val="3B3535"/>
                </a:solidFill>
                <a:latin typeface="Helvetica Bold"/>
              </a:rPr>
              <a:t>varios en paralelo</a:t>
            </a:r>
            <a:r>
              <a:rPr b="0" sz="1000">
                <a:solidFill>
                  <a:srgbClr val="3B3535"/>
                </a:solidFill>
                <a:latin typeface="Helvetica"/>
              </a:rPr>
              <a:t>.</a:t>
            </a:r>
          </a:p>
          <a:p>
            <a:pPr marL="164592" indent="-164592">
              <a:spcBef>
                <a:spcPts val="0"/>
              </a:spcBef>
              <a:spcAft>
                <a:spcPts val="400"/>
              </a:spcAft>
              <a:buClr>
                <a:srgbClr val="3B3535"/>
              </a:buClr>
              <a:buFont typeface="Arial"/>
              <a:buChar char="•"/>
            </a:pPr>
            <a:r>
              <a:rPr b="1" sz="1000">
                <a:solidFill>
                  <a:srgbClr val="3B3535"/>
                </a:solidFill>
                <a:latin typeface="Helvetica Bold"/>
              </a:rPr>
              <a:t>Cómo se agrega un subagente.</a:t>
            </a:r>
            <a:r>
              <a:rPr b="0" sz="1000">
                <a:solidFill>
                  <a:srgbClr val="3B3535"/>
                </a:solidFill>
                <a:latin typeface="Helvetica"/>
              </a:rPr>
              <a:t> Se define igual que una Skill — una </a:t>
            </a:r>
            <a:r>
              <a:rPr b="1" sz="1000">
                <a:solidFill>
                  <a:srgbClr val="3B3535"/>
                </a:solidFill>
                <a:latin typeface="Helvetica Bold"/>
              </a:rPr>
              <a:t>descripción de cuándo usarlo</a:t>
            </a:r>
            <a:r>
              <a:rPr b="0" sz="1000">
                <a:solidFill>
                  <a:srgbClr val="3B3535"/>
                </a:solidFill>
                <a:latin typeface="Helvetica"/>
              </a:rPr>
              <a:t> + sus </a:t>
            </a:r>
            <a:r>
              <a:rPr b="1" sz="1000">
                <a:solidFill>
                  <a:srgbClr val="3B3535"/>
                </a:solidFill>
                <a:latin typeface="Helvetica Bold"/>
              </a:rPr>
              <a:t>instrucciones</a:t>
            </a:r>
            <a:r>
              <a:rPr b="0" sz="1000">
                <a:solidFill>
                  <a:srgbClr val="3B3535"/>
                </a:solidFill>
                <a:latin typeface="Helvetica"/>
              </a:rPr>
              <a:t>. Dos caminos: </a:t>
            </a:r>
            <a:r>
              <a:rPr b="1" sz="1000">
                <a:solidFill>
                  <a:srgbClr val="3B3535"/>
                </a:solidFill>
                <a:latin typeface="Helvetica Bold"/>
              </a:rPr>
              <a:t>pedile a Claude que lo arme</a:t>
            </a:r>
            <a:r>
              <a:rPr b="0" sz="1000">
                <a:solidFill>
                  <a:srgbClr val="3B3535"/>
                </a:solidFill>
                <a:latin typeface="Helvetica"/>
              </a:rPr>
              <a:t> (escribe el archivo del agente, como con las Skills, y lo gestionás en el directorio </a:t>
            </a:r>
            <a:r>
              <a:rPr b="1" sz="1000">
                <a:solidFill>
                  <a:srgbClr val="3B3535"/>
                </a:solidFill>
                <a:latin typeface="Helvetica Bold"/>
              </a:rPr>
              <a:t>Customize</a:t>
            </a:r>
            <a:r>
              <a:rPr b="0" sz="1000">
                <a:solidFill>
                  <a:srgbClr val="3B3535"/>
                </a:solidFill>
                <a:latin typeface="Helvetica"/>
              </a:rPr>
              <a:t>), o viene </a:t>
            </a:r>
            <a:r>
              <a:rPr b="1" sz="1000">
                <a:solidFill>
                  <a:srgbClr val="3B3535"/>
                </a:solidFill>
                <a:latin typeface="Helvetica Bold"/>
              </a:rPr>
              <a:t>empaquetado dentro de un Plugin</a:t>
            </a:r>
            <a:r>
              <a:rPr b="0" sz="1000">
                <a:solidFill>
                  <a:srgbClr val="3B3535"/>
                </a:solidFill>
                <a:latin typeface="Helvetica"/>
              </a:rPr>
              <a:t>. No hace falta tocar archivos a mano.</a:t>
            </a:r>
          </a:p>
        </p:txBody>
      </p:sp>
      <p:pic>
        <p:nvPicPr>
          <p:cNvPr id="6" name="Picture 5" descr="s6-1-1-subagentes-fanout.png"/>
          <p:cNvPicPr>
            <a:picLocks noChangeAspect="1"/>
          </p:cNvPicPr>
          <p:nvPr/>
        </p:nvPicPr>
        <p:blipFill>
          <a:blip r:embed="rId2"/>
          <a:stretch>
            <a:fillRect/>
          </a:stretch>
        </p:blipFill>
        <p:spPr>
          <a:xfrm>
            <a:off x="5257800" y="2104868"/>
            <a:ext cx="3401568" cy="235108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837590"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837590" cy="237744"/>
          </a:xfrm>
          <a:prstGeom prst="rect">
            <a:avLst/>
          </a:prstGeom>
          <a:noFill/>
        </p:spPr>
        <p:txBody>
          <a:bodyPr wrap="none" lIns="0" rIns="0" tIns="0" bIns="0" anchor="ctr">
            <a:spAutoFit/>
          </a:bodyPr>
          <a:lstStyle/>
          <a:p>
            <a:pPr algn="ctr"/>
            <a:r>
              <a:rPr b="1" sz="800">
                <a:solidFill>
                  <a:srgbClr val="3B3535"/>
                </a:solidFill>
                <a:latin typeface="Helvetica Bold"/>
              </a:rPr>
              <a:t>ADVANCED</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1700">
                <a:solidFill>
                  <a:srgbClr val="1F1E1E"/>
                </a:solidFill>
                <a:latin typeface="Helvetica Bold"/>
              </a:rPr>
              <a:t>Plugins: empaquetar y distribuir un workflow completo</a:t>
            </a:r>
          </a:p>
        </p:txBody>
      </p:sp>
      <p:pic>
        <p:nvPicPr>
          <p:cNvPr id="5" name="Picture 4" descr="deployed_code.outlined.DA1B2E.png"/>
          <p:cNvPicPr>
            <a:picLocks noChangeAspect="1"/>
          </p:cNvPicPr>
          <p:nvPr/>
        </p:nvPicPr>
        <p:blipFill>
          <a:blip r:embed="rId3"/>
          <a:stretch>
            <a:fillRect/>
          </a:stretch>
        </p:blipFill>
        <p:spPr>
          <a:xfrm>
            <a:off x="512064" y="1828800"/>
            <a:ext cx="329184" cy="329184"/>
          </a:xfrm>
          <a:prstGeom prst="rect">
            <a:avLst/>
          </a:prstGeom>
        </p:spPr>
      </p:pic>
      <p:sp>
        <p:nvSpPr>
          <p:cNvPr id="6" name="TextBox 5"/>
          <p:cNvSpPr txBox="1"/>
          <p:nvPr/>
        </p:nvSpPr>
        <p:spPr>
          <a:xfrm>
            <a:off x="1042415" y="1783080"/>
            <a:ext cx="7086600" cy="274320"/>
          </a:xfrm>
          <a:prstGeom prst="rect">
            <a:avLst/>
          </a:prstGeom>
          <a:noFill/>
        </p:spPr>
        <p:txBody>
          <a:bodyPr wrap="square" lIns="0" rIns="0" tIns="0" bIns="0" anchor="t">
            <a:spAutoFit/>
          </a:bodyPr>
          <a:lstStyle/>
          <a:p>
            <a:pPr algn="l"/>
            <a:r>
              <a:rPr sz="1300" b="1">
                <a:solidFill>
                  <a:srgbClr val="1F1E1E"/>
                </a:solidFill>
                <a:latin typeface="Helvetica Bold"/>
              </a:rPr>
              <a:t>Concepto</a:t>
            </a:r>
          </a:p>
        </p:txBody>
      </p:sp>
      <p:sp>
        <p:nvSpPr>
          <p:cNvPr id="7" name="TextBox 6"/>
          <p:cNvSpPr txBox="1"/>
          <p:nvPr/>
        </p:nvSpPr>
        <p:spPr>
          <a:xfrm>
            <a:off x="1042415" y="2084831"/>
            <a:ext cx="7086600" cy="749807"/>
          </a:xfrm>
          <a:prstGeom prst="rect">
            <a:avLst/>
          </a:prstGeom>
          <a:noFill/>
        </p:spPr>
        <p:txBody>
          <a:bodyPr wrap="square" lIns="0" rIns="0" tIns="0" bIns="0" anchor="t">
            <a:spAutoFit/>
          </a:bodyPr>
          <a:lstStyle/>
          <a:p>
            <a:pPr algn="l"/>
            <a:r>
              <a:rPr sz="1050" b="0">
                <a:solidFill>
                  <a:srgbClr val="3B3535"/>
                </a:solidFill>
                <a:latin typeface="Helvetica"/>
              </a:rPr>
              <a:t>Un Plugin es la unidad de distribución de un workflow completo: empaqueta Skills + agentes + hooks + MCP en una sola instalación. «Ship the whole thing.»</a:t>
            </a:r>
          </a:p>
        </p:txBody>
      </p:sp>
      <p:pic>
        <p:nvPicPr>
          <p:cNvPr id="8" name="Picture 7" descr="storefront.outlined.DA1B2E.png"/>
          <p:cNvPicPr>
            <a:picLocks noChangeAspect="1"/>
          </p:cNvPicPr>
          <p:nvPr/>
        </p:nvPicPr>
        <p:blipFill>
          <a:blip r:embed="rId4"/>
          <a:stretch>
            <a:fillRect/>
          </a:stretch>
        </p:blipFill>
        <p:spPr>
          <a:xfrm>
            <a:off x="512064" y="2898648"/>
            <a:ext cx="329184" cy="329184"/>
          </a:xfrm>
          <a:prstGeom prst="rect">
            <a:avLst/>
          </a:prstGeom>
        </p:spPr>
      </p:pic>
      <p:sp>
        <p:nvSpPr>
          <p:cNvPr id="9" name="TextBox 8"/>
          <p:cNvSpPr txBox="1"/>
          <p:nvPr/>
        </p:nvSpPr>
        <p:spPr>
          <a:xfrm>
            <a:off x="1042415" y="2852928"/>
            <a:ext cx="7086600" cy="274320"/>
          </a:xfrm>
          <a:prstGeom prst="rect">
            <a:avLst/>
          </a:prstGeom>
          <a:noFill/>
        </p:spPr>
        <p:txBody>
          <a:bodyPr wrap="square" lIns="0" rIns="0" tIns="0" bIns="0" anchor="t">
            <a:spAutoFit/>
          </a:bodyPr>
          <a:lstStyle/>
          <a:p>
            <a:pPr algn="l"/>
            <a:r>
              <a:rPr sz="1300" b="1">
                <a:solidFill>
                  <a:srgbClr val="1F1E1E"/>
                </a:solidFill>
                <a:latin typeface="Helvetica Bold"/>
              </a:rPr>
              <a:t>En Cowork</a:t>
            </a:r>
          </a:p>
        </p:txBody>
      </p:sp>
      <p:sp>
        <p:nvSpPr>
          <p:cNvPr id="10" name="TextBox 9"/>
          <p:cNvSpPr txBox="1"/>
          <p:nvPr/>
        </p:nvSpPr>
        <p:spPr>
          <a:xfrm>
            <a:off x="1042415" y="3154679"/>
            <a:ext cx="7086600" cy="749807"/>
          </a:xfrm>
          <a:prstGeom prst="rect">
            <a:avLst/>
          </a:prstGeom>
          <a:noFill/>
        </p:spPr>
        <p:txBody>
          <a:bodyPr wrap="square" lIns="0" rIns="0" tIns="0" bIns="0" anchor="t">
            <a:spAutoFit/>
          </a:bodyPr>
          <a:lstStyle/>
          <a:p>
            <a:pPr algn="l"/>
            <a:r>
              <a:rPr sz="1050" b="0">
                <a:solidFill>
                  <a:srgbClr val="3B3535"/>
                </a:solidFill>
                <a:latin typeface="Helvetica"/>
              </a:rPr>
              <a:t>Se instalan desde un marketplace de plugins en la GUI. Es una de las vías para distribuir Skills y agentes; las skills provistas por un plugin funcionan tanto en Chat como en Cowork.</a:t>
            </a:r>
          </a:p>
        </p:txBody>
      </p:sp>
      <p:pic>
        <p:nvPicPr>
          <p:cNvPr id="11" name="Picture 10" descr="travel_explore.outlined.DA1B2E.png"/>
          <p:cNvPicPr>
            <a:picLocks noChangeAspect="1"/>
          </p:cNvPicPr>
          <p:nvPr/>
        </p:nvPicPr>
        <p:blipFill>
          <a:blip r:embed="rId5"/>
          <a:stretch>
            <a:fillRect/>
          </a:stretch>
        </p:blipFill>
        <p:spPr>
          <a:xfrm>
            <a:off x="512064" y="3968496"/>
            <a:ext cx="329184" cy="329184"/>
          </a:xfrm>
          <a:prstGeom prst="rect">
            <a:avLst/>
          </a:prstGeom>
        </p:spPr>
      </p:pic>
      <p:sp>
        <p:nvSpPr>
          <p:cNvPr id="12" name="TextBox 11"/>
          <p:cNvSpPr txBox="1"/>
          <p:nvPr/>
        </p:nvSpPr>
        <p:spPr>
          <a:xfrm>
            <a:off x="1042415" y="3922776"/>
            <a:ext cx="7086600" cy="274320"/>
          </a:xfrm>
          <a:prstGeom prst="rect">
            <a:avLst/>
          </a:prstGeom>
          <a:noFill/>
        </p:spPr>
        <p:txBody>
          <a:bodyPr wrap="square" lIns="0" rIns="0" tIns="0" bIns="0" anchor="t">
            <a:spAutoFit/>
          </a:bodyPr>
          <a:lstStyle/>
          <a:p>
            <a:pPr algn="l"/>
            <a:r>
              <a:rPr sz="1300" b="1">
                <a:solidFill>
                  <a:srgbClr val="1F1E1E"/>
                </a:solidFill>
                <a:latin typeface="Helvetica Bold"/>
              </a:rPr>
              <a:t>Dónde encontrarlos</a:t>
            </a:r>
          </a:p>
        </p:txBody>
      </p:sp>
      <p:sp>
        <p:nvSpPr>
          <p:cNvPr id="13" name="TextBox 12"/>
          <p:cNvSpPr txBox="1"/>
          <p:nvPr/>
        </p:nvSpPr>
        <p:spPr>
          <a:xfrm>
            <a:off x="1042415" y="4224528"/>
            <a:ext cx="7086600" cy="749807"/>
          </a:xfrm>
          <a:prstGeom prst="rect">
            <a:avLst/>
          </a:prstGeom>
          <a:noFill/>
        </p:spPr>
        <p:txBody>
          <a:bodyPr wrap="square" lIns="0" rIns="0" tIns="0" bIns="0" anchor="t">
            <a:spAutoFit/>
          </a:bodyPr>
          <a:lstStyle/>
          <a:p>
            <a:pPr algn="l"/>
            <a:r>
              <a:rPr sz="1050" b="0">
                <a:solidFill>
                  <a:srgbClr val="3B3535"/>
                </a:solidFill>
                <a:latin typeface="Helvetica"/>
              </a:rPr>
              <a:t>Marketplaces oficiales (anthropics/claude-plugins-official, anthropics/knowledge-work-plugins) y de la comunidad.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837590"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837590" cy="237744"/>
          </a:xfrm>
          <a:prstGeom prst="rect">
            <a:avLst/>
          </a:prstGeom>
          <a:noFill/>
        </p:spPr>
        <p:txBody>
          <a:bodyPr wrap="none" lIns="0" rIns="0" tIns="0" bIns="0" anchor="ctr">
            <a:spAutoFit/>
          </a:bodyPr>
          <a:lstStyle/>
          <a:p>
            <a:pPr algn="ctr"/>
            <a:r>
              <a:rPr b="1" sz="800">
                <a:solidFill>
                  <a:srgbClr val="3B3535"/>
                </a:solidFill>
                <a:latin typeface="Helvetica Bold"/>
              </a:rPr>
              <a:t>ADVANCED</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250">
                <a:solidFill>
                  <a:srgbClr val="1F1E1E"/>
                </a:solidFill>
                <a:latin typeface="Helvetica Bold"/>
              </a:rPr>
              <a:t>Plugins en una cuenta Team: ciclo de vida</a:t>
            </a:r>
          </a:p>
        </p:txBody>
      </p:sp>
      <p:sp>
        <p:nvSpPr>
          <p:cNvPr id="5" name="TextBox 4"/>
          <p:cNvSpPr txBox="1"/>
          <p:nvPr/>
        </p:nvSpPr>
        <p:spPr>
          <a:xfrm>
            <a:off x="493776" y="1714499"/>
            <a:ext cx="4526280" cy="3131820"/>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1" sz="1000">
                <a:solidFill>
                  <a:srgbClr val="3B3535"/>
                </a:solidFill>
                <a:latin typeface="Helvetica Bold"/>
              </a:rPr>
              <a:t>Quién lo maneja.</a:t>
            </a:r>
            <a:r>
              <a:rPr b="0" sz="1000">
                <a:solidFill>
                  <a:srgbClr val="3B3535"/>
                </a:solidFill>
                <a:latin typeface="Helvetica"/>
              </a:rPr>
              <a:t> En cuentas </a:t>
            </a:r>
            <a:r>
              <a:rPr b="1" sz="1000">
                <a:solidFill>
                  <a:srgbClr val="3B3535"/>
                </a:solidFill>
                <a:latin typeface="Helvetica Bold"/>
              </a:rPr>
              <a:t>Team / Enterprise</a:t>
            </a:r>
            <a:r>
              <a:rPr b="0" sz="1000">
                <a:solidFill>
                  <a:srgbClr val="3B3535"/>
                </a:solidFill>
                <a:latin typeface="Helvetica"/>
              </a:rPr>
              <a:t>, los </a:t>
            </a:r>
            <a:r>
              <a:rPr b="1" sz="1000">
                <a:solidFill>
                  <a:srgbClr val="3B3535"/>
                </a:solidFill>
                <a:latin typeface="Helvetica Bold"/>
              </a:rPr>
              <a:t>Owners</a:t>
            </a:r>
            <a:r>
              <a:rPr b="0" sz="1000">
                <a:solidFill>
                  <a:srgbClr val="3B3535"/>
                </a:solidFill>
                <a:latin typeface="Helvetica"/>
              </a:rPr>
              <a:t> gestionan los plugins de la organización desde </a:t>
            </a:r>
            <a:r>
              <a:rPr b="1" sz="1000">
                <a:solidFill>
                  <a:srgbClr val="3B3535"/>
                </a:solidFill>
                <a:latin typeface="Helvetica Bold"/>
              </a:rPr>
              <a:t>Organization settings → Plugins</a:t>
            </a:r>
            <a:r>
              <a:rPr b="0" sz="1000">
                <a:solidFill>
                  <a:srgbClr val="3B3535"/>
                </a:solidFill>
                <a:latin typeface="Helvetica"/>
              </a:rPr>
              <a:t>. El resto de los miembros los reciben listos.</a:t>
            </a:r>
          </a:p>
          <a:p>
            <a:pPr marL="164592" indent="-164592">
              <a:spcBef>
                <a:spcPts val="0"/>
              </a:spcBef>
              <a:spcAft>
                <a:spcPts val="400"/>
              </a:spcAft>
              <a:buClr>
                <a:srgbClr val="3B3535"/>
              </a:buClr>
              <a:buFont typeface="Arial"/>
              <a:buChar char="•"/>
            </a:pPr>
            <a:r>
              <a:rPr b="1" sz="1000">
                <a:solidFill>
                  <a:srgbClr val="3B3535"/>
                </a:solidFill>
                <a:latin typeface="Helvetica Bold"/>
              </a:rPr>
              <a:t>El ciclo de vida, de punta a punta:</a:t>
            </a:r>
          </a:p>
          <a:p>
            <a:pPr marL="164592" indent="-164592">
              <a:spcBef>
                <a:spcPts val="0"/>
              </a:spcBef>
              <a:spcAft>
                <a:spcPts val="400"/>
              </a:spcAft>
              <a:buClr>
                <a:srgbClr val="3B3535"/>
              </a:buClr>
              <a:buFont typeface="Arial"/>
              <a:buChar char="•"/>
            </a:pPr>
            <a:r>
              <a:rPr b="1" sz="1000">
                <a:solidFill>
                  <a:srgbClr val="3B3535"/>
                </a:solidFill>
                <a:latin typeface="Helvetica Bold"/>
              </a:rPr>
              <a:t>Qué se puede hacer.</a:t>
            </a:r>
          </a:p>
          <a:p>
            <a:pPr marL="402336" indent="-164592">
              <a:spcBef>
                <a:spcPts val="0"/>
              </a:spcBef>
              <a:spcAft>
                <a:spcPts val="400"/>
              </a:spcAft>
              <a:buClr>
                <a:srgbClr val="DA1B2E"/>
              </a:buClr>
              <a:buFont typeface="Arial"/>
              <a:buChar char="–"/>
            </a:pPr>
            <a:r>
              <a:rPr b="0" sz="850">
                <a:solidFill>
                  <a:srgbClr val="3B3535"/>
                </a:solidFill>
                <a:latin typeface="Helvetica"/>
              </a:rPr>
              <a:t>El Owner crea un </a:t>
            </a:r>
            <a:r>
              <a:rPr b="1" sz="850">
                <a:solidFill>
                  <a:srgbClr val="3B3535"/>
                </a:solidFill>
                <a:latin typeface="Helvetica Bold"/>
              </a:rPr>
              <a:t>marketplace privado</a:t>
            </a:r>
            <a:r>
              <a:rPr b="0" sz="850">
                <a:solidFill>
                  <a:srgbClr val="3B3535"/>
                </a:solidFill>
                <a:latin typeface="Helvetica"/>
              </a:rPr>
              <a:t> de la organización y agrega plugins de dos formas: </a:t>
            </a:r>
            <a:r>
              <a:rPr b="1" sz="850">
                <a:solidFill>
                  <a:srgbClr val="3B3535"/>
                </a:solidFill>
                <a:latin typeface="Helvetica Bold"/>
              </a:rPr>
              <a:t>subir un ZIP</a:t>
            </a:r>
            <a:r>
              <a:rPr b="0" sz="850">
                <a:solidFill>
                  <a:srgbClr val="3B3535"/>
                </a:solidFill>
                <a:latin typeface="Helvetica"/>
              </a:rPr>
              <a:t>, o </a:t>
            </a:r>
            <a:r>
              <a:rPr b="1" sz="850">
                <a:solidFill>
                  <a:srgbClr val="3B3535"/>
                </a:solidFill>
                <a:latin typeface="Helvetica Bold"/>
              </a:rPr>
              <a:t>sincronizar desde un repo de GitHub</a:t>
            </a:r>
            <a:r>
              <a:rPr b="0" sz="850">
                <a:solidFill>
                  <a:srgbClr val="3B3535"/>
                </a:solidFill>
                <a:latin typeface="Helvetica"/>
              </a:rPr>
              <a:t> (privado) — esta segunda vía </a:t>
            </a:r>
            <a:r>
              <a:rPr b="1" sz="850">
                <a:solidFill>
                  <a:srgbClr val="3B3535"/>
                </a:solidFill>
                <a:latin typeface="Helvetica Bold"/>
              </a:rPr>
              <a:t>auto-actualiza</a:t>
            </a:r>
            <a:r>
              <a:rPr b="0" sz="850">
                <a:solidFill>
                  <a:srgbClr val="3B3535"/>
                </a:solidFill>
                <a:latin typeface="Helvetica"/>
              </a:rPr>
              <a:t> cuando cambia el repo.</a:t>
            </a:r>
          </a:p>
          <a:p>
            <a:pPr marL="402336" indent="-164592">
              <a:spcBef>
                <a:spcPts val="0"/>
              </a:spcBef>
              <a:spcAft>
                <a:spcPts val="400"/>
              </a:spcAft>
              <a:buClr>
                <a:srgbClr val="DA1B2E"/>
              </a:buClr>
              <a:buFont typeface="Arial"/>
              <a:buChar char="–"/>
            </a:pPr>
            <a:r>
              <a:rPr b="0" sz="850">
                <a:solidFill>
                  <a:srgbClr val="3B3535"/>
                </a:solidFill>
                <a:latin typeface="Helvetica"/>
              </a:rPr>
              <a:t>Por cada plugin se fija una </a:t>
            </a:r>
            <a:r>
              <a:rPr b="1" sz="850">
                <a:solidFill>
                  <a:srgbClr val="3B3535"/>
                </a:solidFill>
                <a:latin typeface="Helvetica Bold"/>
              </a:rPr>
              <a:t>preferencia de instalación</a:t>
            </a:r>
            <a:r>
              <a:rPr b="0" sz="850">
                <a:solidFill>
                  <a:srgbClr val="3B3535"/>
                </a:solidFill>
                <a:latin typeface="Helvetica"/>
              </a:rPr>
              <a:t>: opcional (el miembro decide), </a:t>
            </a:r>
            <a:r>
              <a:rPr b="1" sz="850">
                <a:solidFill>
                  <a:srgbClr val="3B3535"/>
                </a:solidFill>
                <a:latin typeface="Helvetica Bold"/>
              </a:rPr>
              <a:t>auto-install</a:t>
            </a:r>
            <a:r>
              <a:rPr b="0" sz="850">
                <a:solidFill>
                  <a:srgbClr val="3B3535"/>
                </a:solidFill>
                <a:latin typeface="Helvetica"/>
              </a:rPr>
              <a:t> o provisionado por usuario.</a:t>
            </a:r>
          </a:p>
          <a:p>
            <a:pPr marL="402336" indent="-164592">
              <a:spcBef>
                <a:spcPts val="0"/>
              </a:spcBef>
              <a:spcAft>
                <a:spcPts val="400"/>
              </a:spcAft>
              <a:buClr>
                <a:srgbClr val="DA1B2E"/>
              </a:buClr>
              <a:buFont typeface="Arial"/>
              <a:buChar char="–"/>
            </a:pPr>
            <a:r>
              <a:rPr b="0" sz="850">
                <a:solidFill>
                  <a:srgbClr val="3B3535"/>
                </a:solidFill>
                <a:latin typeface="Helvetica"/>
              </a:rPr>
              <a:t>Los plugins distribuidos aparecen en </a:t>
            </a:r>
            <a:r>
              <a:rPr b="1" sz="850">
                <a:solidFill>
                  <a:srgbClr val="3B3535"/>
                </a:solidFill>
                <a:latin typeface="Helvetica Bold"/>
              </a:rPr>
              <a:t>chat y en Cowork</a:t>
            </a:r>
            <a:r>
              <a:rPr b="0" sz="850">
                <a:solidFill>
                  <a:srgbClr val="3B3535"/>
                </a:solidFill>
                <a:latin typeface="Helvetica"/>
              </a:rPr>
              <a:t> para los miembros; cada uno </a:t>
            </a:r>
            <a:r>
              <a:rPr b="1" sz="850">
                <a:solidFill>
                  <a:srgbClr val="3B3535"/>
                </a:solidFill>
                <a:latin typeface="Helvetica Bold"/>
              </a:rPr>
              <a:t>instala/habilita</a:t>
            </a:r>
            <a:r>
              <a:rPr b="0" sz="850">
                <a:solidFill>
                  <a:srgbClr val="3B3535"/>
                </a:solidFill>
                <a:latin typeface="Helvetica"/>
              </a:rPr>
              <a:t> desde el directorio de la org, y las </a:t>
            </a:r>
            <a:r>
              <a:rPr b="1" sz="850">
                <a:solidFill>
                  <a:srgbClr val="3B3535"/>
                </a:solidFill>
                <a:latin typeface="Helvetica Bold"/>
              </a:rPr>
              <a:t>actualizaciones se sincronizan</a:t>
            </a:r>
            <a:r>
              <a:rPr b="0" sz="850">
                <a:solidFill>
                  <a:srgbClr val="3B3535"/>
                </a:solidFill>
                <a:latin typeface="Helvetica"/>
              </a:rPr>
              <a:t> solas.</a:t>
            </a:r>
          </a:p>
        </p:txBody>
      </p:sp>
      <p:pic>
        <p:nvPicPr>
          <p:cNvPr id="6" name="Picture 5" descr="s6-3-1-ciclo-plugins-team.png"/>
          <p:cNvPicPr>
            <a:picLocks noChangeAspect="1"/>
          </p:cNvPicPr>
          <p:nvPr/>
        </p:nvPicPr>
        <p:blipFill>
          <a:blip r:embed="rId2"/>
          <a:stretch>
            <a:fillRect/>
          </a:stretch>
        </p:blipFill>
        <p:spPr>
          <a:xfrm>
            <a:off x="5257800" y="2279948"/>
            <a:ext cx="3401568" cy="200092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80640" y="504974"/>
            <a:ext cx="3246834" cy="348704"/>
          </a:xfrm>
          <a:prstGeom prst="rect">
            <a:avLst/>
          </a:prstGeom>
          <a:noFill/>
          <a:ln/>
        </p:spPr>
        <p:txBody>
          <a:bodyPr wrap="none" lIns="0" tIns="0" rIns="0" bIns="0" rtlCol="0" anchor="t"/>
          <a:lstStyle/>
          <a:p>
            <a:pPr algn="l" indent="0" marL="0">
              <a:lnSpc>
                <a:spcPct val="104000"/>
              </a:lnSpc>
              <a:buNone/>
            </a:pPr>
            <a:r>
              <a:rPr lang="en-US" sz="2150" dirty="0">
                <a:solidFill>
                  <a:srgbClr val="1F1E1E"/>
                </a:solidFill>
                <a:latin typeface="Helvetica Bold" pitchFamily="34" charset="0"/>
                <a:ea typeface="Roboto Mono Medium" pitchFamily="34" charset="-122"/>
                <a:cs typeface="Roboto Mono Medium" pitchFamily="34" charset="-120"/>
              </a:rPr>
              <a:t>Agenda</a:t>
            </a:r>
            <a:endParaRPr lang="en-US" sz="2150" dirty="0"/>
          </a:p>
        </p:txBody>
      </p:sp>
      <p:sp>
        <p:nvSpPr>
          <p:cNvPr id="3" name="Shape 1"/>
          <p:cNvSpPr/>
          <p:nvPr/>
        </p:nvSpPr>
        <p:spPr>
          <a:xfrm>
            <a:off x="606103" y="994172"/>
            <a:ext cx="14288" cy="3644354"/>
          </a:xfrm>
          <a:prstGeom prst="roundRect">
            <a:avLst>
              <a:gd name="adj" fmla="val 39999"/>
            </a:avLst>
          </a:prstGeom>
          <a:solidFill>
            <a:srgbClr val="D8D4D4"/>
          </a:solidFill>
          <a:ln/>
        </p:spPr>
        <p:txBody>
          <a:bodyPr/>
          <a:p/>
        </p:txBody>
      </p:sp>
      <p:sp>
        <p:nvSpPr>
          <p:cNvPr id="4" name="Shape 2"/>
          <p:cNvSpPr/>
          <p:nvPr/>
        </p:nvSpPr>
        <p:spPr>
          <a:xfrm>
            <a:off x="717314" y="1112490"/>
            <a:ext cx="334714" cy="14288"/>
          </a:xfrm>
          <a:prstGeom prst="roundRect">
            <a:avLst>
              <a:gd name="adj" fmla="val 39999"/>
            </a:avLst>
          </a:prstGeom>
          <a:solidFill>
            <a:srgbClr val="D8D4D4"/>
          </a:solidFill>
          <a:ln/>
        </p:spPr>
        <p:txBody>
          <a:bodyPr/>
          <a:p/>
        </p:txBody>
      </p:sp>
      <p:sp>
        <p:nvSpPr>
          <p:cNvPr id="5" name="Shape 3"/>
          <p:cNvSpPr/>
          <p:nvPr/>
        </p:nvSpPr>
        <p:spPr>
          <a:xfrm>
            <a:off x="480603" y="994172"/>
            <a:ext cx="250999" cy="250999"/>
          </a:xfrm>
          <a:prstGeom prst="roundRect">
            <a:avLst>
              <a:gd name="adj" fmla="val 2277"/>
            </a:avLst>
          </a:prstGeom>
          <a:solidFill>
            <a:srgbClr val="F2EEEE"/>
          </a:solidFill>
          <a:ln w="4763">
            <a:solidFill>
              <a:srgbClr val="F33447"/>
            </a:solidFill>
            <a:prstDash val="solid"/>
          </a:ln>
        </p:spPr>
        <p:txBody>
          <a:bodyPr/>
          <a:p/>
        </p:txBody>
      </p:sp>
      <p:sp>
        <p:nvSpPr>
          <p:cNvPr id="6" name="Text 4"/>
          <p:cNvSpPr/>
          <p:nvPr/>
        </p:nvSpPr>
        <p:spPr>
          <a:xfrm>
            <a:off x="522387" y="101504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1</a:t>
            </a:r>
            <a:endParaRPr lang="en-US" sz="1300" dirty="0"/>
          </a:p>
        </p:txBody>
      </p:sp>
      <p:sp>
        <p:nvSpPr>
          <p:cNvPr id="7" name="Text 5"/>
          <p:cNvSpPr/>
          <p:nvPr/>
        </p:nvSpPr>
        <p:spPr>
          <a:xfrm>
            <a:off x="1164059" y="103249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De chat a agente: dónde encaja Cowork</a:t>
            </a:r>
            <a:endParaRPr lang="en-US" sz="1050" dirty="0"/>
          </a:p>
        </p:txBody>
      </p:sp>
      <p:sp>
        <p:nvSpPr>
          <p:cNvPr id="8" name="Text 6"/>
          <p:cNvSpPr/>
          <p:nvPr/>
        </p:nvSpPr>
        <p:spPr>
          <a:xfrm>
            <a:off x="1164059" y="1248891"/>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Del chat a delegar un resultado: dónde encaja Cowork</a:t>
            </a:r>
            <a:endParaRPr lang="en-US" sz="850" dirty="0"/>
          </a:p>
        </p:txBody>
      </p:sp>
      <p:sp>
        <p:nvSpPr>
          <p:cNvPr id="9" name="Shape 7"/>
          <p:cNvSpPr/>
          <p:nvPr/>
        </p:nvSpPr>
        <p:spPr>
          <a:xfrm>
            <a:off x="717314" y="1653183"/>
            <a:ext cx="334714" cy="14288"/>
          </a:xfrm>
          <a:prstGeom prst="roundRect">
            <a:avLst>
              <a:gd name="adj" fmla="val 39999"/>
            </a:avLst>
          </a:prstGeom>
          <a:solidFill>
            <a:srgbClr val="D8D4D4"/>
          </a:solidFill>
          <a:ln/>
        </p:spPr>
        <p:txBody>
          <a:bodyPr/>
          <a:p/>
        </p:txBody>
      </p:sp>
      <p:sp>
        <p:nvSpPr>
          <p:cNvPr id="10" name="Shape 8"/>
          <p:cNvSpPr/>
          <p:nvPr/>
        </p:nvSpPr>
        <p:spPr>
          <a:xfrm>
            <a:off x="480603" y="1534864"/>
            <a:ext cx="250999" cy="250999"/>
          </a:xfrm>
          <a:prstGeom prst="roundRect">
            <a:avLst>
              <a:gd name="adj" fmla="val 2277"/>
            </a:avLst>
          </a:prstGeom>
          <a:solidFill>
            <a:srgbClr val="F2EEEE"/>
          </a:solidFill>
          <a:ln w="4763">
            <a:solidFill>
              <a:srgbClr val="D8D4D4"/>
            </a:solidFill>
            <a:prstDash val="solid"/>
          </a:ln>
        </p:spPr>
        <p:txBody>
          <a:bodyPr/>
          <a:p/>
        </p:txBody>
      </p:sp>
      <p:sp>
        <p:nvSpPr>
          <p:cNvPr id="11" name="Text 9"/>
          <p:cNvSpPr/>
          <p:nvPr/>
        </p:nvSpPr>
        <p:spPr>
          <a:xfrm>
            <a:off x="522387" y="155573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2</a:t>
            </a:r>
            <a:endParaRPr lang="en-US" sz="1300" dirty="0"/>
          </a:p>
        </p:txBody>
      </p:sp>
      <p:sp>
        <p:nvSpPr>
          <p:cNvPr id="12" name="Text 10"/>
          <p:cNvSpPr/>
          <p:nvPr/>
        </p:nvSpPr>
        <p:spPr>
          <a:xfrm>
            <a:off x="1164059" y="157318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Lo básico: interfaz, Instrucciones y Projects</a:t>
            </a:r>
            <a:endParaRPr lang="en-US" sz="1050" dirty="0"/>
          </a:p>
        </p:txBody>
      </p:sp>
      <p:sp>
        <p:nvSpPr>
          <p:cNvPr id="13" name="Text 11"/>
          <p:cNvSpPr/>
          <p:nvPr/>
        </p:nvSpPr>
        <p:spPr>
          <a:xfrm>
            <a:off x="1164059" y="178958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La interfaz, las Instrucciones y los Projects</a:t>
            </a:r>
            <a:endParaRPr lang="en-US" sz="850" dirty="0"/>
          </a:p>
        </p:txBody>
      </p:sp>
      <p:sp>
        <p:nvSpPr>
          <p:cNvPr id="14" name="Shape 12"/>
          <p:cNvSpPr/>
          <p:nvPr/>
        </p:nvSpPr>
        <p:spPr>
          <a:xfrm>
            <a:off x="717314" y="2193875"/>
            <a:ext cx="334714" cy="14288"/>
          </a:xfrm>
          <a:prstGeom prst="roundRect">
            <a:avLst>
              <a:gd name="adj" fmla="val 39999"/>
            </a:avLst>
          </a:prstGeom>
          <a:solidFill>
            <a:srgbClr val="D8D4D4"/>
          </a:solidFill>
          <a:ln/>
        </p:spPr>
        <p:txBody>
          <a:bodyPr/>
          <a:p/>
        </p:txBody>
      </p:sp>
      <p:sp>
        <p:nvSpPr>
          <p:cNvPr id="15" name="Shape 13"/>
          <p:cNvSpPr/>
          <p:nvPr/>
        </p:nvSpPr>
        <p:spPr>
          <a:xfrm>
            <a:off x="480603" y="2075557"/>
            <a:ext cx="250999" cy="250999"/>
          </a:xfrm>
          <a:prstGeom prst="roundRect">
            <a:avLst>
              <a:gd name="adj" fmla="val 2277"/>
            </a:avLst>
          </a:prstGeom>
          <a:solidFill>
            <a:srgbClr val="F2EEEE"/>
          </a:solidFill>
          <a:ln w="4763">
            <a:solidFill>
              <a:srgbClr val="D8D4D4"/>
            </a:solidFill>
            <a:prstDash val="solid"/>
          </a:ln>
        </p:spPr>
        <p:txBody>
          <a:bodyPr/>
          <a:p/>
        </p:txBody>
      </p:sp>
      <p:sp>
        <p:nvSpPr>
          <p:cNvPr id="16" name="Text 14"/>
          <p:cNvSpPr/>
          <p:nvPr/>
        </p:nvSpPr>
        <p:spPr>
          <a:xfrm>
            <a:off x="522387" y="209643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3</a:t>
            </a:r>
            <a:endParaRPr lang="en-US" sz="1300" dirty="0"/>
          </a:p>
        </p:txBody>
      </p:sp>
      <p:sp>
        <p:nvSpPr>
          <p:cNvPr id="17" name="Text 15"/>
          <p:cNvSpPr/>
          <p:nvPr/>
        </p:nvSpPr>
        <p:spPr>
          <a:xfrm>
            <a:off x="1164059" y="2113880"/>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Extender Cowork: Skills y archivos MD / metadata</a:t>
            </a:r>
            <a:endParaRPr lang="en-US" sz="1050" dirty="0"/>
          </a:p>
        </p:txBody>
      </p:sp>
      <p:sp>
        <p:nvSpPr>
          <p:cNvPr id="18" name="Text 16"/>
          <p:cNvSpPr/>
          <p:nvPr/>
        </p:nvSpPr>
        <p:spPr>
          <a:xfrm>
            <a:off x="1164059" y="2330276"/>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Skills y por qué los archivos MD / metadata son el lenguaje común</a:t>
            </a:r>
            <a:endParaRPr lang="en-US" sz="850" dirty="0"/>
          </a:p>
        </p:txBody>
      </p:sp>
      <p:sp>
        <p:nvSpPr>
          <p:cNvPr id="19" name="Shape 17"/>
          <p:cNvSpPr/>
          <p:nvPr/>
        </p:nvSpPr>
        <p:spPr>
          <a:xfrm>
            <a:off x="717314" y="2734568"/>
            <a:ext cx="334714" cy="14288"/>
          </a:xfrm>
          <a:prstGeom prst="roundRect">
            <a:avLst>
              <a:gd name="adj" fmla="val 39999"/>
            </a:avLst>
          </a:prstGeom>
          <a:solidFill>
            <a:srgbClr val="D8D4D4"/>
          </a:solidFill>
          <a:ln/>
        </p:spPr>
        <p:txBody>
          <a:bodyPr/>
          <a:p/>
        </p:txBody>
      </p:sp>
      <p:sp>
        <p:nvSpPr>
          <p:cNvPr id="20" name="Shape 18"/>
          <p:cNvSpPr/>
          <p:nvPr/>
        </p:nvSpPr>
        <p:spPr>
          <a:xfrm>
            <a:off x="480603" y="2616250"/>
            <a:ext cx="250999" cy="250999"/>
          </a:xfrm>
          <a:prstGeom prst="roundRect">
            <a:avLst>
              <a:gd name="adj" fmla="val 2277"/>
            </a:avLst>
          </a:prstGeom>
          <a:solidFill>
            <a:srgbClr val="F2EEEE"/>
          </a:solidFill>
          <a:ln w="4763">
            <a:solidFill>
              <a:srgbClr val="D8D4D4"/>
            </a:solidFill>
            <a:prstDash val="solid"/>
          </a:ln>
        </p:spPr>
        <p:txBody>
          <a:bodyPr/>
          <a:p/>
        </p:txBody>
      </p:sp>
      <p:sp>
        <p:nvSpPr>
          <p:cNvPr id="21" name="Text 19"/>
          <p:cNvSpPr/>
          <p:nvPr/>
        </p:nvSpPr>
        <p:spPr>
          <a:xfrm>
            <a:off x="522387" y="2637123"/>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4</a:t>
            </a:r>
            <a:endParaRPr lang="en-US" sz="1300" dirty="0"/>
          </a:p>
        </p:txBody>
      </p:sp>
      <p:sp>
        <p:nvSpPr>
          <p:cNvPr id="22" name="Text 20"/>
          <p:cNvSpPr/>
          <p:nvPr/>
        </p:nvSpPr>
        <p:spPr>
          <a:xfrm>
            <a:off x="1164059" y="2654573"/>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Conectar y automatizar: Connectors/MCP y Schedule</a:t>
            </a:r>
            <a:endParaRPr lang="en-US" sz="1050" dirty="0"/>
          </a:p>
        </p:txBody>
      </p:sp>
      <p:sp>
        <p:nvSpPr>
          <p:cNvPr id="23" name="Text 21"/>
          <p:cNvSpPr/>
          <p:nvPr/>
        </p:nvSpPr>
        <p:spPr>
          <a:xfrm>
            <a:off x="1164059" y="2870969"/>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Connectors/MCP y tareas programadas con Schedule</a:t>
            </a:r>
            <a:endParaRPr lang="en-US" sz="850" dirty="0"/>
          </a:p>
        </p:txBody>
      </p:sp>
      <p:sp>
        <p:nvSpPr>
          <p:cNvPr id="24" name="Shape 22"/>
          <p:cNvSpPr/>
          <p:nvPr/>
        </p:nvSpPr>
        <p:spPr>
          <a:xfrm>
            <a:off x="717314" y="3275261"/>
            <a:ext cx="334714" cy="14288"/>
          </a:xfrm>
          <a:prstGeom prst="roundRect">
            <a:avLst>
              <a:gd name="adj" fmla="val 39999"/>
            </a:avLst>
          </a:prstGeom>
          <a:solidFill>
            <a:srgbClr val="D8D4D4"/>
          </a:solidFill>
          <a:ln/>
        </p:spPr>
        <p:txBody>
          <a:bodyPr/>
          <a:p/>
        </p:txBody>
      </p:sp>
      <p:sp>
        <p:nvSpPr>
          <p:cNvPr id="25" name="Shape 23"/>
          <p:cNvSpPr/>
          <p:nvPr/>
        </p:nvSpPr>
        <p:spPr>
          <a:xfrm>
            <a:off x="480603" y="3156942"/>
            <a:ext cx="250999" cy="250999"/>
          </a:xfrm>
          <a:prstGeom prst="roundRect">
            <a:avLst>
              <a:gd name="adj" fmla="val 2277"/>
            </a:avLst>
          </a:prstGeom>
          <a:solidFill>
            <a:srgbClr val="F2EEEE"/>
          </a:solidFill>
          <a:ln w="4763">
            <a:solidFill>
              <a:srgbClr val="D8D4D4"/>
            </a:solidFill>
            <a:prstDash val="solid"/>
          </a:ln>
        </p:spPr>
        <p:txBody>
          <a:bodyPr/>
          <a:p/>
        </p:txBody>
      </p:sp>
      <p:sp>
        <p:nvSpPr>
          <p:cNvPr id="26" name="Text 24"/>
          <p:cNvSpPr/>
          <p:nvPr/>
        </p:nvSpPr>
        <p:spPr>
          <a:xfrm>
            <a:off x="522387" y="3177815"/>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5</a:t>
            </a:r>
            <a:endParaRPr lang="en-US" sz="1300" dirty="0"/>
          </a:p>
        </p:txBody>
      </p:sp>
      <p:sp>
        <p:nvSpPr>
          <p:cNvPr id="27" name="Text 25"/>
          <p:cNvSpPr/>
          <p:nvPr/>
        </p:nvSpPr>
        <p:spPr>
          <a:xfrm>
            <a:off x="1164059" y="3195265"/>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Compartir resultados: Live Artifacts</a:t>
            </a:r>
            <a:endParaRPr lang="en-US" sz="1050" dirty="0"/>
          </a:p>
        </p:txBody>
      </p:sp>
      <p:sp>
        <p:nvSpPr>
          <p:cNvPr id="28" name="Text 26"/>
          <p:cNvSpPr/>
          <p:nvPr/>
        </p:nvSpPr>
        <p:spPr>
          <a:xfrm>
            <a:off x="1164059" y="3411662"/>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Live Artifacts: compartir el resultado vivo</a:t>
            </a:r>
            <a:endParaRPr lang="en-US" sz="850" dirty="0"/>
          </a:p>
        </p:txBody>
      </p:sp>
      <p:sp>
        <p:nvSpPr>
          <p:cNvPr id="29" name="Shape 27"/>
          <p:cNvSpPr/>
          <p:nvPr/>
        </p:nvSpPr>
        <p:spPr>
          <a:xfrm>
            <a:off x="717314" y="3815953"/>
            <a:ext cx="334714" cy="14288"/>
          </a:xfrm>
          <a:prstGeom prst="roundRect">
            <a:avLst>
              <a:gd name="adj" fmla="val 39999"/>
            </a:avLst>
          </a:prstGeom>
          <a:solidFill>
            <a:srgbClr val="F33447"/>
          </a:solidFill>
          <a:ln/>
        </p:spPr>
        <p:txBody>
          <a:bodyPr/>
          <a:p/>
        </p:txBody>
      </p:sp>
      <p:sp>
        <p:nvSpPr>
          <p:cNvPr id="30" name="Shape 28"/>
          <p:cNvSpPr/>
          <p:nvPr/>
        </p:nvSpPr>
        <p:spPr>
          <a:xfrm>
            <a:off x="480603" y="3697635"/>
            <a:ext cx="250999" cy="250999"/>
          </a:xfrm>
          <a:prstGeom prst="roundRect">
            <a:avLst>
              <a:gd name="adj" fmla="val 2277"/>
            </a:avLst>
          </a:prstGeom>
          <a:solidFill>
            <a:srgbClr val="F2EEEE"/>
          </a:solidFill>
          <a:ln w="4763">
            <a:solidFill>
              <a:srgbClr val="D8D4D4"/>
            </a:solidFill>
            <a:prstDash val="solid"/>
          </a:ln>
        </p:spPr>
        <p:txBody>
          <a:bodyPr/>
          <a:p/>
        </p:txBody>
      </p:sp>
      <p:sp>
        <p:nvSpPr>
          <p:cNvPr id="31" name="Text 29"/>
          <p:cNvSpPr/>
          <p:nvPr/>
        </p:nvSpPr>
        <p:spPr>
          <a:xfrm>
            <a:off x="522387" y="3718508"/>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3B3535"/>
                </a:solidFill>
                <a:latin typeface="Helvetica Bold" pitchFamily="34" charset="0"/>
                <a:ea typeface="Roboto Mono Medium" pitchFamily="34" charset="-122"/>
                <a:cs typeface="Roboto Mono Medium" pitchFamily="34" charset="-120"/>
              </a:rPr>
              <a:t>6</a:t>
            </a:r>
            <a:endParaRPr lang="en-US" sz="1300" dirty="0"/>
          </a:p>
        </p:txBody>
      </p:sp>
      <p:sp>
        <p:nvSpPr>
          <p:cNvPr id="32" name="Text 30"/>
          <p:cNvSpPr/>
          <p:nvPr/>
        </p:nvSpPr>
        <p:spPr>
          <a:xfrm>
            <a:off x="1164059" y="3735958"/>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Advanced: Subagentes y Plugins</a:t>
            </a:r>
            <a:endParaRPr lang="en-US" sz="1050" dirty="0"/>
          </a:p>
        </p:txBody>
      </p:sp>
      <p:sp>
        <p:nvSpPr>
          <p:cNvPr id="33" name="Text 31"/>
          <p:cNvSpPr/>
          <p:nvPr/>
        </p:nvSpPr>
        <p:spPr>
          <a:xfrm>
            <a:off x="1164059" y="3952354"/>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Subagentes en paralelo y Plugins para distribuir</a:t>
            </a:r>
            <a:endParaRPr lang="en-US" sz="850" dirty="0"/>
          </a:p>
        </p:txBody>
      </p:sp>
      <p:sp>
        <p:nvSpPr>
          <p:cNvPr id="34" name="Shape 32"/>
          <p:cNvSpPr/>
          <p:nvPr/>
        </p:nvSpPr>
        <p:spPr>
          <a:xfrm>
            <a:off x="717314" y="4356646"/>
            <a:ext cx="334714" cy="14288"/>
          </a:xfrm>
          <a:prstGeom prst="roundRect">
            <a:avLst>
              <a:gd name="adj" fmla="val 39999"/>
            </a:avLst>
          </a:prstGeom>
          <a:solidFill>
            <a:srgbClr val="D8D4D4"/>
          </a:solidFill>
          <a:ln/>
        </p:spPr>
        <p:txBody>
          <a:bodyPr/>
          <a:p/>
        </p:txBody>
      </p:sp>
      <p:sp>
        <p:nvSpPr>
          <p:cNvPr id="35" name="Shape 33"/>
          <p:cNvSpPr/>
          <p:nvPr/>
        </p:nvSpPr>
        <p:spPr>
          <a:xfrm>
            <a:off x="480603" y="4238327"/>
            <a:ext cx="250999" cy="250999"/>
          </a:xfrm>
          <a:prstGeom prst="roundRect">
            <a:avLst>
              <a:gd name="adj" fmla="val 2277"/>
            </a:avLst>
          </a:prstGeom>
          <a:solidFill>
            <a:srgbClr val="F2EEEE"/>
          </a:solidFill>
          <a:ln w="4763">
            <a:solidFill>
              <a:srgbClr val="D8D4D4"/>
            </a:solidFill>
            <a:prstDash val="solid"/>
          </a:ln>
        </p:spPr>
        <p:txBody>
          <a:bodyPr/>
          <a:p/>
        </p:txBody>
      </p:sp>
      <p:sp>
        <p:nvSpPr>
          <p:cNvPr id="36" name="Text 34"/>
          <p:cNvSpPr/>
          <p:nvPr/>
        </p:nvSpPr>
        <p:spPr>
          <a:xfrm>
            <a:off x="522387" y="4259200"/>
            <a:ext cx="167357" cy="209178"/>
          </a:xfrm>
          <a:prstGeom prst="rect">
            <a:avLst/>
          </a:prstGeom>
          <a:noFill/>
          <a:ln/>
        </p:spPr>
        <p:txBody>
          <a:bodyPr wrap="none" lIns="0" tIns="0" rIns="0" bIns="0" rtlCol="0" anchor="ctr"/>
          <a:lstStyle/>
          <a:p>
            <a:pPr algn="ctr" indent="0" marL="0">
              <a:lnSpc>
                <a:spcPct val="100000"/>
              </a:lnSpc>
              <a:buNone/>
            </a:pPr>
            <a:r>
              <a:rPr lang="en-US" sz="1300" dirty="0">
                <a:solidFill>
                  <a:srgbClr val="FFFFFF"/>
                </a:solidFill>
                <a:latin typeface="Helvetica Bold" pitchFamily="34" charset="0"/>
                <a:ea typeface="Roboto Mono Medium" pitchFamily="34" charset="-122"/>
                <a:cs typeface="Roboto Mono Medium" pitchFamily="34" charset="-120"/>
              </a:rPr>
              <a:t>7</a:t>
            </a:r>
            <a:endParaRPr lang="en-US" sz="1300" dirty="0"/>
          </a:p>
        </p:txBody>
      </p:sp>
      <p:sp>
        <p:nvSpPr>
          <p:cNvPr id="37" name="Text 35"/>
          <p:cNvSpPr/>
          <p:nvPr/>
        </p:nvSpPr>
        <p:spPr>
          <a:xfrm>
            <a:off x="1164059" y="4276651"/>
            <a:ext cx="6583680" cy="174278"/>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Helvetica Bold" pitchFamily="34" charset="0"/>
                <a:ea typeface="Roboto Mono Medium" pitchFamily="34" charset="-122"/>
                <a:cs typeface="Roboto Mono Medium" pitchFamily="34" charset="-120"/>
              </a:rPr>
              <a:t>Conclusiones</a:t>
            </a:r>
            <a:endParaRPr lang="en-US" sz="1050" dirty="0"/>
          </a:p>
        </p:txBody>
      </p:sp>
      <p:sp>
        <p:nvSpPr>
          <p:cNvPr id="38" name="Text 36"/>
          <p:cNvSpPr/>
          <p:nvPr/>
        </p:nvSpPr>
        <p:spPr>
          <a:xfrm>
            <a:off x="1164059" y="4493047"/>
            <a:ext cx="7499300" cy="145479"/>
          </a:xfrm>
          <a:prstGeom prst="rect">
            <a:avLst/>
          </a:prstGeom>
          <a:noFill/>
          <a:ln/>
        </p:spPr>
        <p:txBody>
          <a:bodyPr wrap="none" lIns="0" tIns="0" rIns="0" bIns="0" rtlCol="0" anchor="t"/>
          <a:lstStyle/>
          <a:p>
            <a:pPr algn="l" indent="0" marL="0">
              <a:lnSpc>
                <a:spcPct val="109000"/>
              </a:lnSpc>
              <a:buNone/>
            </a:pPr>
            <a:r>
              <a:rPr lang="en-US" sz="850" dirty="0">
                <a:solidFill>
                  <a:srgbClr val="3B3535"/>
                </a:solidFill>
                <a:latin typeface="Helvetica" pitchFamily="34" charset="0"/>
                <a:ea typeface="Roboto" pitchFamily="34" charset="-122"/>
                <a:cs typeface="Roboto" pitchFamily="34" charset="-120"/>
              </a:rPr>
              <a:t>El loop completo, gobernanza y advertencias</a:t>
            </a:r>
            <a:endParaRPr lang="en-US" sz="85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100937"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100937" cy="237744"/>
          </a:xfrm>
          <a:prstGeom prst="rect">
            <a:avLst/>
          </a:prstGeom>
          <a:noFill/>
        </p:spPr>
        <p:txBody>
          <a:bodyPr wrap="none" lIns="0" rIns="0" tIns="0" bIns="0" anchor="ctr">
            <a:spAutoFit/>
          </a:bodyPr>
          <a:lstStyle/>
          <a:p>
            <a:pPr algn="ctr"/>
            <a:r>
              <a:rPr b="1" sz="800">
                <a:solidFill>
                  <a:srgbClr val="3B3535"/>
                </a:solidFill>
                <a:latin typeface="Helvetica Bold"/>
              </a:rPr>
              <a:t>CONCLUSIONES</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250">
                <a:solidFill>
                  <a:srgbClr val="1F1E1E"/>
                </a:solidFill>
                <a:latin typeface="Helvetica Bold"/>
              </a:rPr>
              <a:t>El loop completo y la idea para llevarse</a:t>
            </a:r>
          </a:p>
        </p:txBody>
      </p:sp>
      <p:sp>
        <p:nvSpPr>
          <p:cNvPr id="5" name="TextBox 4"/>
          <p:cNvSpPr txBox="1"/>
          <p:nvPr/>
        </p:nvSpPr>
        <p:spPr>
          <a:xfrm>
            <a:off x="493776" y="1371600"/>
            <a:ext cx="4526280" cy="3474720"/>
          </a:xfrm>
          <a:prstGeom prst="rect">
            <a:avLst/>
          </a:prstGeom>
          <a:noFill/>
        </p:spPr>
        <p:txBody>
          <a:bodyPr wrap="square" lIns="0" rIns="0" tIns="0" bIns="0" anchor="t">
            <a:spAutoFit/>
          </a:bodyPr>
          <a:lstStyle/>
          <a:p>
            <a:pPr marL="164592" indent="-164592">
              <a:spcBef>
                <a:spcPts val="0"/>
              </a:spcBef>
              <a:spcAft>
                <a:spcPts val="400"/>
              </a:spcAft>
              <a:buClr>
                <a:srgbClr val="3B3535"/>
              </a:buClr>
              <a:buFont typeface="Arial"/>
              <a:buChar char="•"/>
            </a:pPr>
            <a:r>
              <a:rPr b="0" sz="1000">
                <a:solidFill>
                  <a:srgbClr val="3B3535"/>
                </a:solidFill>
                <a:latin typeface="Helvetica"/>
              </a:rPr>
              <a:t>Lo que construimos, punta a punta — el loop de Atlas combinando todas las piezas:</a:t>
            </a:r>
          </a:p>
          <a:p>
            <a:pPr marL="164592" indent="-164592">
              <a:spcBef>
                <a:spcPts val="0"/>
              </a:spcBef>
              <a:spcAft>
                <a:spcPts val="400"/>
              </a:spcAft>
              <a:buClr>
                <a:srgbClr val="3B3535"/>
              </a:buClr>
              <a:buFont typeface="Arial"/>
              <a:buChar char="•"/>
            </a:pPr>
            <a:r>
              <a:rPr b="1" sz="1000">
                <a:solidFill>
                  <a:srgbClr val="3B3535"/>
                </a:solidFill>
                <a:latin typeface="Helvetica Bold"/>
              </a:rPr>
              <a:t>Las piezas, una línea cada una:</a:t>
            </a:r>
            <a:r>
              <a:rPr b="0" sz="1000">
                <a:solidFill>
                  <a:srgbClr val="3B3535"/>
                </a:solidFill>
                <a:latin typeface="Helvetica"/>
              </a:rPr>
              <a:t> Instrucciones (el contrato) · Projects (el lugar fijo) · Skills (enseñar una vez) · Connectors/MCP (las manos) · Schedule (que corra solo) · Live Artifacts (compartir el resultado).</a:t>
            </a:r>
          </a:p>
          <a:p>
            <a:pPr marL="164592" indent="-164592">
              <a:spcBef>
                <a:spcPts val="0"/>
              </a:spcBef>
              <a:spcAft>
                <a:spcPts val="400"/>
              </a:spcAft>
              <a:buClr>
                <a:srgbClr val="3B3535"/>
              </a:buClr>
              <a:buFont typeface="Arial"/>
              <a:buChar char="•"/>
            </a:pPr>
            <a:r>
              <a:rPr b="1" sz="1000">
                <a:solidFill>
                  <a:srgbClr val="3B3535"/>
                </a:solidFill>
                <a:latin typeface="Helvetica Bold"/>
              </a:rPr>
              <a:t>La idea para llevarse:</a:t>
            </a:r>
            <a:r>
              <a:rPr b="0" sz="1000">
                <a:solidFill>
                  <a:srgbClr val="3B3535"/>
                </a:solidFill>
                <a:latin typeface="Helvetica"/>
              </a:rPr>
              <a:t> "Todo lo que le explicás a Claude dos veces es una Skill que deberías escribir una vez." Y el gancho: "Acaban de automatizar un reporte que les iba a comer la mañana de cada lunes. ¿Qué otra tarea recurrente podrían delegarle a su propio Atlas?"</a:t>
            </a:r>
          </a:p>
        </p:txBody>
      </p:sp>
      <p:pic>
        <p:nvPicPr>
          <p:cNvPr id="6" name="Picture 5" descr="sc-1-1-loop-completo-atlas.png"/>
          <p:cNvPicPr>
            <a:picLocks noChangeAspect="1"/>
          </p:cNvPicPr>
          <p:nvPr/>
        </p:nvPicPr>
        <p:blipFill>
          <a:blip r:embed="rId2"/>
          <a:stretch>
            <a:fillRect/>
          </a:stretch>
        </p:blipFill>
        <p:spPr>
          <a:xfrm>
            <a:off x="5257800" y="1558245"/>
            <a:ext cx="3401568" cy="310143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84632" y="502920"/>
            <a:ext cx="1100937" cy="237744"/>
          </a:xfrm>
          <a:prstGeom prst="roundRect">
            <a:avLst>
              <a:gd name="adj" fmla="val 19230"/>
            </a:avLst>
          </a:prstGeom>
          <a:solidFill>
            <a:srgbClr val="F9D2D6"/>
          </a:solidFill>
          <a:ln>
            <a:noFill/>
          </a:ln>
          <a:effectLst/>
        </p:spPr>
        <p:txBody>
          <a:bodyPr rtlCol="0" anchor="ctr"/>
          <a:lstStyle/>
          <a:p>
            <a:pPr algn="ctr"/>
          </a:p>
        </p:txBody>
      </p:sp>
      <p:sp>
        <p:nvSpPr>
          <p:cNvPr id="3" name="TextBox 2"/>
          <p:cNvSpPr txBox="1"/>
          <p:nvPr/>
        </p:nvSpPr>
        <p:spPr>
          <a:xfrm>
            <a:off x="484632" y="502920"/>
            <a:ext cx="1100937" cy="237744"/>
          </a:xfrm>
          <a:prstGeom prst="rect">
            <a:avLst/>
          </a:prstGeom>
          <a:noFill/>
        </p:spPr>
        <p:txBody>
          <a:bodyPr wrap="none" lIns="0" rIns="0" tIns="0" bIns="0" anchor="ctr">
            <a:spAutoFit/>
          </a:bodyPr>
          <a:lstStyle/>
          <a:p>
            <a:pPr algn="ctr"/>
            <a:r>
              <a:rPr b="1" sz="800">
                <a:solidFill>
                  <a:srgbClr val="3B3535"/>
                </a:solidFill>
                <a:latin typeface="Helvetica Bold"/>
              </a:rPr>
              <a:t>CONCLUSIONES</a:t>
            </a:r>
          </a:p>
        </p:txBody>
      </p:sp>
      <p:sp>
        <p:nvSpPr>
          <p:cNvPr id="4" name="TextBox 3"/>
          <p:cNvSpPr txBox="1"/>
          <p:nvPr/>
        </p:nvSpPr>
        <p:spPr>
          <a:xfrm>
            <a:off x="493776" y="868680"/>
            <a:ext cx="8092440" cy="822960"/>
          </a:xfrm>
          <a:prstGeom prst="rect">
            <a:avLst/>
          </a:prstGeom>
          <a:noFill/>
        </p:spPr>
        <p:txBody>
          <a:bodyPr wrap="square" lIns="0" rIns="0" tIns="0" bIns="0" anchor="t">
            <a:spAutoFit/>
          </a:bodyPr>
          <a:lstStyle/>
          <a:p>
            <a:r>
              <a:rPr b="1" sz="2250">
                <a:solidFill>
                  <a:srgbClr val="1F1E1E"/>
                </a:solidFill>
                <a:latin typeface="Helvetica Bold"/>
              </a:rPr>
              <a:t>Gobernanza y advertencias (antes de Q&amp;A)</a:t>
            </a:r>
          </a:p>
        </p:txBody>
      </p:sp>
      <p:pic>
        <p:nvPicPr>
          <p:cNvPr id="5" name="Picture 4" descr="warning.outlined.DA1B2E.png"/>
          <p:cNvPicPr>
            <a:picLocks noChangeAspect="1"/>
          </p:cNvPicPr>
          <p:nvPr/>
        </p:nvPicPr>
        <p:blipFill>
          <a:blip r:embed="rId3"/>
          <a:stretch>
            <a:fillRect/>
          </a:stretch>
        </p:blipFill>
        <p:spPr>
          <a:xfrm>
            <a:off x="512064" y="1828800"/>
            <a:ext cx="329184" cy="329184"/>
          </a:xfrm>
          <a:prstGeom prst="rect">
            <a:avLst/>
          </a:prstGeom>
        </p:spPr>
      </p:pic>
      <p:sp>
        <p:nvSpPr>
          <p:cNvPr id="6" name="TextBox 5"/>
          <p:cNvSpPr txBox="1"/>
          <p:nvPr/>
        </p:nvSpPr>
        <p:spPr>
          <a:xfrm>
            <a:off x="932688" y="1783080"/>
            <a:ext cx="3246120" cy="274320"/>
          </a:xfrm>
          <a:prstGeom prst="rect">
            <a:avLst/>
          </a:prstGeom>
          <a:noFill/>
        </p:spPr>
        <p:txBody>
          <a:bodyPr wrap="square" lIns="0" rIns="0" tIns="0" bIns="0" anchor="t">
            <a:spAutoFit/>
          </a:bodyPr>
          <a:lstStyle/>
          <a:p>
            <a:pPr algn="l"/>
            <a:r>
              <a:rPr sz="1200" b="1">
                <a:solidFill>
                  <a:srgbClr val="1F1E1E"/>
                </a:solidFill>
                <a:latin typeface="Helvetica Bold"/>
              </a:rPr>
              <a:t>Sin audit trail</a:t>
            </a:r>
          </a:p>
        </p:txBody>
      </p:sp>
      <p:sp>
        <p:nvSpPr>
          <p:cNvPr id="7" name="TextBox 6"/>
          <p:cNvSpPr txBox="1"/>
          <p:nvPr/>
        </p:nvSpPr>
        <p:spPr>
          <a:xfrm>
            <a:off x="932688" y="2084831"/>
            <a:ext cx="3246120" cy="694944"/>
          </a:xfrm>
          <a:prstGeom prst="rect">
            <a:avLst/>
          </a:prstGeom>
          <a:noFill/>
        </p:spPr>
        <p:txBody>
          <a:bodyPr wrap="square" lIns="0" rIns="0" tIns="0" bIns="0" anchor="t">
            <a:spAutoFit/>
          </a:bodyPr>
          <a:lstStyle/>
          <a:p>
            <a:pPr algn="l"/>
            <a:r>
              <a:rPr sz="950" b="0">
                <a:solidFill>
                  <a:srgbClr val="3B3535"/>
                </a:solidFill>
                <a:latin typeface="Helvetica"/>
              </a:rPr>
              <a:t>No apto para datos regulados o sensibles.</a:t>
            </a:r>
          </a:p>
        </p:txBody>
      </p:sp>
      <p:pic>
        <p:nvPicPr>
          <p:cNvPr id="8" name="Picture 7" descr="edit_note.outlined.DA1B2E.png"/>
          <p:cNvPicPr>
            <a:picLocks noChangeAspect="1"/>
          </p:cNvPicPr>
          <p:nvPr/>
        </p:nvPicPr>
        <p:blipFill>
          <a:blip r:embed="rId4"/>
          <a:stretch>
            <a:fillRect/>
          </a:stretch>
        </p:blipFill>
        <p:spPr>
          <a:xfrm>
            <a:off x="512064" y="2852928"/>
            <a:ext cx="329184" cy="329184"/>
          </a:xfrm>
          <a:prstGeom prst="rect">
            <a:avLst/>
          </a:prstGeom>
        </p:spPr>
      </p:pic>
      <p:sp>
        <p:nvSpPr>
          <p:cNvPr id="9" name="TextBox 8"/>
          <p:cNvSpPr txBox="1"/>
          <p:nvPr/>
        </p:nvSpPr>
        <p:spPr>
          <a:xfrm>
            <a:off x="932688" y="2807208"/>
            <a:ext cx="3246120" cy="274320"/>
          </a:xfrm>
          <a:prstGeom prst="rect">
            <a:avLst/>
          </a:prstGeom>
          <a:noFill/>
        </p:spPr>
        <p:txBody>
          <a:bodyPr wrap="square" lIns="0" rIns="0" tIns="0" bIns="0" anchor="t">
            <a:spAutoFit/>
          </a:bodyPr>
          <a:lstStyle/>
          <a:p>
            <a:pPr algn="l"/>
            <a:r>
              <a:rPr sz="1200" b="1">
                <a:solidFill>
                  <a:srgbClr val="1F1E1E"/>
                </a:solidFill>
                <a:latin typeface="Helvetica Bold"/>
              </a:rPr>
              <a:t>Todo es borrador</a:t>
            </a:r>
          </a:p>
        </p:txBody>
      </p:sp>
      <p:sp>
        <p:nvSpPr>
          <p:cNvPr id="10" name="TextBox 9"/>
          <p:cNvSpPr txBox="1"/>
          <p:nvPr/>
        </p:nvSpPr>
        <p:spPr>
          <a:xfrm>
            <a:off x="932688" y="3108960"/>
            <a:ext cx="3246120" cy="694944"/>
          </a:xfrm>
          <a:prstGeom prst="rect">
            <a:avLst/>
          </a:prstGeom>
          <a:noFill/>
        </p:spPr>
        <p:txBody>
          <a:bodyPr wrap="square" lIns="0" rIns="0" tIns="0" bIns="0" anchor="t">
            <a:spAutoFit/>
          </a:bodyPr>
          <a:lstStyle/>
          <a:p>
            <a:pPr algn="l"/>
            <a:r>
              <a:rPr sz="950" b="0">
                <a:solidFill>
                  <a:srgbClr val="3B3535"/>
                </a:solidFill>
                <a:latin typeface="Helvetica"/>
              </a:rPr>
              <a:t>Verificá cifras, citas y afirmaciones contra la fuente.</a:t>
            </a:r>
          </a:p>
        </p:txBody>
      </p:sp>
      <p:pic>
        <p:nvPicPr>
          <p:cNvPr id="11" name="Picture 10" descr="lock.outlined.DA1B2E.png"/>
          <p:cNvPicPr>
            <a:picLocks noChangeAspect="1"/>
          </p:cNvPicPr>
          <p:nvPr/>
        </p:nvPicPr>
        <p:blipFill>
          <a:blip r:embed="rId5"/>
          <a:stretch>
            <a:fillRect/>
          </a:stretch>
        </p:blipFill>
        <p:spPr>
          <a:xfrm>
            <a:off x="512064" y="3877055"/>
            <a:ext cx="329184" cy="329184"/>
          </a:xfrm>
          <a:prstGeom prst="rect">
            <a:avLst/>
          </a:prstGeom>
        </p:spPr>
      </p:pic>
      <p:sp>
        <p:nvSpPr>
          <p:cNvPr id="12" name="TextBox 11"/>
          <p:cNvSpPr txBox="1"/>
          <p:nvPr/>
        </p:nvSpPr>
        <p:spPr>
          <a:xfrm>
            <a:off x="932688" y="3831335"/>
            <a:ext cx="3246120" cy="274320"/>
          </a:xfrm>
          <a:prstGeom prst="rect">
            <a:avLst/>
          </a:prstGeom>
          <a:noFill/>
        </p:spPr>
        <p:txBody>
          <a:bodyPr wrap="square" lIns="0" rIns="0" tIns="0" bIns="0" anchor="t">
            <a:spAutoFit/>
          </a:bodyPr>
          <a:lstStyle/>
          <a:p>
            <a:pPr algn="l"/>
            <a:r>
              <a:rPr sz="1200" b="1">
                <a:solidFill>
                  <a:srgbClr val="1F1E1E"/>
                </a:solidFill>
                <a:latin typeface="Helvetica Bold"/>
              </a:rPr>
              <a:t>Nada confidencial</a:t>
            </a:r>
          </a:p>
        </p:txBody>
      </p:sp>
      <p:sp>
        <p:nvSpPr>
          <p:cNvPr id="13" name="TextBox 12"/>
          <p:cNvSpPr txBox="1"/>
          <p:nvPr/>
        </p:nvSpPr>
        <p:spPr>
          <a:xfrm>
            <a:off x="932688" y="4133087"/>
            <a:ext cx="3246120" cy="694944"/>
          </a:xfrm>
          <a:prstGeom prst="rect">
            <a:avLst/>
          </a:prstGeom>
          <a:noFill/>
        </p:spPr>
        <p:txBody>
          <a:bodyPr wrap="square" lIns="0" rIns="0" tIns="0" bIns="0" anchor="t">
            <a:spAutoFit/>
          </a:bodyPr>
          <a:lstStyle/>
          <a:p>
            <a:pPr algn="l"/>
            <a:r>
              <a:rPr sz="950" b="0">
                <a:solidFill>
                  <a:srgbClr val="3B3535"/>
                </a:solidFill>
                <a:latin typeface="Helvetica"/>
              </a:rPr>
              <a:t>No metas PII ni datos bajo NDA en la superficie equivocada.</a:t>
            </a:r>
          </a:p>
        </p:txBody>
      </p:sp>
      <p:pic>
        <p:nvPicPr>
          <p:cNvPr id="14" name="Picture 13" descr="history.outlined.DA1B2E.png"/>
          <p:cNvPicPr>
            <a:picLocks noChangeAspect="1"/>
          </p:cNvPicPr>
          <p:nvPr/>
        </p:nvPicPr>
        <p:blipFill>
          <a:blip r:embed="rId6"/>
          <a:stretch>
            <a:fillRect/>
          </a:stretch>
        </p:blipFill>
        <p:spPr>
          <a:xfrm>
            <a:off x="4736592" y="1828800"/>
            <a:ext cx="329184" cy="329184"/>
          </a:xfrm>
          <a:prstGeom prst="rect">
            <a:avLst/>
          </a:prstGeom>
        </p:spPr>
      </p:pic>
      <p:sp>
        <p:nvSpPr>
          <p:cNvPr id="15" name="TextBox 14"/>
          <p:cNvSpPr txBox="1"/>
          <p:nvPr/>
        </p:nvSpPr>
        <p:spPr>
          <a:xfrm>
            <a:off x="5157216" y="1783080"/>
            <a:ext cx="3246120" cy="274320"/>
          </a:xfrm>
          <a:prstGeom prst="rect">
            <a:avLst/>
          </a:prstGeom>
          <a:noFill/>
        </p:spPr>
        <p:txBody>
          <a:bodyPr wrap="square" lIns="0" rIns="0" tIns="0" bIns="0" anchor="t">
            <a:spAutoFit/>
          </a:bodyPr>
          <a:lstStyle/>
          <a:p>
            <a:pPr algn="l"/>
            <a:r>
              <a:rPr sz="1200" b="1">
                <a:solidFill>
                  <a:srgbClr val="1F1E1E"/>
                </a:solidFill>
                <a:latin typeface="Helvetica Bold"/>
              </a:rPr>
              <a:t>Reproducibilidad</a:t>
            </a:r>
          </a:p>
        </p:txBody>
      </p:sp>
      <p:sp>
        <p:nvSpPr>
          <p:cNvPr id="16" name="TextBox 15"/>
          <p:cNvSpPr txBox="1"/>
          <p:nvPr/>
        </p:nvSpPr>
        <p:spPr>
          <a:xfrm>
            <a:off x="5157216" y="2084831"/>
            <a:ext cx="3246120" cy="694944"/>
          </a:xfrm>
          <a:prstGeom prst="rect">
            <a:avLst/>
          </a:prstGeom>
          <a:noFill/>
        </p:spPr>
        <p:txBody>
          <a:bodyPr wrap="square" lIns="0" rIns="0" tIns="0" bIns="0" anchor="t">
            <a:spAutoFit/>
          </a:bodyPr>
          <a:lstStyle/>
          <a:p>
            <a:pPr algn="l"/>
            <a:r>
              <a:rPr sz="950" b="0">
                <a:solidFill>
                  <a:srgbClr val="3B3535"/>
                </a:solidFill>
                <a:latin typeface="Helvetica"/>
              </a:rPr>
              <a:t>Guardá juntos prompt + entradas + salidas: trabajo auditable.</a:t>
            </a:r>
          </a:p>
        </p:txBody>
      </p:sp>
      <p:pic>
        <p:nvPicPr>
          <p:cNvPr id="17" name="Picture 16" descr="shield.outlined.DA1B2E.png"/>
          <p:cNvPicPr>
            <a:picLocks noChangeAspect="1"/>
          </p:cNvPicPr>
          <p:nvPr/>
        </p:nvPicPr>
        <p:blipFill>
          <a:blip r:embed="rId7"/>
          <a:stretch>
            <a:fillRect/>
          </a:stretch>
        </p:blipFill>
        <p:spPr>
          <a:xfrm>
            <a:off x="4736592" y="2852928"/>
            <a:ext cx="329184" cy="329184"/>
          </a:xfrm>
          <a:prstGeom prst="rect">
            <a:avLst/>
          </a:prstGeom>
        </p:spPr>
      </p:pic>
      <p:sp>
        <p:nvSpPr>
          <p:cNvPr id="18" name="TextBox 17"/>
          <p:cNvSpPr txBox="1"/>
          <p:nvPr/>
        </p:nvSpPr>
        <p:spPr>
          <a:xfrm>
            <a:off x="5157216" y="2807208"/>
            <a:ext cx="3246120" cy="274320"/>
          </a:xfrm>
          <a:prstGeom prst="rect">
            <a:avLst/>
          </a:prstGeom>
          <a:noFill/>
        </p:spPr>
        <p:txBody>
          <a:bodyPr wrap="square" lIns="0" rIns="0" tIns="0" bIns="0" anchor="t">
            <a:spAutoFit/>
          </a:bodyPr>
          <a:lstStyle/>
          <a:p>
            <a:pPr algn="l"/>
            <a:r>
              <a:rPr sz="1200" b="1">
                <a:solidFill>
                  <a:srgbClr val="1F1E1E"/>
                </a:solidFill>
                <a:latin typeface="Helvetica Bold"/>
              </a:rPr>
              <a:t>Capas de guardarraíles</a:t>
            </a:r>
          </a:p>
        </p:txBody>
      </p:sp>
      <p:sp>
        <p:nvSpPr>
          <p:cNvPr id="19" name="TextBox 18"/>
          <p:cNvSpPr txBox="1"/>
          <p:nvPr/>
        </p:nvSpPr>
        <p:spPr>
          <a:xfrm>
            <a:off x="5157216" y="3108960"/>
            <a:ext cx="3246120" cy="694944"/>
          </a:xfrm>
          <a:prstGeom prst="rect">
            <a:avLst/>
          </a:prstGeom>
          <a:noFill/>
        </p:spPr>
        <p:txBody>
          <a:bodyPr wrap="square" lIns="0" rIns="0" tIns="0" bIns="0" anchor="t">
            <a:spAutoFit/>
          </a:bodyPr>
          <a:lstStyle/>
          <a:p>
            <a:pPr algn="l"/>
            <a:r>
              <a:rPr sz="950" b="0">
                <a:solidFill>
                  <a:srgbClr val="3B3535"/>
                </a:solidFill>
                <a:latin typeface="Helvetica"/>
              </a:rPr>
              <a:t>Permisos de carpeta → Instrucciones → plugins verificados → revisión humana.</a:t>
            </a:r>
          </a:p>
        </p:txBody>
      </p:sp>
      <p:pic>
        <p:nvPicPr>
          <p:cNvPr id="20" name="Picture 19" descr="medical_services.outlined.DA1B2E.png"/>
          <p:cNvPicPr>
            <a:picLocks noChangeAspect="1"/>
          </p:cNvPicPr>
          <p:nvPr/>
        </p:nvPicPr>
        <p:blipFill>
          <a:blip r:embed="rId8"/>
          <a:stretch>
            <a:fillRect/>
          </a:stretch>
        </p:blipFill>
        <p:spPr>
          <a:xfrm>
            <a:off x="4736592" y="3877055"/>
            <a:ext cx="329184" cy="329184"/>
          </a:xfrm>
          <a:prstGeom prst="rect">
            <a:avLst/>
          </a:prstGeom>
        </p:spPr>
      </p:pic>
      <p:sp>
        <p:nvSpPr>
          <p:cNvPr id="21" name="TextBox 20"/>
          <p:cNvSpPr txBox="1"/>
          <p:nvPr/>
        </p:nvSpPr>
        <p:spPr>
          <a:xfrm>
            <a:off x="5157216" y="3831335"/>
            <a:ext cx="3246120" cy="274320"/>
          </a:xfrm>
          <a:prstGeom prst="rect">
            <a:avLst/>
          </a:prstGeom>
          <a:noFill/>
        </p:spPr>
        <p:txBody>
          <a:bodyPr wrap="square" lIns="0" rIns="0" tIns="0" bIns="0" anchor="t">
            <a:spAutoFit/>
          </a:bodyPr>
          <a:lstStyle/>
          <a:p>
            <a:pPr algn="l"/>
            <a:r>
              <a:rPr sz="1200" b="1">
                <a:solidFill>
                  <a:srgbClr val="1F1E1E"/>
                </a:solidFill>
                <a:latin typeface="Helvetica Bold"/>
              </a:rPr>
              <a:t>Contexto biomédico</a:t>
            </a:r>
          </a:p>
        </p:txBody>
      </p:sp>
      <p:sp>
        <p:nvSpPr>
          <p:cNvPr id="22" name="TextBox 21"/>
          <p:cNvSpPr txBox="1"/>
          <p:nvPr/>
        </p:nvSpPr>
        <p:spPr>
          <a:xfrm>
            <a:off x="5157216" y="4133087"/>
            <a:ext cx="3246120" cy="694944"/>
          </a:xfrm>
          <a:prstGeom prst="rect">
            <a:avLst/>
          </a:prstGeom>
          <a:noFill/>
        </p:spPr>
        <p:txBody>
          <a:bodyPr wrap="square" lIns="0" rIns="0" tIns="0" bIns="0" anchor="t">
            <a:spAutoFit/>
          </a:bodyPr>
          <a:lstStyle/>
          <a:p>
            <a:pPr algn="l"/>
            <a:r>
              <a:rPr sz="950" b="0">
                <a:solidFill>
                  <a:srgbClr val="3B3535"/>
                </a:solidFill>
                <a:latin typeface="Helvetica"/>
              </a:rPr>
              <a:t>Cowork no es la herramienta para datos clínicos de pacientes.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2026-05-22T22:59:23Z</dcterms:created>
  <dcterms:modified xsi:type="dcterms:W3CDTF">2026-05-22T22:59:23Z</dcterms:modified>
</cp:coreProperties>
</file>