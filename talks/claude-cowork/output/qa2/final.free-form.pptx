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12"/>
    <p:sldId id="258" r:id="rId13"/>
    <p:sldId id="259" r:id="rId14"/>
    <p:sldId id="260" r:id="rId15"/>
    <p:sldId id="261" r:id="rId16"/>
    <p:sldId id="262" r:id="rId17"/>
    <p:sldId id="263" r:id="rId18"/>
    <p:sldId id="264" r:id="rId19"/>
    <p:sldId id="265" r:id="rId20"/>
    <p:sldId id="266" r:id="rId21"/>
    <p:sldId id="267" r:id="rId22"/>
    <p:sldId id="268" r:id="rId23"/>
    <p:sldId id="269" r:id="rId24"/>
    <p:sldId id="270" r:id="rId25"/>
    <p:sldId id="271" r:id="rId26"/>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Lst>
  <p:notesMasterIdLst>
    <p:notesMasterId r:id="rId55"/>
  </p:notesMasterIdLst>
  <p:sldSz cx="9144000" cy="5143500"/>
  <p:notesSz cx="5143500" cy="9144000"/>
  <p:embeddedFontLst>
    <p:embeddedFont>
      <p:font typeface="Roboto Mono Medium"/>
      <p:regular r:id="rId60"/>
    </p:embeddedFont>
    <p:embeddedFont>
      <p:font typeface="Roboto Mono Bold"/>
      <p:regular r:id="rId61"/>
    </p:embeddedFont>
    <p:embeddedFont>
      <p:font typeface="Roboto"/>
      <p:regular r:id="rId62"/>
    </p:embeddedFont>
    <p:embeddedFont>
      <p:font typeface="Roboto Bold"/>
      <p:regular r:id="rId63"/>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12" Type="http://schemas.openxmlformats.org/officeDocument/2006/relationships/slide" Target="slides/slide2.xml"/><Relationship Id="rId13" Type="http://schemas.openxmlformats.org/officeDocument/2006/relationships/slide" Target="slides/slide3.xml"/><Relationship Id="rId14" Type="http://schemas.openxmlformats.org/officeDocument/2006/relationships/slide" Target="slides/slide4.xml"/><Relationship Id="rId15" Type="http://schemas.openxmlformats.org/officeDocument/2006/relationships/slide" Target="slides/slide5.xml"/><Relationship Id="rId16" Type="http://schemas.openxmlformats.org/officeDocument/2006/relationships/slide" Target="slides/slide6.xml"/><Relationship Id="rId17" Type="http://schemas.openxmlformats.org/officeDocument/2006/relationships/slide" Target="slides/slide7.xml"/><Relationship Id="rId18" Type="http://schemas.openxmlformats.org/officeDocument/2006/relationships/slide" Target="slides/slide8.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slide" Target="slides/slide11.xml"/><Relationship Id="rId22" Type="http://schemas.openxmlformats.org/officeDocument/2006/relationships/slide" Target="slides/slide12.xml"/><Relationship Id="rId23" Type="http://schemas.openxmlformats.org/officeDocument/2006/relationships/slide" Target="slides/slide13.xml"/><Relationship Id="rId24" Type="http://schemas.openxmlformats.org/officeDocument/2006/relationships/slide" Target="slides/slide14.xml"/><Relationship Id="rId25" Type="http://schemas.openxmlformats.org/officeDocument/2006/relationships/slide" Target="slides/slide15.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 Id="rId60" Type="http://schemas.openxmlformats.org/officeDocument/2006/relationships/font" Target="fonts/font1.fntdata"/><Relationship Id="rId61" Type="http://schemas.openxmlformats.org/officeDocument/2006/relationships/font" Target="fonts/font2.fntdata"/><Relationship Id="rId62" Type="http://schemas.openxmlformats.org/officeDocument/2006/relationships/font" Target="fonts/font3.fntdata"/><Relationship Id="rId63"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Abrir ubicando el terreno: no son tres productos distintos, es el mismo agente con tres caras. Lo único que cambia es la superficie y para quién está pensada. Dejar claro desde el minuto cero que hoy trabajamos en Cowork — la cara pensada para quien no vive en una terminal. Claude Code aparece solo como contraste; no vamos a entrar en sus internals. Tiempo objetivo: ~5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beat de "¿y a mí por qué me importa?", colocado justo después de ubicar las tres superficies. Hasta acá la audiencia sabe *qué* es Cowork; esta slide responde *por qué debería invertir su atención*. Tono motivacional y de alto nivel — la mecánica viene después. </a:t>
            </a:r>
          </a:p>
          <a:p>
            <a:r>
              <a:t>El gancho que mejor funciona es la analogía del Excel, pero hay que decirla con cuidado: durante unas cuatro décadas, saber Excel fue *la* habilidad base del trabajo de oficina — no programabas, pero con Excel resolvías el 80% del trabajo de conocimiento. La tesis de varios analistas de la industria es que las herramientas agénticas (Claude Code para los que programan, Cowork para los que no) están en camino de ser esa nueva habilidad base. Atribuirlo explícitamente como encuadre de analistas/industria — "hay quien lo llama el nuevo Excel" — y NO como un claim oficial de Anthropic. </a:t>
            </a:r>
          </a:p>
          <a:p>
            <a:r>
              <a:t>Lo que sí es de Anthropic, y conviene citarlo como su framing propio, es "Claude Code para el resto de tu trabajo": la idea de que cualquier knowledge worker sienta con Cowork lo que los ingenieros ya sienten con Claude Code. Subrayar que Cowork no salió de la nada — es la generalización de algo que ya funcionó muy bien primero con developers. </a:t>
            </a:r>
          </a:p>
          <a:p>
            <a:r>
              <a:t>Cerrar aterrizándolo en la audiencia: ellos son ingenieros biomédicos, no necesariamente developers, y exactamente por eso esto les sirve — la habilidad base del trabajo del conocimiento se está redefiniendo ahora mismo, y llegar temprano es ventaja. Después de este beat motivacional pasamos a la mecánica: cómo se delega de verdad (slide 1.3). Tiempo objetivo: ~4-5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Este es el concepto-ancla de la charla. Si se llevan una sola idea, que sea esta: el valor no está en escribir mejores mensajes, está en aprender a delegar un resultado y guiar el proceso. Usar la tabla para hacerlo concreto: la salida deja de ser texto en una ventana y pasa a ser archivos reales en tu disco. Anticipar la misión: vamos a "contratar" a Atlas, un analista de mercado virtual, y entrenarlo una vez para que después trabaje solo. Como cierre del concepto, citar el framing de la propia Anthropic — "menos una sesión de chat, más asignarle tareas a un colega" — para reforzar que esto no es marketing nuestro sino la forma en que el producto está pensado. Tiempo objetivo: ~5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Momento de demo en vivo — bajar de los conceptos a la app real. Abrir Cowork y hacer un recorrido de 2-3 minutos señalando: dónde está el selector de modo (Ask before acting por defecto), cómo se concede una carpeta de trabajo, y dónde viven Scheduled y Live artifacts (que vamos a usar más adelante). Demo sugerida de arranque (la del deck): "Organizá esta carpeta de 8 PDFs por tema y dame un resumen de un párrafo de cada uno." Dejarlos ver a Claude planificar, tocar archivos y entregar — sin explicar la mecánica todavía. La imagen anotada queda como respaldo por si la demo en vivo falla. Tiempo objetivo: ~8 min (incluida la demo).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Esta slide es el mapa de toda la sesión: antes de entrar en cada pieza, dar la foto completa. El gancho es el problema, no la feature — empezar desde abajo: "hoy hacés todo a mano, un mensaje a la vez". Cada bloque nace de una frustración concreta y la resuelve: no me quiero repetir el contexto → Instrucciones; no quiero perder los archivos → Projects; no quiero repetir la misma tarea → Skills; quiero datos de mis herramientas → Connectors/MCP; quiero que corra solo → Schedule; quiero compartir el resultado vivo → Live Artifacts. Subrayar la dirección: cuanto más arriba, menos trabajo manual y más entrega autónoma. </a:t>
            </a:r>
          </a:p>
          <a:p>
            <a:r>
              <a:t>Cuidado con la metáfora: NO es una pirámide donde cada capa depende de todas las de abajo. Son bloques que se apilan y se combinan — usás solo los que tu tarea necesita. Por eso cambiamos el dibujo de pirámide a bloques apilados. </a:t>
            </a:r>
          </a:p>
          <a:p>
            <a:r>
              <a:t>Decir explícitamente la promesa de roadmap: "vamos a recorrer cada uno de estos bloques, uno por uno, en el resto de la charla, en este orden" — y que pueden volver a esta slide como "estamos acá" entre secciones para ubicarse. Al final, la pila entera es Atlas. </a:t>
            </a:r>
          </a:p>
          <a:p>
            <a:r>
              <a:t>Plugins como transversal: marcar que Plugins NO es un bloque más en la pila, sino la banda que la envuelve — la forma de empaquetar y distribuir varias de estas piezas a la vez (a un equipo, p. ej.). No desarrollarlo acá: lo vemos en la Sección 6. Tiempo objetivo: ~3-4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Conectar con el paradigma: en lugar de re-explicarle a Claude el contexto cada vez, lo escribís una vez en las Instrucciones y queda fijo. Mostrar el texto real de las Instrucciones de Atlas como ejemplo concreto — destacar la regla de oro del disclaimer financiero, que es exactamente el tipo de regla no negociable que conviene pinear acá. Dónde viven: en el panel de contexto del Project (en la GUI) — no es un archivo que edités a mano; lo escribís en el panel y queda asociado al Project. Tiempo objetivo: ~7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Project es el contenedor de todo lo demás: Instrucciones, archivos, memoria. En la misión, el Project "Inteligencia de Mercado Semanal" apunta a la carpeta `Documentos/Atlas-Mercado`. Subrayar dos puntos prácticos: (1) los chats no se hablan entre sí dentro del Project — si querés que recuerde algo, va a las Instrucciones o a la base de conocimiento; (2) el control de qué carpetas toca Claude es el folder picker del sistema operativo, que es a la vez la garantía de seguridad (Cowork solo ve lo que le concedés) y el límite. La slide siguiente muestra ese selector y el panel de contexto en pantalla. Tiempo objetivo: ~7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apoyo visual, corta y concreta — bajar a pantalla lo que en la slide anterior fue conceptual. Mostrar las dos capturas: (1) el folder picker del sistema cuando concedés una carpeta; (2) el panel de contexto del Project con sus capas. El mensaje de seguridad es el que no hay que saltear: Cowork solo ve lo que le concedés, así que la elección de carpeta ES el control de privacidad — nunca una carpeta con datos sensibles. Aterrizarlo en la misión: Atlas trabaja sobre `Documentos/Atlas-Mercado`, nada más. Tiempo objetivo: ~3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Skill es la materialización directa del paradigma "enseñá una vez, reutilizá siempre". Mostrar los dos caminos reales en Cowork: (1) pedírsela en lenguaje natural — Claude escribe el `SKILL.md`, y vos la habilitás en Customize → Skills; (2) subir un ZIP de la carpeta de la Skill por Customize → Skills. Aclarar de entrada que Cowork es GUI: no hay slash commands. El punto que NO hay que saltear es la trampa del Save: es un error real y muy común — pedís la Skill, Claude escribe el archivo, pero si no le das Save / enable no queda habilitada y parece que "no funciona". Mencionar que las Skills requieren Code execution (Settings → Capabilities). Usar `reporte-semanal` como ejemplo concreto: convierte varios archivos desordenados en un reporte prolijo. Tiempo objetivo: ~8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Sideway breve y de alto nivel — explícitamente NO un deep dive de formato de archivos. La idea a transmitir: en el mundo LLM, la configuración es texto plano (Markdown) porque el modelo lee texto, y la metadata (el header YAML) le dice al sistema qué es cada archivo y cuándo usarlo. El ejemplo más tangible es la `description` de una Skill: no es decoración, es lo que decide si la Skill se activa o no para un pedido dado. Cerrar con la portabilidad: el mismo `SKILL.md` sirve en distintas herramientas. Mantenerlo en ~5 min — es contexto, no el plato principal.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Slide-ejemplo que aterriza el sideway de MD/metadata. Mostrar el `SKILL.md` partido en dos zonas: arriba el header YAML (`name`, `description`) entre `---`; abajo las instrucciones en Markdown. El punto a martillar: la `description` no es decoración — es exactamente lo que el sistema lee para decidir si esta Skill aplica a tu pedido (activación semántica). Usar `reporte-semanal` para que sea concreto. Mantenerlo alto nivel: es para que "vean cómo se ve", no un tutorial de formato. Tiempo objetivo: ~3-4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Desarmar el miedo: conectar un servicio externo no es programar. En Cowork es literalmente buscar el servicio en el directorio y darle Connect — como conectás Gmail. Usar el diagrama para explicar qué pasa por debajo: el agente pide datos, el Connector los trae vía el protocolo MCP. MCP es el estándar que hace que cualquier plataforma con API pueda volverse conversacional. Ejemplo de la misión: MT Newswires (noticias de mercado) y Gmail, ambos de un clic. Aclarar que en Cowork no hay archivo de config: todo por la UI. Tiempo objetivo: ~10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práctica: mostrar las dos capturas — el directorio de Connectors y la pantalla de conexión — para desarmar el miedo de "esto es técnico". El mensaje es: conectar un servicio es buscar + Connect + autorizar, igual que cuando conectás Gmail a cualquier app. Ejemplos de la misión: MT Newswires (noticias) y Gmail (borradores), ambos de un clic. Recordar que en Cowork todo esto es por la UI, no por archivos de config. Tiempo objetivo: ~5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Acá Cowork pasa de herramienta a empleado: describís el trabajo una vez y corre solo. Es el momento en que Atlas "trabaja mientras vos dormís" — pero con un asterisco. El punto crítico — y un error clásico — es que el Schedule de Cowork corre LOCAL, en tu máquina, no en la nube de Anthropic: solo se dispara con la computadora despierta y la app abierta; si estaba dormida/cerrada, se saltea y corre apenas volvés (con aviso). Dejarlo bien claro para que nadie espere que su laptop apagada genere el reporte del lunes. (Si alguien pregunta por corridas en la nube: sí existen agentes programados hosteados, pero son otra cosa, fuera del alcance de esta charla.) Para la demo, usar "Run on demand" en lugar de esperar la cadencia real. Tiempo objetivo: ~10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Cerramos el círculo de la misión: el jefe quería el reporte de dos formas — el email (que ya resolvimos con Gmail + Schedule) y una página siempre actualizada. El Live Artifact es esa página. Explicar la distinción clave: un Artifact estándar es estático; un Live Artifact persiste en la pestaña Live artifacts, se refresca con datos actuales al abrirlo y guarda versiones. Ser honesto con el estado actual del compartir, porque acá había una confusión que corregimos: hoy los Live Artifacts NO son compartibles (es del roadmap, no de hoy), son locales —no en la nube, no te siguen entre dispositivos— y usan los connectors que aprobaste sin volver a preguntar. (Nota: versiones previas de este material mencionaban un "ShareDuo" con URL pública — eso NO es una capacidad de Cowork; quitado.) Mostrar el boceto del tablero — el "napkin sketch" del jefe — como el spec de diseño que el artifact reproduce. Tiempo objetivo: ~10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Nivel avanzado — presentarlo como "para cuando crezcas". La distinción mental útil: si la sub-tarea es chica y querés verla, es una Skill; si es grande o ruidosa y querés que corra aparte sin ensuciar tu conversación, es un Subagente. El ejemplo del deck (8 propuestas de proveedores revisadas en paralelo por tres especialistas → tabla combinada) ilustra el fan-out. Cómo se agrega: explicarlo en paralelo a las Skills — un subagente se define con una descripción (cuándo usarlo) + instrucciones; le pedís a Claude que lo arme (igual que una Skill, se gestiona en Customize) o viene dentro de un Plugin. Mantenerlo alto nivel: no entrar en rutas de archivos ni internals de persistencia. Tiempo objetivo: ~7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Cerrar el avanzado con la idea de empaquetado: cuando un workflow está maduro (varias skills + connectors + agentes), un Plugin lo vuelve instalable de una. El punto importante para Cowork: la forma robusta de distribuir una skill (o un agente) a otros es dentro de un plugin; los plugins distribuidos aparecen tanto en Chat como en Cowork. Mencionar los marketplaces oficiales como punto de partida. Tiempo objetivo: ~6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del bloque avanzado, orientada a quien algún día administre una cuenta de equipo. La idea: los Plugins no son solo para instalar de a uno; en una cuenta Team, un Owner puede armar un marketplace privado de la organización y repartir workflows a todo el equipo. Recorrer el ciclo con el diagrama: el Owner crea el marketplace y sube plugins (ZIP o, mejor, sincronizando un repo de GitHub que auto-actualiza), fija cómo se instala cada uno (opcional / auto-install / provisionado), y desde ahí se distribuye —aparece tanto en chat como en Cowork— y los miembros lo habilitan desde su directorio, con las actualizaciones sincronizadas. Mantenerlo alto nivel: es el "para cuando esto escala a un equipo". Tiempo objetivo: ~4 min.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Cierre integrador: mostrar el diagrama del loop completo para que vean cómo cada pieza que aprendimos se engancha con la siguiente. Repasar las seis piezas en una línea cada una. Cerrar con las dos frases ancla: la de la Skill ("enseñá una vez") y el gancho que los invita a pensar qué tarea propia delegarían. Tiempo objetivo: ~5 min + Q&amp;A.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cierre responsable, breve pero no opcional. Para esta audiencia (bioingeniería), conectar explícitamente: Cowork es excelente para trabajo recurrente de oficina, pero NO para datos de pacientes ni nada regulado — no tiene audit trail. Recordar que toda salida es un borrador que hay que verificar. Dejar esto antes de abrir Q&amp;A. Tiempo objetivo: ~3 min.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Slide 11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lide 12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emplate Separator master">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55" Type="http://schemas.openxmlformats.org/officeDocument/2006/relationships/theme" Target="../theme/theme1.xml"/><Relationship Id="rId56"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5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4.jpg"/><Relationship Id="rId3"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8.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notesSlide" Target="../notesSlides/notesSlide9.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9.png"/><Relationship Id="rId3" Type="http://schemas.openxmlformats.org/officeDocument/2006/relationships/notesSlide" Target="../notesSlides/notesSlide1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0.png"/><Relationship Id="rId3" Type="http://schemas.openxmlformats.org/officeDocument/2006/relationships/notesSlide" Target="../notesSlides/notesSlide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1.png"/><Relationship Id="rId3" Type="http://schemas.openxmlformats.org/officeDocument/2006/relationships/image" Target="../media/image12.png"/><Relationship Id="rId4" Type="http://schemas.openxmlformats.org/officeDocument/2006/relationships/notesSlide" Target="../notesSlides/notesSlide1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3.png"/><Relationship Id="rId3" Type="http://schemas.openxmlformats.org/officeDocument/2006/relationships/notesSlide" Target="../notesSlides/notesSlide1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4.png"/><Relationship Id="rId3" Type="http://schemas.openxmlformats.org/officeDocument/2006/relationships/notesSlide" Target="../notesSlides/notesSlide1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5.png"/><Relationship Id="rId3" Type="http://schemas.openxmlformats.org/officeDocument/2006/relationships/notesSlide" Target="../notesSlides/notesSlide1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8.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6.png"/><Relationship Id="rId3" Type="http://schemas.openxmlformats.org/officeDocument/2006/relationships/notesSlide" Target="../notesSlides/notesSlide19.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7.png"/><Relationship Id="rId3"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496119" y="536823"/>
            <a:ext cx="8151763" cy="1948458"/>
          </a:xfrm>
          <a:prstGeom prst="rect">
            <a:avLst/>
          </a:prstGeom>
          <a:noFill/>
          <a:ln/>
        </p:spPr>
        <p:txBody>
          <a:bodyPr wrap="square" lIns="0" tIns="0" rIns="0" bIns="0" rtlCol="0" anchor="t">
            <a:normAutofit/>
          </a:bodyPr>
          <a:lstStyle/>
          <a:p>
            <a:pPr algn="l" indent="0" marL="0">
              <a:lnSpc>
                <a:spcPct val="104000"/>
              </a:lnSpc>
              <a:buNone/>
            </a:pPr>
            <a:r>
              <a:rPr lang="en-US" sz="4050" dirty="0">
                <a:solidFill>
                  <a:srgbClr val="1F1E1E"/>
                </a:solidFill>
                <a:latin typeface="Roboto Mono Medium" pitchFamily="34" charset="0"/>
                <a:ea typeface="Roboto Mono Medium" pitchFamily="34" charset="-122"/>
                <a:cs typeface="Roboto Mono Medium" pitchFamily="34" charset="-120"/>
              </a:rPr>
              <a:t>Claude Cowork para el día a día</a:t>
            </a:r>
            <a:endParaRPr lang="en-US" sz="4050" dirty="0"/>
          </a:p>
        </p:txBody>
      </p:sp>
      <p:sp>
        <p:nvSpPr>
          <p:cNvPr id="3" name="Text 1"/>
          <p:cNvSpPr/>
          <p:nvPr/>
        </p:nvSpPr>
        <p:spPr>
          <a:xfrm>
            <a:off x="496119" y="2677269"/>
            <a:ext cx="6216923" cy="235297"/>
          </a:xfrm>
          <a:prstGeom prst="rect">
            <a:avLst/>
          </a:prstGeom>
          <a:noFill/>
          <a:ln/>
        </p:spPr>
        <p:txBody>
          <a:bodyPr wrap="none" lIns="0" tIns="0" rIns="0" bIns="0" rtlCol="0" anchor="t"/>
          <a:lstStyle/>
          <a:p>
            <a:pPr algn="l" indent="0" marL="0">
              <a:lnSpc>
                <a:spcPct val="104000"/>
              </a:lnSpc>
              <a:buNone/>
            </a:pPr>
            <a:r>
              <a:rPr lang="en-US" sz="1450" dirty="0">
                <a:solidFill>
                  <a:srgbClr val="1F1E1E"/>
                </a:solidFill>
                <a:latin typeface="Roboto Mono Medium" pitchFamily="34" charset="0"/>
                <a:ea typeface="Roboto Mono Medium" pitchFamily="34" charset="-122"/>
                <a:cs typeface="Roboto Mono Medium" pitchFamily="34" charset="-120"/>
              </a:rPr>
              <a:t>AI Generativa para Biomedicina · Universidad Austral</a:t>
            </a:r>
            <a:endParaRPr lang="en-US" sz="1450" dirty="0"/>
          </a:p>
        </p:txBody>
      </p:sp>
      <p:sp>
        <p:nvSpPr>
          <p:cNvPr id="4" name="Text 2"/>
          <p:cNvSpPr/>
          <p:nvPr/>
        </p:nvSpPr>
        <p:spPr>
          <a:xfrm>
            <a:off x="496119" y="3219748"/>
            <a:ext cx="3295799" cy="560933"/>
          </a:xfrm>
          <a:prstGeom prst="rect">
            <a:avLst/>
          </a:prstGeom>
          <a:noFill/>
          <a:ln/>
        </p:spPr>
        <p:txBody>
          <a:bodyPr wrap="square" lIns="0" tIns="0" rIns="0" bIns="0" rtlCol="0" anchor="t"/>
          <a:lstStyle/>
          <a:p>
            <a:pPr algn="l" indent="0" marL="0">
              <a:lnSpc>
                <a:spcPct val="123000"/>
              </a:lnSpc>
              <a:spcAft>
                <a:spcPts val="900"/>
              </a:spcAft>
              <a:buNone/>
            </a:pPr>
            <a:r>
              <a:rPr lang="en-US" sz="1150" dirty="0">
                <a:solidFill>
                  <a:srgbClr val="3B3535"/>
                </a:solidFill>
                <a:latin typeface="Roboto" pitchFamily="34" charset="0"/>
                <a:ea typeface="Roboto" pitchFamily="34" charset="-122"/>
                <a:cs typeface="Roboto" pitchFamily="34" charset="-120"/>
              </a:rPr>
              <a:t>Autor: Paulo Veiga</a:t>
            </a:r>
            <a:endParaRPr lang="en-US" sz="1150" dirty="0"/>
          </a:p>
          <a:p>
            <a:pPr algn="l" indent="0" marL="0">
              <a:lnSpc>
                <a:spcPct val="123000"/>
              </a:lnSpc>
              <a:buNone/>
            </a:pPr>
            <a:r>
              <a:rPr lang="en-US" sz="1150" dirty="0">
                <a:solidFill>
                  <a:srgbClr val="3B3535"/>
                </a:solidFill>
                <a:latin typeface="Roboto" pitchFamily="34" charset="0"/>
                <a:ea typeface="Roboto" pitchFamily="34" charset="-122"/>
                <a:cs typeface="Roboto" pitchFamily="34" charset="-120"/>
              </a:rPr>
              <a:t>Última Modificación: Junio, 2026</a:t>
            </a:r>
            <a:endParaRPr lang="en-US" sz="1150" dirty="0"/>
          </a:p>
        </p:txBody>
      </p:sp>
      <p:pic>
        <p:nvPicPr>
          <p:cNvPr id="5" name="Image 0" descr="preencoded.png">    </p:cNvPr>
          <p:cNvPicPr>
            <a:picLocks noChangeAspect="1"/>
          </p:cNvPicPr>
          <p:nvPr/>
        </p:nvPicPr>
        <p:blipFill>
          <a:blip r:embed="rId1"/>
          <a:stretch>
            <a:fillRect/>
          </a:stretch>
        </p:blipFill>
        <p:spPr>
          <a:xfrm>
            <a:off x="7183562" y="3248546"/>
            <a:ext cx="1469008" cy="1214065"/>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Agenda</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846320" cy="3566160"/>
          </a:xfrm>
          <a:prstGeom prst="rect">
            <a:avLst/>
          </a:prstGeom>
          <a:noFill/>
        </p:spPr>
        <p:txBody>
          <a:bodyPr wrap="square" lIns="36576" rIns="36576" tIns="18288" bIns="18288" anchor="t">
            <a:normAutofit/>
          </a:bodyPr>
          <a:lstStyle/>
          <a:p>
            <a:pPr>
              <a:lnSpc>
                <a:spcPct val="105000"/>
              </a:lnSpc>
              <a:spcAft>
                <a:spcPts val="900"/>
              </a:spcAft>
            </a:pPr>
            <a:r>
              <a:rPr sz="1700" b="1">
                <a:solidFill>
                  <a:srgbClr val="C95B3C"/>
                </a:solidFill>
                <a:latin typeface="Arial"/>
              </a:rPr>
              <a:t>1   </a:t>
            </a:r>
            <a:r>
              <a:rPr sz="1500" b="0">
                <a:solidFill>
                  <a:srgbClr val="1F1E1E"/>
                </a:solidFill>
                <a:latin typeface="Arial"/>
              </a:rPr>
              <a:t>1. De chat a agente: dónde encaja Cowork</a:t>
            </a:r>
          </a:p>
          <a:p>
            <a:pPr>
              <a:lnSpc>
                <a:spcPct val="105000"/>
              </a:lnSpc>
              <a:spcAft>
                <a:spcPts val="900"/>
              </a:spcAft>
            </a:pPr>
            <a:r>
              <a:rPr sz="1700" b="1">
                <a:solidFill>
                  <a:srgbClr val="C95B3C"/>
                </a:solidFill>
                <a:latin typeface="Arial"/>
              </a:rPr>
              <a:t>2   </a:t>
            </a:r>
            <a:r>
              <a:rPr sz="1500" b="0">
                <a:solidFill>
                  <a:srgbClr val="1F1E1E"/>
                </a:solidFill>
                <a:latin typeface="Arial"/>
              </a:rPr>
              <a:t>2. Lo básico: interfaz, Instrucciones y Projects</a:t>
            </a:r>
          </a:p>
          <a:p>
            <a:pPr>
              <a:lnSpc>
                <a:spcPct val="105000"/>
              </a:lnSpc>
              <a:spcAft>
                <a:spcPts val="900"/>
              </a:spcAft>
            </a:pPr>
            <a:r>
              <a:rPr sz="1700" b="1">
                <a:solidFill>
                  <a:srgbClr val="C95B3C"/>
                </a:solidFill>
                <a:latin typeface="Arial"/>
              </a:rPr>
              <a:t>3   </a:t>
            </a:r>
            <a:r>
              <a:rPr sz="1500" b="0">
                <a:solidFill>
                  <a:srgbClr val="1F1E1E"/>
                </a:solidFill>
                <a:latin typeface="Arial"/>
              </a:rPr>
              <a:t>3. Extender Cowork: Skills y el rol de los archivos MD / metadata</a:t>
            </a:r>
          </a:p>
          <a:p>
            <a:pPr>
              <a:lnSpc>
                <a:spcPct val="105000"/>
              </a:lnSpc>
              <a:spcAft>
                <a:spcPts val="900"/>
              </a:spcAft>
            </a:pPr>
            <a:r>
              <a:rPr sz="1700" b="1">
                <a:solidFill>
                  <a:srgbClr val="C95B3C"/>
                </a:solidFill>
                <a:latin typeface="Arial"/>
              </a:rPr>
              <a:t>4   </a:t>
            </a:r>
            <a:r>
              <a:rPr sz="1500" b="0">
                <a:solidFill>
                  <a:srgbClr val="1F1E1E"/>
                </a:solidFill>
                <a:latin typeface="Arial"/>
              </a:rPr>
              <a:t>4. Conectar y automatizar: Connectors/MCP y Schedule</a:t>
            </a:r>
          </a:p>
          <a:p>
            <a:pPr>
              <a:lnSpc>
                <a:spcPct val="105000"/>
              </a:lnSpc>
              <a:spcAft>
                <a:spcPts val="900"/>
              </a:spcAft>
            </a:pPr>
            <a:r>
              <a:rPr sz="1700" b="1">
                <a:solidFill>
                  <a:srgbClr val="C95B3C"/>
                </a:solidFill>
                <a:latin typeface="Arial"/>
              </a:rPr>
              <a:t>5   </a:t>
            </a:r>
            <a:r>
              <a:rPr sz="1500" b="0">
                <a:solidFill>
                  <a:srgbClr val="1F1E1E"/>
                </a:solidFill>
                <a:latin typeface="Arial"/>
              </a:rPr>
              <a:t>5. Compartir resultados: Live Artifacts</a:t>
            </a:r>
          </a:p>
          <a:p>
            <a:pPr>
              <a:lnSpc>
                <a:spcPct val="105000"/>
              </a:lnSpc>
              <a:spcAft>
                <a:spcPts val="900"/>
              </a:spcAft>
            </a:pPr>
            <a:r>
              <a:rPr sz="1700" b="1">
                <a:solidFill>
                  <a:srgbClr val="C95B3C"/>
                </a:solidFill>
                <a:latin typeface="Arial"/>
              </a:rPr>
              <a:t>6   </a:t>
            </a:r>
            <a:r>
              <a:rPr sz="1500" b="0">
                <a:solidFill>
                  <a:srgbClr val="1F1E1E"/>
                </a:solidFill>
                <a:latin typeface="Arial"/>
              </a:rPr>
              <a:t>6. Advanced: Subagentes y Plugins</a:t>
            </a:r>
          </a:p>
        </p:txBody>
      </p:sp>
      <p:sp>
        <p:nvSpPr>
          <p:cNvPr id="5" name="Rounded Rectangle 4"/>
          <p:cNvSpPr/>
          <p:nvPr/>
        </p:nvSpPr>
        <p:spPr>
          <a:xfrm>
            <a:off x="5623560" y="1234440"/>
            <a:ext cx="3017520" cy="3246120"/>
          </a:xfrm>
          <a:prstGeom prst="roundRect">
            <a:avLst>
              <a:gd name="adj" fmla="val 6000"/>
            </a:avLst>
          </a:prstGeom>
          <a:solidFill>
            <a:srgbClr val="F5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852160" y="1463040"/>
            <a:ext cx="2606040" cy="2834640"/>
          </a:xfrm>
          <a:prstGeom prst="rect">
            <a:avLst/>
          </a:prstGeom>
          <a:noFill/>
        </p:spPr>
        <p:txBody>
          <a:bodyPr wrap="square" lIns="36576" rIns="36576" tIns="18288" bIns="18288" anchor="t">
            <a:normAutofit/>
          </a:bodyPr>
          <a:lstStyle/>
          <a:p>
            <a:pPr>
              <a:lnSpc>
                <a:spcPct val="112000"/>
              </a:lnSpc>
            </a:pPr>
            <a:r>
              <a:rPr sz="1300" b="1">
                <a:solidFill>
                  <a:srgbClr val="1F1E1E"/>
                </a:solidFill>
                <a:latin typeface="Arial"/>
              </a:rPr>
              <a:t>El hilo</a:t>
            </a:r>
          </a:p>
          <a:p>
            <a:pPr>
              <a:lnSpc>
                <a:spcPct val="112000"/>
              </a:lnSpc>
            </a:pPr>
            <a:r>
              <a:rPr sz="1150" b="0">
                <a:solidFill>
                  <a:srgbClr val="6B6560"/>
                </a:solidFill>
                <a:latin typeface="Arial"/>
              </a:rPr>
              <a:t>Arrancamos ubicando a Cowork entre las tres superficies de Claude y explicando el cambio de paradigma de chat a agente (1). Después recorremos lo básico para empezar a trabajar: la interfaz, las Instrucciones y los Projects (2). Sobre esa base extendemos a Cowork con Skills y entendemos por qué los archivos Markdown / metadata son el lenguaje común del mundo LLM (3). Luego lo conectamos al mundo exterior con Connectors/MCP y lo volvemos proactivo con Schedule (4). Compartimos el resultado con Live Artifacts (5) y cerramos con dos piezas avanzadas, Subagentes y Plugins (6). El hilo conductor de toda la charla es una misión concreta — "Atlas", el analista de mercado que se arma pieza por pieza.</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01</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De chat a agente: dónde encaja Cowork</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Que la audiencia entienda qué es Cowork frente a Claude Code y Web/Chat, e internalice el cambio de paradigma de "chatear" a "delegar un resultado" — el marco mental sobre el que se apoya toda la charla.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Las tres superficies de Claude</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Mismos modelos, distinta superficie: las tres caras — </a:t>
            </a:r>
            <a:r>
              <a:rPr sz="1250" b="1">
                <a:solidFill>
                  <a:srgbClr val="1F1E1E"/>
                </a:solidFill>
                <a:latin typeface="Arial"/>
              </a:rPr>
              <a:t>Web/Chat</a:t>
            </a:r>
            <a:r>
              <a:rPr sz="1250" b="0">
                <a:solidFill>
                  <a:srgbClr val="1F1E1E"/>
                </a:solidFill>
                <a:latin typeface="Arial"/>
              </a:rPr>
              <a:t>, </a:t>
            </a:r>
            <a:r>
              <a:rPr sz="1250" b="1">
                <a:solidFill>
                  <a:srgbClr val="1F1E1E"/>
                </a:solidFill>
                <a:latin typeface="Arial"/>
              </a:rPr>
              <a:t>Claude Code</a:t>
            </a:r>
            <a:r>
              <a:rPr sz="1250" b="0">
                <a:solidFill>
                  <a:srgbClr val="1F1E1E"/>
                </a:solidFill>
                <a:latin typeface="Arial"/>
              </a:rPr>
              <a:t> y </a:t>
            </a:r>
            <a:r>
              <a:rPr sz="1250" b="1">
                <a:solidFill>
                  <a:srgbClr val="1F1E1E"/>
                </a:solidFill>
                <a:latin typeface="Arial"/>
              </a:rPr>
              <a:t>Cowork</a:t>
            </a:r>
            <a:r>
              <a:rPr sz="1250" b="0">
                <a:solidFill>
                  <a:srgbClr val="1F1E1E"/>
                </a:solidFill>
                <a:latin typeface="Arial"/>
              </a:rPr>
              <a:t> — corren sobre </a:t>
            </a:r>
            <a:r>
              <a:rPr sz="1250" b="1">
                <a:solidFill>
                  <a:srgbClr val="1F1E1E"/>
                </a:solidFill>
                <a:latin typeface="Arial"/>
              </a:rPr>
              <a:t>los mismos modelos Claude</a:t>
            </a:r>
            <a:r>
              <a:rPr sz="1250" b="0">
                <a:solidFill>
                  <a:srgbClr val="1F1E1E"/>
                </a:solidFill>
                <a:latin typeface="Arial"/>
              </a:rPr>
              <a:t>. El matiz importa: </a:t>
            </a:r>
            <a:r>
              <a:rPr sz="1250" b="1">
                <a:solidFill>
                  <a:srgbClr val="1F1E1E"/>
                </a:solidFill>
                <a:latin typeface="Arial"/>
              </a:rPr>
              <a:t>Cowork está construido sobre las mismas bases que Claude Code</a:t>
            </a:r>
            <a:r>
              <a:rPr sz="1250" b="0">
                <a:solidFill>
                  <a:srgbClr val="1F1E1E"/>
                </a:solidFill>
                <a:latin typeface="Arial"/>
              </a:rPr>
              <a:t> (el </a:t>
            </a:r>
            <a:r>
              <a:rPr sz="1250" b="1">
                <a:solidFill>
                  <a:srgbClr val="1F1E1E"/>
                </a:solidFill>
                <a:latin typeface="Arial"/>
              </a:rPr>
              <a:t>Claude Agent SDK</a:t>
            </a:r>
            <a:r>
              <a:rPr sz="1250" b="0">
                <a:solidFill>
                  <a:srgbClr val="1F1E1E"/>
                </a:solidFill>
                <a:latin typeface="Arial"/>
              </a:rPr>
              <a:t>), así que Code y Cowork comparten el mismo engine de agente — los mismos archivos, las mismas Skills, el mismo MCP y el mismo loop de plan → aprobar → redirigir. </a:t>
            </a:r>
            <a:r>
              <a:rPr sz="1250" b="1">
                <a:solidFill>
                  <a:srgbClr val="1F1E1E"/>
                </a:solidFill>
                <a:latin typeface="Arial"/>
              </a:rPr>
              <a:t>Web/Chat</a:t>
            </a:r>
            <a:r>
              <a:rPr sz="1250" b="0">
                <a:solidFill>
                  <a:srgbClr val="1F1E1E"/>
                </a:solidFill>
                <a:latin typeface="Arial"/>
              </a:rPr>
              <a:t> es ese mismo modelo en una </a:t>
            </a:r>
            <a:r>
              <a:rPr sz="1250" b="1">
                <a:solidFill>
                  <a:srgbClr val="1F1E1E"/>
                </a:solidFill>
                <a:latin typeface="Arial"/>
              </a:rPr>
              <a:t>superficie de chat</a:t>
            </a:r>
            <a:r>
              <a:rPr sz="1250" b="0">
                <a:solidFill>
                  <a:srgbClr val="1F1E1E"/>
                </a:solidFill>
                <a:latin typeface="Arial"/>
              </a:rPr>
              <a:t>, no el loop agéntico completo.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Web/Chat</a:t>
            </a:r>
            <a:r>
              <a:rPr sz="1250" b="0">
                <a:solidFill>
                  <a:srgbClr val="1F1E1E"/>
                </a:solidFill>
                <a:latin typeface="Arial"/>
              </a:rPr>
              <a:t> — navegador o app, sin instalar; chat, preguntas y tareas puntuales; público: todos.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Claude Code</a:t>
            </a:r>
            <a:r>
              <a:rPr sz="1250" b="0">
                <a:solidFill>
                  <a:srgbClr val="1F1E1E"/>
                </a:solidFill>
                <a:latin typeface="Arial"/>
              </a:rPr>
              <a:t> — app de escritorio (pestaña Code + terminal); escribir, editar y publicar código; público: perfiles técnicos / developers.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Cowork</a:t>
            </a:r>
            <a:r>
              <a:rPr sz="1250" b="0">
                <a:solidFill>
                  <a:srgbClr val="1F1E1E"/>
                </a:solidFill>
                <a:latin typeface="Arial"/>
              </a:rPr>
              <a:t> — app de escritorio (pestaña Cowork), GUI sin terminal; trabajo de varios pasos sobre archivos reales; público: knowledge workers sin terminal. </a:t>
            </a:r>
            <a:r>
              <a:rPr sz="1250" b="1">
                <a:solidFill>
                  <a:srgbClr val="1F1E1E"/>
                </a:solidFill>
                <a:latin typeface="Arial"/>
              </a:rPr>
              <a:t>Esta charla vive acá.</a:t>
            </a:r>
          </a:p>
        </p:txBody>
      </p:sp>
      <p:pic>
        <p:nvPicPr>
          <p:cNvPr id="5" name="Picture 4" descr="s1-1-1-tres-superficies-claude.png"/>
          <p:cNvPicPr>
            <a:picLocks noChangeAspect="1"/>
          </p:cNvPicPr>
          <p:nvPr/>
        </p:nvPicPr>
        <p:blipFill>
          <a:blip r:embed="rId2"/>
          <a:stretch>
            <a:fillRect/>
          </a:stretch>
        </p:blipFill>
        <p:spPr>
          <a:xfrm>
            <a:off x="5486400" y="1937048"/>
            <a:ext cx="3200400" cy="202378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El superpoder de Cowork: la herramienta de propósito general del knowledge worker</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 idea grande.</a:t>
            </a:r>
            <a:r>
              <a:rPr sz="1250" b="0">
                <a:solidFill>
                  <a:srgbClr val="1F1E1E"/>
                </a:solidFill>
                <a:latin typeface="Arial"/>
              </a:rPr>
              <a:t> </a:t>
            </a:r>
            <a:r>
              <a:rPr sz="1250" b="1">
                <a:solidFill>
                  <a:srgbClr val="1F1E1E"/>
                </a:solidFill>
                <a:latin typeface="Arial"/>
              </a:rPr>
              <a:t>Cowork</a:t>
            </a:r>
            <a:r>
              <a:rPr sz="1250" b="0">
                <a:solidFill>
                  <a:srgbClr val="1F1E1E"/>
                </a:solidFill>
                <a:latin typeface="Arial"/>
              </a:rPr>
              <a:t> es la </a:t>
            </a:r>
            <a:r>
              <a:rPr sz="1250" b="1">
                <a:solidFill>
                  <a:srgbClr val="1F1E1E"/>
                </a:solidFill>
                <a:latin typeface="Arial"/>
              </a:rPr>
              <a:t>herramienta de propósito general del knowledge worker</a:t>
            </a:r>
            <a:r>
              <a:rPr sz="1250" b="0">
                <a:solidFill>
                  <a:srgbClr val="1F1E1E"/>
                </a:solidFill>
                <a:latin typeface="Arial"/>
              </a:rPr>
              <a:t> — de quien no programa. No un asistente de una tarea puntual: una herramienta horizontal para casi cualquier trabajo de conocimiento. Sin base técnica: el "lenguaje de programación" es el español.</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 analogía que "pega" — "el nuevo Excel"</a:t>
            </a:r>
            <a:r>
              <a:rPr sz="1250" b="0">
                <a:solidFill>
                  <a:srgbClr val="1F1E1E"/>
                </a:solidFill>
                <a:latin typeface="Arial"/>
              </a:rPr>
              <a:t> (encuadre de analistas / industria, no un claim de Anthropic). Así como Excel fue ~40 años la habilidad base del trabajo de oficina, las herramientas agénticas apuntan a ser </a:t>
            </a:r>
            <a:r>
              <a:rPr sz="1250" b="1">
                <a:solidFill>
                  <a:srgbClr val="1F1E1E"/>
                </a:solidFill>
                <a:latin typeface="Arial"/>
              </a:rPr>
              <a:t>la nueva habilidad base</a:t>
            </a:r>
            <a:r>
              <a:rPr sz="12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El encuadre oficial de Anthropic:</a:t>
            </a:r>
            <a:r>
              <a:rPr sz="1250" b="0">
                <a:solidFill>
                  <a:srgbClr val="1F1E1E"/>
                </a:solidFill>
                <a:latin typeface="Arial"/>
              </a:rPr>
              <a:t> Cowork como </a:t>
            </a:r>
            <a:r>
              <a:rPr sz="1250" b="1">
                <a:solidFill>
                  <a:srgbClr val="1F1E1E"/>
                </a:solidFill>
                <a:latin typeface="Arial"/>
              </a:rPr>
              <a:t>"Claude Code para el resto de tu trabajo"</a:t>
            </a:r>
            <a:r>
              <a:rPr sz="12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Por qué te importa (bioingeniería).</a:t>
            </a:r>
            <a:r>
              <a:rPr sz="1250" b="0">
                <a:solidFill>
                  <a:srgbClr val="1F1E1E"/>
                </a:solidFill>
                <a:latin typeface="Arial"/>
              </a:rPr>
              <a:t> La habilidad base del trabajo del conocimiento se redefine ahora; llegar temprano es ventaja concreta y portable.</a:t>
            </a:r>
          </a:p>
        </p:txBody>
      </p:sp>
      <p:pic>
        <p:nvPicPr>
          <p:cNvPr id="5" name="Picture 4" descr="s1-2-1-excel-a-agentico.png"/>
          <p:cNvPicPr>
            <a:picLocks noChangeAspect="1"/>
          </p:cNvPicPr>
          <p:nvPr/>
        </p:nvPicPr>
        <p:blipFill>
          <a:blip r:embed="rId2"/>
          <a:stretch>
            <a:fillRect/>
          </a:stretch>
        </p:blipFill>
        <p:spPr>
          <a:xfrm>
            <a:off x="5486400" y="2172372"/>
            <a:ext cx="3200400" cy="1553135"/>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De chat a agente: el cambio de paradigma</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54880" cy="13716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00" b="1">
                <a:solidFill>
                  <a:srgbClr val="C95B3C"/>
                </a:solidFill>
                <a:latin typeface="Arial"/>
              </a:rPr>
              <a:t>▪  </a:t>
            </a:r>
            <a:r>
              <a:rPr sz="1200" b="0">
                <a:solidFill>
                  <a:srgbClr val="1F1E1E"/>
                </a:solidFill>
                <a:latin typeface="Arial"/>
              </a:rPr>
              <a:t>La frase que resume toda la sesión: </a:t>
            </a:r>
            <a:r>
              <a:rPr sz="1200" b="1">
                <a:solidFill>
                  <a:srgbClr val="1F1E1E"/>
                </a:solidFill>
                <a:latin typeface="Arial"/>
              </a:rPr>
              <a:t>"Dejás de tipear un mensaje a la vez y empezás a entregar un resultado."</a:t>
            </a:r>
            <a:r>
              <a:rPr sz="1200" b="0">
                <a:solidFill>
                  <a:srgbClr val="1F1E1E"/>
                </a:solidFill>
                <a:latin typeface="Arial"/>
              </a:rPr>
              <a:t> El agente lo planifica, trabaja sobre tus archivos reales, y vos lo guiás — en lugar de hacer cada paso vos mismo.</a:t>
            </a:r>
          </a:p>
          <a:p>
            <a:pPr>
              <a:lnSpc>
                <a:spcPct val="102000"/>
              </a:lnSpc>
              <a:spcBef>
                <a:spcPts val="0"/>
              </a:spcBef>
              <a:spcAft>
                <a:spcPts val="500"/>
              </a:spcAft>
            </a:pPr>
            <a:r>
              <a:rPr sz="1100" b="1">
                <a:solidFill>
                  <a:srgbClr val="C95B3C"/>
                </a:solidFill>
                <a:latin typeface="Arial"/>
              </a:rPr>
              <a:t>▪  </a:t>
            </a:r>
            <a:r>
              <a:rPr sz="1200" b="0">
                <a:solidFill>
                  <a:srgbClr val="1F1E1E"/>
                </a:solidFill>
                <a:latin typeface="Arial"/>
              </a:rPr>
              <a:t>Cómo lo describe la propia Anthropic: trabajar con Cowork "se parece menos a una sesión de chat y más a asignarle tareas a un colega" ("less like a chat session and more like assigning tasks to a colleague"). Esa es exactamente la mudanza de paradigma de esta slide.</a:t>
            </a:r>
          </a:p>
          <a:p>
            <a:pPr>
              <a:lnSpc>
                <a:spcPct val="102000"/>
              </a:lnSpc>
              <a:spcBef>
                <a:spcPts val="0"/>
              </a:spcBef>
              <a:spcAft>
                <a:spcPts val="500"/>
              </a:spcAft>
            </a:pPr>
            <a:r>
              <a:rPr sz="1100" b="1">
                <a:solidFill>
                  <a:srgbClr val="C95B3C"/>
                </a:solidFill>
                <a:latin typeface="Arial"/>
              </a:rPr>
              <a:t>▪  </a:t>
            </a:r>
            <a:r>
              <a:rPr sz="1200" b="0">
                <a:solidFill>
                  <a:srgbClr val="1F1E1E"/>
                </a:solidFill>
                <a:latin typeface="Arial"/>
              </a:rPr>
              <a:t>Chatear vs delegar (no son dos productos, son dos formas de trabajar):</a:t>
            </a:r>
          </a:p>
        </p:txBody>
      </p:sp>
      <p:graphicFrame>
        <p:nvGraphicFramePr>
          <p:cNvPr id="5" name="Table 4"/>
          <p:cNvGraphicFramePr>
            <a:graphicFrameLocks noGrp="1"/>
          </p:cNvGraphicFramePr>
          <p:nvPr/>
        </p:nvGraphicFramePr>
        <p:xfrm>
          <a:off x="502920" y="2697480"/>
          <a:ext cx="4754880" cy="1920240"/>
        </p:xfrm>
        <a:graphic>
          <a:graphicData uri="http://schemas.openxmlformats.org/drawingml/2006/table">
            <a:tbl>
              <a:tblPr bandRow="1">
                <a:tableStyleId>{5C22544A-7EE6-4342-B048-85BDC9FD1C3A}</a:tableStyleId>
              </a:tblPr>
              <a:tblGrid>
                <a:gridCol w="1584960"/>
                <a:gridCol w="1584960"/>
                <a:gridCol w="1584960"/>
              </a:tblGrid>
              <a:tr h="384048">
                <a:tc>
                  <a:txBody>
                    <a:bodyPr wrap="square"/>
                    <a:lstStyle/>
                    <a:p>
                      <a:pPr>
                        <a:lnSpc>
                          <a:spcPct val="100000"/>
                        </a:lnSpc>
                      </a:pPr>
                    </a:p>
                  </a:txBody>
                  <a:tcPr marL="73152" marR="54864" marT="27432" marB="27432" anchor="ctr">
                    <a:solidFill>
                      <a:srgbClr val="C95B3C"/>
                    </a:solidFill>
                  </a:tcPr>
                </a:tc>
                <a:tc>
                  <a:txBody>
                    <a:bodyPr wrap="square"/>
                    <a:lstStyle/>
                    <a:p>
                      <a:pPr>
                        <a:lnSpc>
                          <a:spcPct val="100000"/>
                        </a:lnSpc>
                      </a:pPr>
                      <a:r>
                        <a:rPr sz="1050" b="1">
                          <a:solidFill>
                            <a:srgbClr val="FFFFFF"/>
                          </a:solidFill>
                          <a:latin typeface="Arial"/>
                        </a:rPr>
                        <a:t>Chatear</a:t>
                      </a:r>
                    </a:p>
                  </a:txBody>
                  <a:tcPr marL="73152" marR="54864" marT="27432" marB="27432" anchor="ctr">
                    <a:solidFill>
                      <a:srgbClr val="C95B3C"/>
                    </a:solidFill>
                  </a:tcPr>
                </a:tc>
                <a:tc>
                  <a:txBody>
                    <a:bodyPr wrap="square"/>
                    <a:lstStyle/>
                    <a:p>
                      <a:pPr>
                        <a:lnSpc>
                          <a:spcPct val="100000"/>
                        </a:lnSpc>
                      </a:pPr>
                      <a:r>
                        <a:rPr sz="1050" b="1">
                          <a:solidFill>
                            <a:srgbClr val="FFFFFF"/>
                          </a:solidFill>
                          <a:latin typeface="Arial"/>
                        </a:rPr>
                        <a:t>Delegar a un agente</a:t>
                      </a:r>
                    </a:p>
                  </a:txBody>
                  <a:tcPr marL="73152" marR="54864" marT="27432" marB="27432" anchor="ctr">
                    <a:solidFill>
                      <a:srgbClr val="C95B3C"/>
                    </a:solidFill>
                  </a:tcPr>
                </a:tc>
              </a:tr>
              <a:tr h="384048">
                <a:tc>
                  <a:txBody>
                    <a:bodyPr wrap="square"/>
                    <a:lstStyle/>
                    <a:p>
                      <a:pPr>
                        <a:lnSpc>
                          <a:spcPct val="100000"/>
                        </a:lnSpc>
                      </a:pPr>
                      <a:r>
                        <a:rPr sz="1050" b="1">
                          <a:solidFill>
                            <a:srgbClr val="1F1E1E"/>
                          </a:solidFill>
                          <a:latin typeface="Arial"/>
                        </a:rPr>
                        <a:t>Cómo trabajás</a:t>
                      </a:r>
                    </a:p>
                  </a:txBody>
                  <a:tcPr marL="73152" marR="54864" marT="27432" marB="27432" anchor="ctr">
                    <a:solidFill>
                      <a:srgbClr val="FFFFFF"/>
                    </a:solidFill>
                  </a:tcPr>
                </a:tc>
                <a:tc>
                  <a:txBody>
                    <a:bodyPr wrap="square"/>
                    <a:lstStyle/>
                    <a:p>
                      <a:pPr>
                        <a:lnSpc>
                          <a:spcPct val="100000"/>
                        </a:lnSpc>
                      </a:pPr>
                      <a:r>
                        <a:rPr sz="1050" b="0">
                          <a:solidFill>
                            <a:srgbClr val="1F1E1E"/>
                          </a:solidFill>
                          <a:latin typeface="Arial"/>
                        </a:rPr>
                        <a:t>Un mensaje a la vez</a:t>
                      </a:r>
                    </a:p>
                  </a:txBody>
                  <a:tcPr marL="73152" marR="54864" marT="27432" marB="27432" anchor="ctr">
                    <a:solidFill>
                      <a:srgbClr val="FFFFFF"/>
                    </a:solidFill>
                  </a:tcPr>
                </a:tc>
                <a:tc>
                  <a:txBody>
                    <a:bodyPr wrap="square"/>
                    <a:lstStyle/>
                    <a:p>
                      <a:pPr>
                        <a:lnSpc>
                          <a:spcPct val="100000"/>
                        </a:lnSpc>
                      </a:pPr>
                      <a:r>
                        <a:rPr sz="1050" b="0">
                          <a:solidFill>
                            <a:srgbClr val="1F1E1E"/>
                          </a:solidFill>
                          <a:latin typeface="Arial"/>
                        </a:rPr>
                        <a:t>Describís un resultado</a:t>
                      </a:r>
                    </a:p>
                  </a:txBody>
                  <a:tcPr marL="73152" marR="54864" marT="27432" marB="27432" anchor="ctr">
                    <a:solidFill>
                      <a:srgbClr val="FFFFFF"/>
                    </a:solidFill>
                  </a:tcPr>
                </a:tc>
              </a:tr>
              <a:tr h="384048">
                <a:tc>
                  <a:txBody>
                    <a:bodyPr wrap="square"/>
                    <a:lstStyle/>
                    <a:p>
                      <a:pPr>
                        <a:lnSpc>
                          <a:spcPct val="100000"/>
                        </a:lnSpc>
                      </a:pPr>
                      <a:r>
                        <a:rPr sz="1050" b="1">
                          <a:solidFill>
                            <a:srgbClr val="1F1E1E"/>
                          </a:solidFill>
                          <a:latin typeface="Arial"/>
                        </a:rPr>
                        <a:t>Los pasos</a:t>
                      </a:r>
                    </a:p>
                  </a:txBody>
                  <a:tcPr marL="73152" marR="54864" marT="27432" marB="27432" anchor="ctr">
                    <a:solidFill>
                      <a:srgbClr val="F5F1EC"/>
                    </a:solidFill>
                  </a:tcPr>
                </a:tc>
                <a:tc>
                  <a:txBody>
                    <a:bodyPr wrap="square"/>
                    <a:lstStyle/>
                    <a:p>
                      <a:pPr>
                        <a:lnSpc>
                          <a:spcPct val="100000"/>
                        </a:lnSpc>
                      </a:pPr>
                      <a:r>
                        <a:rPr sz="1050" b="0">
                          <a:solidFill>
                            <a:srgbClr val="1F1E1E"/>
                          </a:solidFill>
                          <a:latin typeface="Arial"/>
                        </a:rPr>
                        <a:t>Los hacés vos</a:t>
                      </a:r>
                    </a:p>
                  </a:txBody>
                  <a:tcPr marL="73152" marR="54864" marT="27432" marB="27432" anchor="ctr">
                    <a:solidFill>
                      <a:srgbClr val="F5F1EC"/>
                    </a:solidFill>
                  </a:tcPr>
                </a:tc>
                <a:tc>
                  <a:txBody>
                    <a:bodyPr wrap="square"/>
                    <a:lstStyle/>
                    <a:p>
                      <a:pPr>
                        <a:lnSpc>
                          <a:spcPct val="100000"/>
                        </a:lnSpc>
                      </a:pPr>
                      <a:r>
                        <a:rPr sz="1050" b="0">
                          <a:solidFill>
                            <a:srgbClr val="1F1E1E"/>
                          </a:solidFill>
                          <a:latin typeface="Arial"/>
                        </a:rPr>
                        <a:t>El agente planifica y ejecuta</a:t>
                      </a:r>
                    </a:p>
                  </a:txBody>
                  <a:tcPr marL="73152" marR="54864" marT="27432" marB="27432" anchor="ctr">
                    <a:solidFill>
                      <a:srgbClr val="F5F1EC"/>
                    </a:solidFill>
                  </a:tcPr>
                </a:tc>
              </a:tr>
              <a:tr h="384048">
                <a:tc>
                  <a:txBody>
                    <a:bodyPr wrap="square"/>
                    <a:lstStyle/>
                    <a:p>
                      <a:pPr>
                        <a:lnSpc>
                          <a:spcPct val="100000"/>
                        </a:lnSpc>
                      </a:pPr>
                      <a:r>
                        <a:rPr sz="1050" b="1">
                          <a:solidFill>
                            <a:srgbClr val="1F1E1E"/>
                          </a:solidFill>
                          <a:latin typeface="Arial"/>
                        </a:rPr>
                        <a:t>La salida</a:t>
                      </a:r>
                    </a:p>
                  </a:txBody>
                  <a:tcPr marL="73152" marR="54864" marT="27432" marB="27432" anchor="ctr">
                    <a:solidFill>
                      <a:srgbClr val="FFFFFF"/>
                    </a:solidFill>
                  </a:tcPr>
                </a:tc>
                <a:tc>
                  <a:txBody>
                    <a:bodyPr wrap="square"/>
                    <a:lstStyle/>
                    <a:p>
                      <a:pPr>
                        <a:lnSpc>
                          <a:spcPct val="100000"/>
                        </a:lnSpc>
                      </a:pPr>
                      <a:r>
                        <a:rPr sz="1050" b="0">
                          <a:solidFill>
                            <a:srgbClr val="1F1E1E"/>
                          </a:solidFill>
                          <a:latin typeface="Arial"/>
                        </a:rPr>
                        <a:t>Texto en la ventana</a:t>
                      </a:r>
                    </a:p>
                  </a:txBody>
                  <a:tcPr marL="73152" marR="54864" marT="27432" marB="27432" anchor="ctr">
                    <a:solidFill>
                      <a:srgbClr val="FFFFFF"/>
                    </a:solidFill>
                  </a:tcPr>
                </a:tc>
                <a:tc>
                  <a:txBody>
                    <a:bodyPr wrap="square"/>
                    <a:lstStyle/>
                    <a:p>
                      <a:pPr>
                        <a:lnSpc>
                          <a:spcPct val="100000"/>
                        </a:lnSpc>
                      </a:pPr>
                      <a:r>
                        <a:rPr sz="1050" b="0">
                          <a:solidFill>
                            <a:srgbClr val="1F1E1E"/>
                          </a:solidFill>
                          <a:latin typeface="Arial"/>
                        </a:rPr>
                        <a:t>Archivos en tu disco</a:t>
                      </a:r>
                    </a:p>
                  </a:txBody>
                  <a:tcPr marL="73152" marR="54864" marT="27432" marB="27432" anchor="ctr">
                    <a:solidFill>
                      <a:srgbClr val="FFFFFF"/>
                    </a:solidFill>
                  </a:tcPr>
                </a:tc>
              </a:tr>
              <a:tr h="384048">
                <a:tc>
                  <a:txBody>
                    <a:bodyPr wrap="square"/>
                    <a:lstStyle/>
                    <a:p>
                      <a:pPr>
                        <a:lnSpc>
                          <a:spcPct val="100000"/>
                        </a:lnSpc>
                      </a:pPr>
                      <a:r>
                        <a:rPr sz="1050" b="1">
                          <a:solidFill>
                            <a:srgbClr val="1F1E1E"/>
                          </a:solidFill>
                          <a:latin typeface="Arial"/>
                        </a:rPr>
                        <a:t>Tu rol</a:t>
                      </a:r>
                    </a:p>
                  </a:txBody>
                  <a:tcPr marL="73152" marR="54864" marT="27432" marB="27432" anchor="ctr">
                    <a:solidFill>
                      <a:srgbClr val="F5F1EC"/>
                    </a:solidFill>
                  </a:tcPr>
                </a:tc>
                <a:tc>
                  <a:txBody>
                    <a:bodyPr wrap="square"/>
                    <a:lstStyle/>
                    <a:p>
                      <a:pPr>
                        <a:lnSpc>
                          <a:spcPct val="100000"/>
                        </a:lnSpc>
                      </a:pPr>
                      <a:r>
                        <a:rPr sz="1050" b="0">
                          <a:solidFill>
                            <a:srgbClr val="1F1E1E"/>
                          </a:solidFill>
                          <a:latin typeface="Arial"/>
                        </a:rPr>
                        <a:t>Tipear el próximo prompt</a:t>
                      </a:r>
                    </a:p>
                  </a:txBody>
                  <a:tcPr marL="73152" marR="54864" marT="27432" marB="27432" anchor="ctr">
                    <a:solidFill>
                      <a:srgbClr val="F5F1EC"/>
                    </a:solidFill>
                  </a:tcPr>
                </a:tc>
                <a:tc>
                  <a:txBody>
                    <a:bodyPr wrap="square"/>
                    <a:lstStyle/>
                    <a:p>
                      <a:pPr>
                        <a:lnSpc>
                          <a:spcPct val="100000"/>
                        </a:lnSpc>
                      </a:pPr>
                      <a:r>
                        <a:rPr sz="1050" b="0">
                          <a:solidFill>
                            <a:srgbClr val="1F1E1E"/>
                          </a:solidFill>
                          <a:latin typeface="Arial"/>
                        </a:rPr>
                        <a:t>Leer el plan, guiar a mitad de camino</a:t>
                      </a:r>
                    </a:p>
                  </a:txBody>
                  <a:tcPr marL="73152" marR="54864" marT="27432" marB="27432" anchor="ctr">
                    <a:solidFill>
                      <a:srgbClr val="F5F1EC"/>
                    </a:solidFill>
                  </a:tcPr>
                </a:tc>
              </a:tr>
            </a:tbl>
          </a:graphicData>
        </a:graphic>
      </p:graphicFrame>
      <p:pic>
        <p:nvPicPr>
          <p:cNvPr id="6" name="Picture 5" descr="s1-3-1-chat-vs-agente.png"/>
          <p:cNvPicPr>
            <a:picLocks noChangeAspect="1"/>
          </p:cNvPicPr>
          <p:nvPr/>
        </p:nvPicPr>
        <p:blipFill>
          <a:blip r:embed="rId2"/>
          <a:stretch>
            <a:fillRect/>
          </a:stretch>
        </p:blipFill>
        <p:spPr>
          <a:xfrm>
            <a:off x="5486400" y="2078915"/>
            <a:ext cx="3200400" cy="1694329"/>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02</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Lo básico: interfaz, Instrucciones y Projects</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Dar a la audiencia lo mínimo para empezar a trabajar en Cowork: reconocer la interfaz, ajustar el comportamiento del agente con Instrucciones, y guardar todo de forma organizada con Projects.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(Demo time) Conozcamos la interfaz de Cowork</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SLIDE DE DEMO EN VIVO</a:t>
            </a:r>
            <a:r>
              <a:rPr sz="1250" b="0">
                <a:solidFill>
                  <a:srgbClr val="1F1E1E"/>
                </a:solidFill>
                <a:latin typeface="Arial"/>
              </a:rPr>
              <a:t> — Tour rápido de la pestaña Cowork sobre la app real, no sobre la slide.</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Anatomía de la pestaña Cowork (referencia anotada):</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Elementos a señalar en vivo: el selector de modo </a:t>
            </a:r>
            <a:r>
              <a:rPr sz="1250" b="1">
                <a:solidFill>
                  <a:srgbClr val="1F1E1E"/>
                </a:solidFill>
                <a:latin typeface="Arial"/>
              </a:rPr>
              <a:t>"Ask"</a:t>
            </a:r>
            <a:r>
              <a:rPr sz="1250" b="0">
                <a:solidFill>
                  <a:srgbClr val="1F1E1E"/>
                </a:solidFill>
                <a:latin typeface="Arial"/>
              </a:rPr>
              <a:t> (Ask before acting / Act without asking), el selector de carpeta de trabajo, la pestaña </a:t>
            </a:r>
            <a:r>
              <a:rPr sz="1250" b="1">
                <a:solidFill>
                  <a:srgbClr val="1F1E1E"/>
                </a:solidFill>
                <a:latin typeface="Arial"/>
              </a:rPr>
              <a:t>Scheduled</a:t>
            </a:r>
            <a:r>
              <a:rPr sz="1250" b="0">
                <a:solidFill>
                  <a:srgbClr val="1F1E1E"/>
                </a:solidFill>
                <a:latin typeface="Arial"/>
              </a:rPr>
              <a:t>, la pestaña </a:t>
            </a:r>
            <a:r>
              <a:rPr sz="1250" b="1">
                <a:solidFill>
                  <a:srgbClr val="1F1E1E"/>
                </a:solidFill>
                <a:latin typeface="Arial"/>
              </a:rPr>
              <a:t>Live artifacts</a:t>
            </a:r>
            <a:r>
              <a:rPr sz="1250" b="0">
                <a:solidFill>
                  <a:srgbClr val="1F1E1E"/>
                </a:solidFill>
                <a:latin typeface="Arial"/>
              </a:rPr>
              <a:t>, el panel de un </a:t>
            </a:r>
            <a:r>
              <a:rPr sz="1250" b="1">
                <a:solidFill>
                  <a:srgbClr val="1F1E1E"/>
                </a:solidFill>
                <a:latin typeface="Arial"/>
              </a:rPr>
              <a:t>Project</a:t>
            </a:r>
            <a:r>
              <a:rPr sz="12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Control en Cowork = el dropdown de modo + los prompts de aprobar/redirigir por acción + el selector de carpeta. </a:t>
            </a:r>
            <a:r>
              <a:rPr sz="1250" b="1">
                <a:solidFill>
                  <a:srgbClr val="1F1E1E"/>
                </a:solidFill>
                <a:latin typeface="Arial"/>
              </a:rPr>
              <a:t>No hay slash commands</a:t>
            </a:r>
            <a:r>
              <a:rPr sz="1250" b="0">
                <a:solidFill>
                  <a:srgbClr val="1F1E1E"/>
                </a:solidFill>
                <a:latin typeface="Arial"/>
              </a:rPr>
              <a:t>: Cowork es GUI.</a:t>
            </a:r>
          </a:p>
        </p:txBody>
      </p:sp>
      <p:pic>
        <p:nvPicPr>
          <p:cNvPr id="5" name="Picture 4" descr="screenshot-cowork-tab.png"/>
          <p:cNvPicPr>
            <a:picLocks noChangeAspect="1"/>
          </p:cNvPicPr>
          <p:nvPr/>
        </p:nvPicPr>
        <p:blipFill>
          <a:blip r:embed="rId2"/>
          <a:stretch>
            <a:fillRect/>
          </a:stretch>
        </p:blipFill>
        <p:spPr>
          <a:xfrm>
            <a:off x="5486400" y="1891847"/>
            <a:ext cx="3200400" cy="211418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Los bloques de Cowork: cada problema, una pieza</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 idea.</a:t>
            </a:r>
            <a:r>
              <a:rPr sz="1250" b="0">
                <a:solidFill>
                  <a:srgbClr val="1F1E1E"/>
                </a:solidFill>
                <a:latin typeface="Arial"/>
              </a:rPr>
              <a:t> Cowork no se aprende como una lista de features sueltas, sino como </a:t>
            </a:r>
            <a:r>
              <a:rPr sz="1250" b="1">
                <a:solidFill>
                  <a:srgbClr val="1F1E1E"/>
                </a:solidFill>
                <a:latin typeface="Arial"/>
              </a:rPr>
              <a:t>bloques que se apilan</a:t>
            </a:r>
            <a:r>
              <a:rPr sz="1250" b="0">
                <a:solidFill>
                  <a:srgbClr val="1F1E1E"/>
                </a:solidFill>
                <a:latin typeface="Arial"/>
              </a:rPr>
              <a:t>: cada bloque resuelve un problema concreto y recurrente, y al sumarse vuelven al agente cada vez más rico y autónomo. </a:t>
            </a:r>
            <a:r>
              <a:rPr sz="1250" b="1">
                <a:solidFill>
                  <a:srgbClr val="1F1E1E"/>
                </a:solidFill>
                <a:latin typeface="Arial"/>
              </a:rPr>
              <a:t>Importante:</a:t>
            </a:r>
            <a:r>
              <a:rPr sz="1250" b="0">
                <a:solidFill>
                  <a:srgbClr val="1F1E1E"/>
                </a:solidFill>
                <a:latin typeface="Arial"/>
              </a:rPr>
              <a:t> estos bloques </a:t>
            </a:r>
            <a:r>
              <a:rPr sz="1250" b="1">
                <a:solidFill>
                  <a:srgbClr val="1F1E1E"/>
                </a:solidFill>
                <a:latin typeface="Arial"/>
              </a:rPr>
              <a:t>no</a:t>
            </a:r>
            <a:r>
              <a:rPr sz="1250" b="0">
                <a:solidFill>
                  <a:srgbClr val="1F1E1E"/>
                </a:solidFill>
                <a:latin typeface="Arial"/>
              </a:rPr>
              <a:t> son una escalera estricta — usás solo los que tu tarea necesita; se combinan, no se exigen unos a otros.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Este es el mapa de toda la charla.</a:t>
            </a:r>
            <a:r>
              <a:rPr sz="1250" b="0">
                <a:solidFill>
                  <a:srgbClr val="1F1E1E"/>
                </a:solidFill>
                <a:latin typeface="Arial"/>
              </a:rPr>
              <a:t> Vamos a </a:t>
            </a:r>
            <a:r>
              <a:rPr sz="1250" b="1">
                <a:solidFill>
                  <a:srgbClr val="1F1E1E"/>
                </a:solidFill>
                <a:latin typeface="Arial"/>
              </a:rPr>
              <a:t>recorrer cada bloque, uno por uno</a:t>
            </a:r>
            <a:r>
              <a:rPr sz="1250" b="0">
                <a:solidFill>
                  <a:srgbClr val="1F1E1E"/>
                </a:solidFill>
                <a:latin typeface="Arial"/>
              </a:rPr>
              <a:t>, en el resto de la sesión — en este orden. Volvé a esta slide como "estamos acá" cuando quieras ubicarte.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Cada bloque = un problema que ya tuviste:</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Un prompt / chatear</a:t>
            </a:r>
            <a:r>
              <a:rPr sz="1150" b="0">
                <a:solidFill>
                  <a:srgbClr val="1F1E1E"/>
                </a:solidFill>
                <a:latin typeface="Arial"/>
              </a:rPr>
              <a:t> → hago todo a mano, un mensaje a la vez.</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Instrucciones</a:t>
            </a:r>
            <a:r>
              <a:rPr sz="1150" b="0">
                <a:solidFill>
                  <a:srgbClr val="1F1E1E"/>
                </a:solidFill>
                <a:latin typeface="Arial"/>
              </a:rPr>
              <a:t> → no quiero repetir el contexto en cada prompt.</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Projects</a:t>
            </a:r>
            <a:r>
              <a:rPr sz="1150" b="0">
                <a:solidFill>
                  <a:srgbClr val="1F1E1E"/>
                </a:solidFill>
                <a:latin typeface="Arial"/>
              </a:rPr>
              <a:t> → quiero guardar y organizar todo en un lugar fijo.</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Skills</a:t>
            </a:r>
            <a:r>
              <a:rPr sz="1150" b="0">
                <a:solidFill>
                  <a:srgbClr val="1F1E1E"/>
                </a:solidFill>
                <a:latin typeface="Arial"/>
              </a:rPr>
              <a:t> → no quiero repetir la misma tarea.</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Connectors / MCP</a:t>
            </a:r>
            <a:r>
              <a:rPr sz="1150" b="0">
                <a:solidFill>
                  <a:srgbClr val="1F1E1E"/>
                </a:solidFill>
                <a:latin typeface="Arial"/>
              </a:rPr>
              <a:t> → quiero traer datos de mis herramientas.</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Schedule</a:t>
            </a:r>
            <a:r>
              <a:rPr sz="1150" b="0">
                <a:solidFill>
                  <a:srgbClr val="1F1E1E"/>
                </a:solidFill>
                <a:latin typeface="Arial"/>
              </a:rPr>
              <a:t> → quiero que corra solo.</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Live Artifacts</a:t>
            </a:r>
            <a:r>
              <a:rPr sz="1150" b="0">
                <a:solidFill>
                  <a:srgbClr val="1F1E1E"/>
                </a:solidFill>
                <a:latin typeface="Arial"/>
              </a:rPr>
              <a:t> → quiero compartir el resultado vivo — un colaborador que entrega solo.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Plugins, transversal.</a:t>
            </a:r>
            <a:r>
              <a:rPr sz="1250" b="0">
                <a:solidFill>
                  <a:srgbClr val="1F1E1E"/>
                </a:solidFill>
                <a:latin typeface="Arial"/>
              </a:rPr>
              <a:t> Hay una pieza que no es un bloque más en la pila: los </a:t>
            </a:r>
            <a:r>
              <a:rPr sz="1250" b="1">
                <a:solidFill>
                  <a:srgbClr val="1F1E1E"/>
                </a:solidFill>
                <a:latin typeface="Arial"/>
              </a:rPr>
              <a:t>Plugins</a:t>
            </a:r>
            <a:r>
              <a:rPr sz="1250" b="0">
                <a:solidFill>
                  <a:srgbClr val="1F1E1E"/>
                </a:solidFill>
                <a:latin typeface="Arial"/>
              </a:rPr>
              <a:t> son la </a:t>
            </a:r>
            <a:r>
              <a:rPr sz="1250" b="1">
                <a:solidFill>
                  <a:srgbClr val="1F1E1E"/>
                </a:solidFill>
                <a:latin typeface="Arial"/>
              </a:rPr>
              <a:t>capa transversal de distribución</a:t>
            </a:r>
            <a:r>
              <a:rPr sz="1250" b="0">
                <a:solidFill>
                  <a:srgbClr val="1F1E1E"/>
                </a:solidFill>
                <a:latin typeface="Arial"/>
              </a:rPr>
              <a:t> — empaquetan y reparten Skills, agentes y connectors a todos a la vez. La vemos al final de la charla (Sección 6).</a:t>
            </a:r>
          </a:p>
        </p:txBody>
      </p:sp>
      <p:pic>
        <p:nvPicPr>
          <p:cNvPr id="5" name="Picture 4" descr="s2-2-1-bloques-cowork.png"/>
          <p:cNvPicPr>
            <a:picLocks noChangeAspect="1"/>
          </p:cNvPicPr>
          <p:nvPr/>
        </p:nvPicPr>
        <p:blipFill>
          <a:blip r:embed="rId2"/>
          <a:stretch>
            <a:fillRect/>
          </a:stretch>
        </p:blipFill>
        <p:spPr>
          <a:xfrm>
            <a:off x="5486400" y="1489934"/>
            <a:ext cx="3200400" cy="2918011"/>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Instrucciones: ajustar el comportamiento sin repetirte</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Las Instrucciones son el "contrato de trabajo" del agente: reglas en lenguaje natural que valen para todo lo que hagas, sin tener que repetirlas en cada prompt.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Ejemplo (Atlas) — qué podría decir un Instructions.</a:t>
            </a:r>
            <a:r>
              <a:rPr sz="1250" b="0">
                <a:solidFill>
                  <a:srgbClr val="1F1E1E"/>
                </a:solidFill>
                <a:latin typeface="Arial"/>
              </a:rPr>
              <a:t> Quién es Atlas, qué empresas sigue, su audiencia, su tono y su regla de oro: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Una sola vez escribís esto; vale para todos los prompts del Project.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Cosas importantes a tener en cuenta.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Mantenelas cortas y claras; son lenguaje natural, no código.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Sirven para evitar repetir lo mismo en cada prompt: lo que decís una vez vale para todo el Project.</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Es el lugar para fijar reglas no negociables (como el disclaimer legal).</a:t>
            </a:r>
          </a:p>
        </p:txBody>
      </p:sp>
      <p:pic>
        <p:nvPicPr>
          <p:cNvPr id="5" name="Picture 4" descr="s2-3-1-tarjeta-instrucciones.png"/>
          <p:cNvPicPr>
            <a:picLocks noChangeAspect="1"/>
          </p:cNvPicPr>
          <p:nvPr/>
        </p:nvPicPr>
        <p:blipFill>
          <a:blip r:embed="rId2"/>
          <a:stretch>
            <a:fillRect/>
          </a:stretch>
        </p:blipFill>
        <p:spPr>
          <a:xfrm>
            <a:off x="5486400" y="1960581"/>
            <a:ext cx="3200400" cy="1976717"/>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Projects: guardar todo en un lugar fijo</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8183879" cy="34290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Un Project es un espacio de trabajo autocontenido: le da al agente una </a:t>
            </a:r>
            <a:r>
              <a:rPr sz="1250" b="1">
                <a:solidFill>
                  <a:srgbClr val="1F1E1E"/>
                </a:solidFill>
                <a:latin typeface="Arial"/>
              </a:rPr>
              <a:t>carpeta propia</a:t>
            </a:r>
            <a:r>
              <a:rPr sz="1250" b="0">
                <a:solidFill>
                  <a:srgbClr val="1F1E1E"/>
                </a:solidFill>
                <a:latin typeface="Arial"/>
              </a:rPr>
              <a:t>, </a:t>
            </a:r>
            <a:r>
              <a:rPr sz="1250" b="1">
                <a:solidFill>
                  <a:srgbClr val="1F1E1E"/>
                </a:solidFill>
                <a:latin typeface="Arial"/>
              </a:rPr>
              <a:t>memoria</a:t>
            </a:r>
            <a:r>
              <a:rPr sz="1250" b="0">
                <a:solidFill>
                  <a:srgbClr val="1F1E1E"/>
                </a:solidFill>
                <a:latin typeface="Arial"/>
              </a:rPr>
              <a:t> dentro del proyecto y un </a:t>
            </a:r>
            <a:r>
              <a:rPr sz="1250" b="1">
                <a:solidFill>
                  <a:srgbClr val="1F1E1E"/>
                </a:solidFill>
                <a:latin typeface="Arial"/>
              </a:rPr>
              <a:t>lugar fijo</a:t>
            </a:r>
            <a:r>
              <a:rPr sz="1250" b="0">
                <a:solidFill>
                  <a:srgbClr val="1F1E1E"/>
                </a:solidFill>
                <a:latin typeface="Arial"/>
              </a:rPr>
              <a:t> para sus tareas. Tiene tres capas persistentes: Instrucciones, base de conocimiento (Knowledge base) y Chats.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Ventajas.</a:t>
            </a:r>
            <a:r>
              <a:rPr sz="1250" b="0">
                <a:solidFill>
                  <a:srgbClr val="1F1E1E"/>
                </a:solidFill>
                <a:latin typeface="Arial"/>
              </a:rPr>
              <a:t> Todo queda organizado y reutilizable: las Instrucciones valen para todo el Project, la memoria recuerda tus correcciones y preferencias, y los archivos viven en una carpeta concreta de tu disco.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Cosas importantes a tener en cuenta.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Los chats dentro de un mismo Project </a:t>
            </a:r>
            <a:r>
              <a:rPr sz="1150" b="1">
                <a:solidFill>
                  <a:srgbClr val="1F1E1E"/>
                </a:solidFill>
                <a:latin typeface="Arial"/>
              </a:rPr>
              <a:t>no comparten contexto entre sí</a:t>
            </a:r>
            <a:r>
              <a:rPr sz="1150" b="0">
                <a:solidFill>
                  <a:srgbClr val="1F1E1E"/>
                </a:solidFill>
                <a:latin typeface="Arial"/>
              </a:rPr>
              <a:t> — solo se comparte la base de conocimiento.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En Cowork, qué carpetas se conceden lo controla el </a:t>
            </a:r>
            <a:r>
              <a:rPr sz="1150" b="1">
                <a:solidFill>
                  <a:srgbClr val="1F1E1E"/>
                </a:solidFill>
                <a:latin typeface="Arial"/>
              </a:rPr>
              <a:t>selector de carpetas del sistema operativo</a:t>
            </a:r>
            <a:r>
              <a:rPr sz="1150" b="0">
                <a:solidFill>
                  <a:srgbClr val="1F1E1E"/>
                </a:solidFill>
                <a:latin typeface="Arial"/>
              </a:rPr>
              <a:t>, no un archivo de configuración.</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Buena práctica: una carpeta de trabajo dedicada, para saber siempre qué está en alcance (y nunca conceder una carpeta con datos confidenciales o credenciales).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El selector de carpetas y el panel de contexto</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Conceder una carpeta de trabajo.</a:t>
            </a:r>
            <a:r>
              <a:rPr sz="1250" b="0">
                <a:solidFill>
                  <a:srgbClr val="1F1E1E"/>
                </a:solidFill>
                <a:latin typeface="Arial"/>
              </a:rPr>
              <a:t> Cowork no toca tu disco por sí solo: vos le concedés una carpeta con el </a:t>
            </a:r>
            <a:r>
              <a:rPr sz="1250" b="1">
                <a:solidFill>
                  <a:srgbClr val="1F1E1E"/>
                </a:solidFill>
                <a:latin typeface="Arial"/>
              </a:rPr>
              <a:t>selector de carpetas del sistema operativo</a:t>
            </a:r>
            <a:r>
              <a:rPr sz="1250" b="0">
                <a:solidFill>
                  <a:srgbClr val="1F1E1E"/>
                </a:solidFill>
                <a:latin typeface="Arial"/>
              </a:rPr>
              <a:t> (el mismo folder picker que usás para abrir cualquier archivo). Lo que quede fuera de esa carpeta, Cowork no lo ve.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El panel de contexto del Project.</a:t>
            </a:r>
            <a:r>
              <a:rPr sz="1250" b="0">
                <a:solidFill>
                  <a:srgbClr val="1F1E1E"/>
                </a:solidFill>
                <a:latin typeface="Arial"/>
              </a:rPr>
              <a:t> Es donde viven las Instrucciones, la base de conocimiento y la carpeta concedida — la "foto" de todo lo que el agente tiene a mano para ese Project.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Nota de seguridad.</a:t>
            </a:r>
            <a:r>
              <a:rPr sz="1250" b="0">
                <a:solidFill>
                  <a:srgbClr val="1F1E1E"/>
                </a:solidFill>
                <a:latin typeface="Arial"/>
              </a:rPr>
              <a:t> El selector es a la vez tu garantía y tu límite: Cowork solo trabaja sobre lo que le concedés. </a:t>
            </a:r>
            <a:r>
              <a:rPr sz="1250" b="1">
                <a:solidFill>
                  <a:srgbClr val="1F1E1E"/>
                </a:solidFill>
                <a:latin typeface="Arial"/>
              </a:rPr>
              <a:t>Nunca concedas una carpeta con datos sensibles, credenciales o información bajo NDA.</a:t>
            </a:r>
            <a:r>
              <a:rPr sz="1250" b="0">
                <a:solidFill>
                  <a:srgbClr val="1F1E1E"/>
                </a:solidFill>
                <a:latin typeface="Arial"/>
              </a:rPr>
              <a:t> Buena práctica: una carpeta dedicada por Project, para saber siempre qué está en alcance.</a:t>
            </a:r>
          </a:p>
        </p:txBody>
      </p:sp>
      <p:pic>
        <p:nvPicPr>
          <p:cNvPr id="5" name="Picture 4" descr="project.png"/>
          <p:cNvPicPr>
            <a:picLocks noChangeAspect="1"/>
          </p:cNvPicPr>
          <p:nvPr/>
        </p:nvPicPr>
        <p:blipFill>
          <a:blip r:embed="rId2"/>
          <a:stretch>
            <a:fillRect/>
          </a:stretch>
        </p:blipFill>
        <p:spPr>
          <a:xfrm>
            <a:off x="5486400" y="1378975"/>
            <a:ext cx="3200400" cy="1388852"/>
          </a:xfrm>
          <a:prstGeom prst="rect">
            <a:avLst/>
          </a:prstGeom>
        </p:spPr>
      </p:pic>
      <p:pic>
        <p:nvPicPr>
          <p:cNvPr id="6" name="Picture 5" descr="context.png"/>
          <p:cNvPicPr>
            <a:picLocks noChangeAspect="1"/>
          </p:cNvPicPr>
          <p:nvPr/>
        </p:nvPicPr>
        <p:blipFill>
          <a:blip r:embed="rId3"/>
          <a:stretch>
            <a:fillRect/>
          </a:stretch>
        </p:blipFill>
        <p:spPr>
          <a:xfrm>
            <a:off x="5486400" y="3130051"/>
            <a:ext cx="3200400" cy="1388852"/>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03</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Extender Cowork: Skills y el rol de los archivos MD / metadata</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Que la audiencia sepa crear y habilitar Skills en Cowork (con su trampa específica del Save), y entienda — como sideway de alto nivel — por qué los archivos Markdown con metadata son el lenguaje común sobre el que se configura todo en el mundo LLM.</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Skills: enseñarle a Claude algo una sola vez</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8183879" cy="34290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Una Skill es una instrucción reutilizable (+ scripts opcionales) que el agente carga cuando tu pedido coincide con su descripción. Un trabajo por Skill: "si escribís 'y además', dividila en dos". La frase clave: "Todo lo que le explicás a Claude dos veces es una Skill que deberías escribir una vez."</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Cómo se crea una Skill en Cowork.</a:t>
            </a:r>
            <a:r>
              <a:rPr sz="1250" b="0">
                <a:solidFill>
                  <a:srgbClr val="1F1E1E"/>
                </a:solidFill>
                <a:latin typeface="Arial"/>
              </a:rPr>
              <a:t> Dos caminos reales (Cowork es GUI: </a:t>
            </a:r>
            <a:r>
              <a:rPr sz="1250" b="1">
                <a:solidFill>
                  <a:srgbClr val="1F1E1E"/>
                </a:solidFill>
                <a:latin typeface="Arial"/>
              </a:rPr>
              <a:t>no hay slash commands</a:t>
            </a:r>
            <a:r>
              <a:rPr sz="1250" b="0">
                <a:solidFill>
                  <a:srgbClr val="1F1E1E"/>
                </a:solidFill>
                <a:latin typeface="Arial"/>
              </a:rPr>
              <a:t>):</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1. </a:t>
            </a:r>
            <a:r>
              <a:rPr sz="1150" b="1">
                <a:solidFill>
                  <a:srgbClr val="1F1E1E"/>
                </a:solidFill>
                <a:latin typeface="Arial"/>
              </a:rPr>
              <a:t>Pedísela en lenguaje natural</a:t>
            </a:r>
            <a:r>
              <a:rPr sz="1150" b="0">
                <a:solidFill>
                  <a:srgbClr val="1F1E1E"/>
                </a:solidFill>
                <a:latin typeface="Arial"/>
              </a:rPr>
              <a:t> — "armame una Skill que haga X". Claude </a:t>
            </a:r>
            <a:r>
              <a:rPr sz="1150" b="1">
                <a:solidFill>
                  <a:srgbClr val="1F1E1E"/>
                </a:solidFill>
                <a:latin typeface="Arial"/>
              </a:rPr>
              <a:t>escribe el archivo `SKILL.md`</a:t>
            </a:r>
            <a:r>
              <a:rPr sz="1150" b="0">
                <a:solidFill>
                  <a:srgbClr val="1F1E1E"/>
                </a:solidFill>
                <a:latin typeface="Arial"/>
              </a:rPr>
              <a:t>, pero Cowork </a:t>
            </a:r>
            <a:r>
              <a:rPr sz="1150" b="1">
                <a:solidFill>
                  <a:srgbClr val="1F1E1E"/>
                </a:solidFill>
                <a:latin typeface="Arial"/>
              </a:rPr>
              <a:t>NO la registra/habilita</a:t>
            </a:r>
            <a:r>
              <a:rPr sz="1150" b="0">
                <a:solidFill>
                  <a:srgbClr val="1F1E1E"/>
                </a:solidFill>
                <a:latin typeface="Arial"/>
              </a:rPr>
              <a:t> solo. Tenés que </a:t>
            </a:r>
            <a:r>
              <a:rPr sz="1150" b="1">
                <a:solidFill>
                  <a:srgbClr val="1F1E1E"/>
                </a:solidFill>
                <a:latin typeface="Arial"/>
              </a:rPr>
              <a:t>habilitarla</a:t>
            </a:r>
            <a:r>
              <a:rPr sz="1150" b="0">
                <a:solidFill>
                  <a:srgbClr val="1F1E1E"/>
                </a:solidFill>
                <a:latin typeface="Arial"/>
              </a:rPr>
              <a:t> en </a:t>
            </a:r>
            <a:r>
              <a:rPr sz="1150" b="1">
                <a:solidFill>
                  <a:srgbClr val="1F1E1E"/>
                </a:solidFill>
                <a:latin typeface="Arial"/>
              </a:rPr>
              <a:t>Customize → Skills</a:t>
            </a:r>
            <a:r>
              <a:rPr sz="1150" b="0">
                <a:solidFill>
                  <a:srgbClr val="1F1E1E"/>
                </a:solidFill>
                <a:latin typeface="Arial"/>
              </a:rPr>
              <a:t> (el botón </a:t>
            </a:r>
            <a:r>
              <a:rPr sz="1150" b="1">
                <a:solidFill>
                  <a:srgbClr val="1F1E1E"/>
                </a:solidFill>
                <a:latin typeface="Arial"/>
              </a:rPr>
              <a:t>Save skill / Save to enable</a:t>
            </a:r>
            <a:r>
              <a:rPr sz="1150" b="0">
                <a:solidFill>
                  <a:srgbClr val="1F1E1E"/>
                </a:solidFill>
                <a:latin typeface="Arial"/>
              </a:rPr>
              <a:t>). Recién ahí queda activa.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2. </a:t>
            </a:r>
            <a:r>
              <a:rPr sz="1150" b="1">
                <a:solidFill>
                  <a:srgbClr val="1F1E1E"/>
                </a:solidFill>
                <a:latin typeface="Arial"/>
              </a:rPr>
              <a:t>Subís un ZIP</a:t>
            </a:r>
            <a:r>
              <a:rPr sz="1150" b="0">
                <a:solidFill>
                  <a:srgbClr val="1F1E1E"/>
                </a:solidFill>
                <a:latin typeface="Arial"/>
              </a:rPr>
              <a:t> — empaquetás la carpeta de la Skill como `.zip` y la cargás en </a:t>
            </a:r>
            <a:r>
              <a:rPr sz="1150" b="1">
                <a:solidFill>
                  <a:srgbClr val="1F1E1E"/>
                </a:solidFill>
                <a:latin typeface="Arial"/>
              </a:rPr>
              <a:t>Customize → Skills → "+" → Create skill → Upload a skill</a:t>
            </a:r>
            <a:r>
              <a:rPr sz="1150" b="0">
                <a:solidFill>
                  <a:srgbClr val="1F1E1E"/>
                </a:solidFill>
                <a:latin typeface="Arial"/>
              </a:rPr>
              <a:t>, y la activás con el toggle.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Requisito.</a:t>
            </a:r>
            <a:r>
              <a:rPr sz="1250" b="0">
                <a:solidFill>
                  <a:srgbClr val="1F1E1E"/>
                </a:solidFill>
                <a:latin typeface="Arial"/>
              </a:rPr>
              <a:t> Las Skills necesitan </a:t>
            </a:r>
            <a:r>
              <a:rPr sz="1250" b="1">
                <a:solidFill>
                  <a:srgbClr val="1F1E1E"/>
                </a:solidFill>
                <a:latin typeface="Arial"/>
              </a:rPr>
              <a:t>Code execution</a:t>
            </a:r>
            <a:r>
              <a:rPr sz="1250" b="0">
                <a:solidFill>
                  <a:srgbClr val="1F1E1E"/>
                </a:solidFill>
                <a:latin typeface="Arial"/>
              </a:rPr>
              <a:t> habilitado (Settings → Capabilities).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OJO — la trampa del Save (camino 1).</a:t>
            </a:r>
            <a:r>
              <a:rPr sz="1250" b="0">
                <a:solidFill>
                  <a:srgbClr val="1F1E1E"/>
                </a:solidFill>
                <a:latin typeface="Arial"/>
              </a:rPr>
              <a:t> Es el error más común: pedís la Skill, Claude escribe el archivo… pero si no le das </a:t>
            </a:r>
            <a:r>
              <a:rPr sz="1250" b="1">
                <a:solidFill>
                  <a:srgbClr val="1F1E1E"/>
                </a:solidFill>
                <a:latin typeface="Arial"/>
              </a:rPr>
              <a:t>Save / enable</a:t>
            </a:r>
            <a:r>
              <a:rPr sz="1250" b="0">
                <a:solidFill>
                  <a:srgbClr val="1F1E1E"/>
                </a:solidFill>
                <a:latin typeface="Arial"/>
              </a:rPr>
              <a:t> en Customize, no queda habilitada y parece que "no funciona".</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Ejemplo (Atlas).</a:t>
            </a:r>
            <a:r>
              <a:rPr sz="1250" b="0">
                <a:solidFill>
                  <a:srgbClr val="1F1E1E"/>
                </a:solidFill>
                <a:latin typeface="Arial"/>
              </a:rPr>
              <a:t> La Skill `reporte-semanal`: lee TODOS los archivos crudos de una carpeta `fuentes/` (uno por portal), consolida por empresa y genera un reporte con formato fijo. La empresa más relevante va primera (★). Guarda con sufijo `-new` para no pisar el ejemplo.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(Sideway) Archivos MD y metadata: el lenguaje común del mundo LLM</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8183879" cy="34290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Casi todo lo que configurás alrededor de un agente — Instrucciones, Skills (`SKILL.md`), archivos de agentes, docs de plugins, salidas — es texto plano en </a:t>
            </a:r>
            <a:r>
              <a:rPr sz="1250" b="1">
                <a:solidFill>
                  <a:srgbClr val="1F1E1E"/>
                </a:solidFill>
                <a:latin typeface="Arial"/>
              </a:rPr>
              <a:t>Markdown</a:t>
            </a:r>
            <a:r>
              <a:rPr sz="1250" b="0">
                <a:solidFill>
                  <a:srgbClr val="1F1E1E"/>
                </a:solidFill>
                <a:latin typeface="Arial"/>
              </a:rPr>
              <a:t> (`.md`). Markdown es la lingua franca del mundo LLM.</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Qué es la metadata / los headers.</a:t>
            </a:r>
            <a:r>
              <a:rPr sz="1250" b="0">
                <a:solidFill>
                  <a:srgbClr val="1F1E1E"/>
                </a:solidFill>
                <a:latin typeface="Arial"/>
              </a:rPr>
              <a:t> Muchos de esos archivos arrancan con un bloque de </a:t>
            </a:r>
            <a:r>
              <a:rPr sz="1250" b="1">
                <a:solidFill>
                  <a:srgbClr val="1F1E1E"/>
                </a:solidFill>
                <a:latin typeface="Arial"/>
              </a:rPr>
              <a:t>metadata</a:t>
            </a:r>
            <a:r>
              <a:rPr sz="1250" b="0">
                <a:solidFill>
                  <a:srgbClr val="1F1E1E"/>
                </a:solidFill>
                <a:latin typeface="Arial"/>
              </a:rPr>
              <a:t> (un "header" en YAML): por ejemplo, un `SKILL.md` declara `name` y `description`. Esa descripción es lo que dispara la Skill — de forma semántica, no por palabra clave.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Por qué esto es importante en el mundo LLM.</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El modelo lee texto: si la configuración es texto plano legible, el agente la entiende directamente, sin formato propietario.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La metadata le dice al sistema qué es cada archivo y cuándo usarlo (la `description` de una Skill decide cuándo se activa).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Es portable y versionable: el mismo estándar `SKILL.md` funciona entre herramientas (Cowork y Codex usan el mismo formato).</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Nota de alcance: esto es un sideway de alto nivel — qué es y por qué importa. No entramos en el detalle del formato de archivos.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Anatomía de un SKILL.md</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Así se ve un `SKILL.md` por dentro: un </a:t>
            </a:r>
            <a:r>
              <a:rPr sz="1250" b="1">
                <a:solidFill>
                  <a:srgbClr val="1F1E1E"/>
                </a:solidFill>
                <a:latin typeface="Arial"/>
              </a:rPr>
              <a:t>bloque de metadata</a:t>
            </a:r>
            <a:r>
              <a:rPr sz="1250" b="0">
                <a:solidFill>
                  <a:srgbClr val="1F1E1E"/>
                </a:solidFill>
                <a:latin typeface="Arial"/>
              </a:rPr>
              <a:t> arriba y el </a:t>
            </a:r>
            <a:r>
              <a:rPr sz="1250" b="1">
                <a:solidFill>
                  <a:srgbClr val="1F1E1E"/>
                </a:solidFill>
                <a:latin typeface="Arial"/>
              </a:rPr>
              <a:t>cuerpo de instrucciones</a:t>
            </a:r>
            <a:r>
              <a:rPr sz="1250" b="0">
                <a:solidFill>
                  <a:srgbClr val="1F1E1E"/>
                </a:solidFill>
                <a:latin typeface="Arial"/>
              </a:rPr>
              <a:t> abajo. Nada más — es texto plano.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 metadata (el header).</a:t>
            </a:r>
            <a:r>
              <a:rPr sz="1250" b="0">
                <a:solidFill>
                  <a:srgbClr val="1F1E1E"/>
                </a:solidFill>
                <a:latin typeface="Arial"/>
              </a:rPr>
              <a:t> `name` identifica la Skill; `description` es lo que </a:t>
            </a:r>
            <a:r>
              <a:rPr sz="1250" b="1">
                <a:solidFill>
                  <a:srgbClr val="1F1E1E"/>
                </a:solidFill>
                <a:latin typeface="Arial"/>
              </a:rPr>
              <a:t>decide cuándo se activa</a:t>
            </a:r>
            <a:r>
              <a:rPr sz="1250" b="0">
                <a:solidFill>
                  <a:srgbClr val="1F1E1E"/>
                </a:solidFill>
                <a:latin typeface="Arial"/>
              </a:rPr>
              <a:t> — de forma semántica, no por palabra clave exacta. Una buena `description` = la Skill se dispara cuando corresponde.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El cuerpo.</a:t>
            </a:r>
            <a:r>
              <a:rPr sz="1250" b="0">
                <a:solidFill>
                  <a:srgbClr val="1F1E1E"/>
                </a:solidFill>
                <a:latin typeface="Arial"/>
              </a:rPr>
              <a:t> Markdown común: los pasos que el agente sigue cuando la Skill se activa.</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Nota de alcance: reforzamos el sideway anterior (MD + metadata) con un ejemplo tangible — no entramos en el detalle fino del formato.</a:t>
            </a:r>
          </a:p>
        </p:txBody>
      </p:sp>
      <p:pic>
        <p:nvPicPr>
          <p:cNvPr id="5" name="Picture 4" descr="s3-3-1-anatomia-skill-md.png"/>
          <p:cNvPicPr>
            <a:picLocks noChangeAspect="1"/>
          </p:cNvPicPr>
          <p:nvPr/>
        </p:nvPicPr>
        <p:blipFill>
          <a:blip r:embed="rId2"/>
          <a:stretch>
            <a:fillRect/>
          </a:stretch>
        </p:blipFill>
        <p:spPr>
          <a:xfrm>
            <a:off x="5486400" y="1842919"/>
            <a:ext cx="3200400" cy="2212041"/>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04</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Conectar y automatizar: Connectors/MCP y Schedule</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Que la audiencia entienda cómo Cowork toca el mundo exterior (Connectors vía MCP) y cómo pasa de reactivo a proactivo (Schedule), con la trampa de "la app tiene que estar abierta".</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Connectors y MCP: las "manos" del agente</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Qué son los Connectors.</a:t>
            </a:r>
            <a:r>
              <a:rPr sz="1250" b="0">
                <a:solidFill>
                  <a:srgbClr val="1F1E1E"/>
                </a:solidFill>
                <a:latin typeface="Arial"/>
              </a:rPr>
              <a:t> Son lo que le permite al agente tocar sistemas externos que de otro modo no podría: Drive, Gmail, Slack, bases de datos, APIs. "Las manos: lo que el agente puede tocar que de otro modo no podría."</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Qué es MCP (Model Context Protocol).</a:t>
            </a:r>
            <a:r>
              <a:rPr sz="1250" b="0">
                <a:solidFill>
                  <a:srgbClr val="1F1E1E"/>
                </a:solidFill>
                <a:latin typeface="Arial"/>
              </a:rPr>
              <a:t> El estándar detrás de los Connectors: una forma estandarizada de conectar Claude con sistemas externos. Cualquier app que exponga un servidor MCP se vuelve algo con lo que podés "hablar" (Figma, Vercel, Cal.com, Home Assistant…). El patrón: la plataforma abre sus internals como herramientas MCP; el agente no gana una capacidad nueva, la plataforma se vuelve conversacional.</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En la próxima slide vemos </a:t>
            </a:r>
            <a:r>
              <a:rPr sz="1250" b="1">
                <a:solidFill>
                  <a:srgbClr val="1F1E1E"/>
                </a:solidFill>
                <a:latin typeface="Arial"/>
              </a:rPr>
              <a:t>cómo se registra un Connector</a:t>
            </a:r>
            <a:r>
              <a:rPr sz="1250" b="0">
                <a:solidFill>
                  <a:srgbClr val="1F1E1E"/>
                </a:solidFill>
                <a:latin typeface="Arial"/>
              </a:rPr>
              <a:t> en la práctica (directorio + un clic).</a:t>
            </a:r>
          </a:p>
        </p:txBody>
      </p:sp>
      <p:pic>
        <p:nvPicPr>
          <p:cNvPr id="5" name="Picture 4" descr="s4-1-1-flujo-connector-mcp.png"/>
          <p:cNvPicPr>
            <a:picLocks noChangeAspect="1"/>
          </p:cNvPicPr>
          <p:nvPr/>
        </p:nvPicPr>
        <p:blipFill>
          <a:blip r:embed="rId2"/>
          <a:stretch>
            <a:fillRect/>
          </a:stretch>
        </p:blipFill>
        <p:spPr>
          <a:xfrm>
            <a:off x="5486400" y="2337098"/>
            <a:ext cx="3200400" cy="1223682"/>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Cómo se registra un Connector</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No estás programando: te conectás.</a:t>
            </a:r>
            <a:r>
              <a:rPr sz="1250" b="0">
                <a:solidFill>
                  <a:srgbClr val="1F1E1E"/>
                </a:solidFill>
                <a:latin typeface="Arial"/>
              </a:rPr>
              <a:t> Registrar un Connector es como conectar Gmail a una app nueva — buscás el servicio en un directorio y le das </a:t>
            </a:r>
            <a:r>
              <a:rPr sz="1250" b="1">
                <a:solidFill>
                  <a:srgbClr val="1F1E1E"/>
                </a:solidFill>
                <a:latin typeface="Arial"/>
              </a:rPr>
              <a:t>Connect</a:t>
            </a:r>
            <a:r>
              <a:rPr sz="1250" b="0">
                <a:solidFill>
                  <a:srgbClr val="1F1E1E"/>
                </a:solidFill>
                <a:latin typeface="Arial"/>
              </a:rPr>
              <a:t>. Configurado por la UI; no hay archivo local que editar.</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El directorio de Connectors.</a:t>
            </a:r>
            <a:r>
              <a:rPr sz="1250" b="0">
                <a:solidFill>
                  <a:srgbClr val="1F1E1E"/>
                </a:solidFill>
                <a:latin typeface="Arial"/>
              </a:rPr>
              <a:t> Cowork trae un </a:t>
            </a:r>
            <a:r>
              <a:rPr sz="1250" b="1">
                <a:solidFill>
                  <a:srgbClr val="1F1E1E"/>
                </a:solidFill>
                <a:latin typeface="Arial"/>
              </a:rPr>
              <a:t>directorio</a:t>
            </a:r>
            <a:r>
              <a:rPr sz="1250" b="0">
                <a:solidFill>
                  <a:srgbClr val="1F1E1E"/>
                </a:solidFill>
                <a:latin typeface="Arial"/>
              </a:rPr>
              <a:t> con servicios listos para conectar de un clic:</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Conexión de un clic.</a:t>
            </a:r>
            <a:r>
              <a:rPr sz="1250" b="0">
                <a:solidFill>
                  <a:srgbClr val="1F1E1E"/>
                </a:solidFill>
                <a:latin typeface="Arial"/>
              </a:rPr>
              <a:t> Buscás el servicio, le das </a:t>
            </a:r>
            <a:r>
              <a:rPr sz="1250" b="1">
                <a:solidFill>
                  <a:srgbClr val="1F1E1E"/>
                </a:solidFill>
                <a:latin typeface="Arial"/>
              </a:rPr>
              <a:t>Connect</a:t>
            </a:r>
            <a:r>
              <a:rPr sz="1250" b="0">
                <a:solidFill>
                  <a:srgbClr val="1F1E1E"/>
                </a:solidFill>
                <a:latin typeface="Arial"/>
              </a:rPr>
              <a:t> y autorizás — y queda disponible para el agente: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Ejemplo (Atlas).</a:t>
            </a:r>
            <a:r>
              <a:rPr sz="1250" b="0">
                <a:solidFill>
                  <a:srgbClr val="1F1E1E"/>
                </a:solidFill>
                <a:latin typeface="Arial"/>
              </a:rPr>
              <a:t> </a:t>
            </a:r>
            <a:r>
              <a:rPr sz="1250" b="1">
                <a:solidFill>
                  <a:srgbClr val="1F1E1E"/>
                </a:solidFill>
                <a:latin typeface="Arial"/>
              </a:rPr>
              <a:t>MT Newswires</a:t>
            </a:r>
            <a:r>
              <a:rPr sz="1250" b="0">
                <a:solidFill>
                  <a:srgbClr val="1F1E1E"/>
                </a:solidFill>
                <a:latin typeface="Arial"/>
              </a:rPr>
              <a:t> ya tiene un connector listo: lo buscás y le das Connect, como cualquier app. </a:t>
            </a:r>
            <a:r>
              <a:rPr sz="1250" b="1">
                <a:solidFill>
                  <a:srgbClr val="1F1E1E"/>
                </a:solidFill>
                <a:latin typeface="Arial"/>
              </a:rPr>
              <a:t>Gmail</a:t>
            </a:r>
            <a:r>
              <a:rPr sz="1250" b="0">
                <a:solidFill>
                  <a:srgbClr val="1F1E1E"/>
                </a:solidFill>
                <a:latin typeface="Arial"/>
              </a:rPr>
              <a:t>, igual: un clic en el directorio. Con eso, Atlas pasa a leer noticias de mercado y a dejar borradores de correo — sin que vos programes nada.</a:t>
            </a:r>
          </a:p>
        </p:txBody>
      </p:sp>
      <p:pic>
        <p:nvPicPr>
          <p:cNvPr id="5" name="Picture 4" descr="connectors_directory.png"/>
          <p:cNvPicPr>
            <a:picLocks noChangeAspect="1"/>
          </p:cNvPicPr>
          <p:nvPr/>
        </p:nvPicPr>
        <p:blipFill>
          <a:blip r:embed="rId2"/>
          <a:stretch>
            <a:fillRect/>
          </a:stretch>
        </p:blipFill>
        <p:spPr>
          <a:xfrm>
            <a:off x="6057094" y="1280160"/>
            <a:ext cx="2059010" cy="1586484"/>
          </a:xfrm>
          <a:prstGeom prst="rect">
            <a:avLst/>
          </a:prstGeom>
        </p:spPr>
      </p:pic>
      <p:pic>
        <p:nvPicPr>
          <p:cNvPr id="6" name="Picture 5" descr="connector_browser.png"/>
          <p:cNvPicPr>
            <a:picLocks noChangeAspect="1"/>
          </p:cNvPicPr>
          <p:nvPr/>
        </p:nvPicPr>
        <p:blipFill>
          <a:blip r:embed="rId3"/>
          <a:stretch>
            <a:fillRect/>
          </a:stretch>
        </p:blipFill>
        <p:spPr>
          <a:xfrm>
            <a:off x="5486400" y="3118274"/>
            <a:ext cx="3200400" cy="1412407"/>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Schedule: que Cowork trabaje solo</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Para qué sirve.</a:t>
            </a:r>
            <a:r>
              <a:rPr sz="1250" b="0">
                <a:solidFill>
                  <a:srgbClr val="1F1E1E"/>
                </a:solidFill>
                <a:latin typeface="Arial"/>
              </a:rPr>
              <a:t> Todo lo anterior es reactivo (vos pedís, Claude hace). Schedule hace a Cowork </a:t>
            </a:r>
            <a:r>
              <a:rPr sz="1250" b="1">
                <a:solidFill>
                  <a:srgbClr val="1F1E1E"/>
                </a:solidFill>
                <a:latin typeface="Arial"/>
              </a:rPr>
              <a:t>proactivo</a:t>
            </a:r>
            <a:r>
              <a:rPr sz="1250" b="0">
                <a:solidFill>
                  <a:srgbClr val="1F1E1E"/>
                </a:solidFill>
                <a:latin typeface="Arial"/>
              </a:rPr>
              <a:t>: describís una tarea una vez, elegís una cadencia, y Claude la corre solo.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Cómo funciona.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Describís la tarea una vez; Claude guarda el prompt como las instrucciones de la tarea.</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Elegís cadencia: por hora · diaria · semanal · días de semana · o </a:t>
            </a:r>
            <a:r>
              <a:rPr sz="1150" b="1">
                <a:solidFill>
                  <a:srgbClr val="1F1E1E"/>
                </a:solidFill>
                <a:latin typeface="Arial"/>
              </a:rPr>
              <a:t>a demanda</a:t>
            </a:r>
            <a:r>
              <a:rPr sz="1150" b="0">
                <a:solidFill>
                  <a:srgbClr val="1F1E1E"/>
                </a:solidFill>
                <a:latin typeface="Arial"/>
              </a:rPr>
              <a:t> ("Run now").</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Cada corrida abre su </a:t>
            </a:r>
            <a:r>
              <a:rPr sz="1150" b="1">
                <a:solidFill>
                  <a:srgbClr val="1F1E1E"/>
                </a:solidFill>
                <a:latin typeface="Arial"/>
              </a:rPr>
              <a:t>propia sesión fresca de Cowork</a:t>
            </a:r>
            <a:r>
              <a:rPr sz="1150" b="0">
                <a:solidFill>
                  <a:srgbClr val="1F1E1E"/>
                </a:solidFill>
                <a:latin typeface="Arial"/>
              </a:rPr>
              <a:t> y avisa al terminar.</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Tiene los </a:t>
            </a:r>
            <a:r>
              <a:rPr sz="1150" b="1">
                <a:solidFill>
                  <a:srgbClr val="1F1E1E"/>
                </a:solidFill>
                <a:latin typeface="Arial"/>
              </a:rPr>
              <a:t>mismos poderes</a:t>
            </a:r>
            <a:r>
              <a:rPr sz="1150" b="0">
                <a:solidFill>
                  <a:srgbClr val="1F1E1E"/>
                </a:solidFill>
                <a:latin typeface="Arial"/>
              </a:rPr>
              <a:t> que una tarea normal: connectors, skills, plugins instalados.</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Vive en la pestaña </a:t>
            </a:r>
            <a:r>
              <a:rPr sz="1150" b="1">
                <a:solidFill>
                  <a:srgbClr val="1F1E1E"/>
                </a:solidFill>
                <a:latin typeface="Arial"/>
              </a:rPr>
              <a:t>Scheduled</a:t>
            </a:r>
            <a:r>
              <a:rPr sz="1150" b="0">
                <a:solidFill>
                  <a:srgbClr val="1F1E1E"/>
                </a:solidFill>
                <a:latin typeface="Arial"/>
              </a:rPr>
              <a:t> de la barra lateral.</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 LA trampa — corre LOCAL, no en la nube.</a:t>
            </a:r>
            <a:r>
              <a:rPr sz="1250" b="0">
                <a:solidFill>
                  <a:srgbClr val="1F1E1E"/>
                </a:solidFill>
                <a:latin typeface="Arial"/>
              </a:rPr>
              <a:t> Las tareas programadas de Cowork corren </a:t>
            </a:r>
            <a:r>
              <a:rPr sz="1250" b="1">
                <a:solidFill>
                  <a:srgbClr val="1F1E1E"/>
                </a:solidFill>
                <a:latin typeface="Arial"/>
              </a:rPr>
              <a:t>en tu computadora</a:t>
            </a:r>
            <a:r>
              <a:rPr sz="1250" b="0">
                <a:solidFill>
                  <a:srgbClr val="1F1E1E"/>
                </a:solidFill>
                <a:latin typeface="Arial"/>
              </a:rPr>
              <a:t>, no en servidores de Anthropic. Solo se disparan </a:t>
            </a:r>
            <a:r>
              <a:rPr sz="1250" b="1">
                <a:solidFill>
                  <a:srgbClr val="1F1E1E"/>
                </a:solidFill>
                <a:latin typeface="Arial"/>
              </a:rPr>
              <a:t>con la máquina encendida y la app de Claude Desktop abierta</a:t>
            </a:r>
            <a:r>
              <a:rPr sz="1250" b="0">
                <a:solidFill>
                  <a:srgbClr val="1F1E1E"/>
                </a:solidFill>
                <a:latin typeface="Arial"/>
              </a:rPr>
              <a:t>. Si estaba dormida/cerrada a la hora prevista, la corrida se </a:t>
            </a:r>
            <a:r>
              <a:rPr sz="1250" b="1">
                <a:solidFill>
                  <a:srgbClr val="1F1E1E"/>
                </a:solidFill>
                <a:latin typeface="Arial"/>
              </a:rPr>
              <a:t>saltea</a:t>
            </a:r>
            <a:r>
              <a:rPr sz="1250" b="0">
                <a:solidFill>
                  <a:srgbClr val="1F1E1E"/>
                </a:solidFill>
                <a:latin typeface="Arial"/>
              </a:rPr>
              <a:t> — y se ejecuta automáticamente apenas la máquina despierta o reabrís la app (con aviso de "esto se saltó"). No esperes que tu laptop apagada genere el reporte del lunes.</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(Aparte, fuera de alcance:) existen agentes programados </a:t>
            </a:r>
            <a:r>
              <a:rPr sz="1150" b="1">
                <a:solidFill>
                  <a:srgbClr val="1F1E1E"/>
                </a:solidFill>
                <a:latin typeface="Arial"/>
              </a:rPr>
              <a:t>alojados en la nube</a:t>
            </a:r>
            <a:r>
              <a:rPr sz="1150" b="0">
                <a:solidFill>
                  <a:srgbClr val="1F1E1E"/>
                </a:solidFill>
                <a:latin typeface="Arial"/>
              </a:rPr>
              <a:t>, pero son una funcionalidad separada — no es lo que hace el Schedule de Cowork.</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Ejemplo (Atlas).</a:t>
            </a:r>
            <a:r>
              <a:rPr sz="1250" b="0">
                <a:solidFill>
                  <a:srgbClr val="1F1E1E"/>
                </a:solidFill>
                <a:latin typeface="Arial"/>
              </a:rPr>
              <a:t> Cada lunes 8:00: `buscar-accion` → `reporte-semanal` → dejar el reporte como borrador en Gmail, listo antes de la reunión de las 9:00. Tip de demo: no esperar al lunes, usar "Run on demand".</a:t>
            </a:r>
          </a:p>
        </p:txBody>
      </p:sp>
      <p:pic>
        <p:nvPicPr>
          <p:cNvPr id="5" name="Picture 4" descr="schedule.png"/>
          <p:cNvPicPr>
            <a:picLocks noChangeAspect="1"/>
          </p:cNvPicPr>
          <p:nvPr/>
        </p:nvPicPr>
        <p:blipFill>
          <a:blip r:embed="rId2"/>
          <a:stretch>
            <a:fillRect/>
          </a:stretch>
        </p:blipFill>
        <p:spPr>
          <a:xfrm>
            <a:off x="5486400" y="1641084"/>
            <a:ext cx="3200400" cy="2615711"/>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05</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Compartir resultados: Live Artifacts</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Que la audiencia entienda qué es un Artifact, la distinción entre Artifact estándar y Live Artifact, y cómo se comparte el resultado con el equipo — cerrando el loop completo de la misión Atlas.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Artifacts y Live Artifacts: del resultado a algo compartible</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Qué es un Artifact.</a:t>
            </a:r>
            <a:r>
              <a:rPr sz="1250" b="0">
                <a:solidFill>
                  <a:srgbClr val="1F1E1E"/>
                </a:solidFill>
                <a:latin typeface="Arial"/>
              </a:rPr>
              <a:t> Una salida viva y ejecutable que se renderiza en un panel lateral: componentes React, páginas HTML, gráficos SVG, diagramas, tablas, documentos descargables.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Distinción live vs no-live (breve).</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Artifact estándar</a:t>
            </a:r>
            <a:r>
              <a:rPr sz="1150" b="0">
                <a:solidFill>
                  <a:srgbClr val="1F1E1E"/>
                </a:solidFill>
                <a:latin typeface="Arial"/>
              </a:rPr>
              <a:t> (todos los planes): salida de un solo archivo, estática — lo que generás es lo que queda.</a:t>
            </a:r>
          </a:p>
          <a:p>
            <a:pPr lvl="1">
              <a:lnSpc>
                <a:spcPct val="102000"/>
              </a:lnSpc>
              <a:spcBef>
                <a:spcPts val="0"/>
              </a:spcBef>
              <a:spcAft>
                <a:spcPts val="300"/>
              </a:spcAft>
            </a:pPr>
            <a:r>
              <a:rPr sz="1150" b="1">
                <a:solidFill>
                  <a:srgbClr val="C95B3C"/>
                </a:solidFill>
                <a:latin typeface="Arial"/>
              </a:rPr>
              <a:t>–  </a:t>
            </a:r>
            <a:r>
              <a:rPr sz="1150" b="1">
                <a:solidFill>
                  <a:srgbClr val="1F1E1E"/>
                </a:solidFill>
                <a:latin typeface="Arial"/>
              </a:rPr>
              <a:t>Live Artifact</a:t>
            </a:r>
            <a:r>
              <a:rPr sz="1150" b="0">
                <a:solidFill>
                  <a:srgbClr val="1F1E1E"/>
                </a:solidFill>
                <a:latin typeface="Arial"/>
              </a:rPr>
              <a:t> (Cowork, planes pagos): una </a:t>
            </a:r>
            <a:r>
              <a:rPr sz="1150" b="1">
                <a:solidFill>
                  <a:srgbClr val="1F1E1E"/>
                </a:solidFill>
                <a:latin typeface="Arial"/>
              </a:rPr>
              <a:t>página HTML interactiva y persistente</a:t>
            </a:r>
            <a:r>
              <a:rPr sz="1150" b="0">
                <a:solidFill>
                  <a:srgbClr val="1F1E1E"/>
                </a:solidFill>
                <a:latin typeface="Arial"/>
              </a:rPr>
              <a:t> que vive en la pestaña </a:t>
            </a:r>
            <a:r>
              <a:rPr sz="1150" b="1">
                <a:solidFill>
                  <a:srgbClr val="1F1E1E"/>
                </a:solidFill>
                <a:latin typeface="Arial"/>
              </a:rPr>
              <a:t>"Live artifacts"</a:t>
            </a:r>
            <a:r>
              <a:rPr sz="1150" b="0">
                <a:solidFill>
                  <a:srgbClr val="1F1E1E"/>
                </a:solidFill>
                <a:latin typeface="Arial"/>
              </a:rPr>
              <a:t> de Cowork. </a:t>
            </a:r>
            <a:r>
              <a:rPr sz="1150" b="1">
                <a:solidFill>
                  <a:srgbClr val="1F1E1E"/>
                </a:solidFill>
                <a:latin typeface="Arial"/>
              </a:rPr>
              <a:t>Se actualiza con datos actuales</a:t>
            </a:r>
            <a:r>
              <a:rPr sz="1150" b="0">
                <a:solidFill>
                  <a:srgbClr val="1F1E1E"/>
                </a:solidFill>
                <a:latin typeface="Arial"/>
              </a:rPr>
              <a:t> de tus apps conectadas cada vez que la abrís, y </a:t>
            </a:r>
            <a:r>
              <a:rPr sz="1150" b="1">
                <a:solidFill>
                  <a:srgbClr val="1F1E1E"/>
                </a:solidFill>
                <a:latin typeface="Arial"/>
              </a:rPr>
              <a:t>guarda historial de versiones</a:t>
            </a:r>
            <a:r>
              <a:rPr sz="11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Cómo se crea.</a:t>
            </a:r>
            <a:r>
              <a:rPr sz="1250" b="0">
                <a:solidFill>
                  <a:srgbClr val="1F1E1E"/>
                </a:solidFill>
                <a:latin typeface="Arial"/>
              </a:rPr>
              <a:t> Dos formas: (1) </a:t>
            </a:r>
            <a:r>
              <a:rPr sz="1250" b="1">
                <a:solidFill>
                  <a:srgbClr val="1F1E1E"/>
                </a:solidFill>
                <a:latin typeface="Arial"/>
              </a:rPr>
              <a:t>desde una tarea de Cowork</a:t>
            </a:r>
            <a:r>
              <a:rPr sz="1250" b="0">
                <a:solidFill>
                  <a:srgbClr val="1F1E1E"/>
                </a:solidFill>
                <a:latin typeface="Arial"/>
              </a:rPr>
              <a:t> (le pedís que el resultado sea un Live Artifact), o (2) desde la pestaña </a:t>
            </a:r>
            <a:r>
              <a:rPr sz="1250" b="1">
                <a:solidFill>
                  <a:srgbClr val="1F1E1E"/>
                </a:solidFill>
                <a:latin typeface="Arial"/>
              </a:rPr>
              <a:t>Live artifacts → New artifact → Chat with Claude</a:t>
            </a:r>
            <a:r>
              <a:rPr sz="12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Estado actual del compartir — leer con cuidado.</a:t>
            </a:r>
            <a:r>
              <a:rPr sz="1250" b="0">
                <a:solidFill>
                  <a:srgbClr val="1F1E1E"/>
                </a:solidFill>
                <a:latin typeface="Arial"/>
              </a:rPr>
              <a:t> Los Live Artifacts </a:t>
            </a:r>
            <a:r>
              <a:rPr sz="1250" b="1">
                <a:solidFill>
                  <a:srgbClr val="1F1E1E"/>
                </a:solidFill>
                <a:latin typeface="Arial"/>
              </a:rPr>
              <a:t>todavía NO son compartibles</a:t>
            </a:r>
            <a:r>
              <a:rPr sz="1250" b="0">
                <a:solidFill>
                  <a:srgbClr val="1F1E1E"/>
                </a:solidFill>
                <a:latin typeface="Arial"/>
              </a:rPr>
              <a:t>: en el lanzamiento son </a:t>
            </a:r>
            <a:r>
              <a:rPr sz="1250" b="1">
                <a:solidFill>
                  <a:srgbClr val="1F1E1E"/>
                </a:solidFill>
                <a:latin typeface="Arial"/>
              </a:rPr>
              <a:t>para tu propio uso</a:t>
            </a:r>
            <a:r>
              <a:rPr sz="1250" b="0">
                <a:solidFill>
                  <a:srgbClr val="1F1E1E"/>
                </a:solidFill>
                <a:latin typeface="Arial"/>
              </a:rPr>
              <a:t>; compartir está en el roadmap. Además son </a:t>
            </a:r>
            <a:r>
              <a:rPr sz="1250" b="1">
                <a:solidFill>
                  <a:srgbClr val="1F1E1E"/>
                </a:solidFill>
                <a:latin typeface="Arial"/>
              </a:rPr>
              <a:t>locales, no en la nube</a:t>
            </a:r>
            <a:r>
              <a:rPr sz="1250" b="0">
                <a:solidFill>
                  <a:srgbClr val="1F1E1E"/>
                </a:solidFill>
                <a:latin typeface="Arial"/>
              </a:rPr>
              <a:t>: viven en tu computadora y no te siguen entre dispositivos. Y </a:t>
            </a:r>
            <a:r>
              <a:rPr sz="1250" b="1">
                <a:solidFill>
                  <a:srgbClr val="1F1E1E"/>
                </a:solidFill>
                <a:latin typeface="Arial"/>
              </a:rPr>
              <a:t>usan tus connectors sin volver a pedirte permiso</a:t>
            </a:r>
            <a:r>
              <a:rPr sz="1250" b="0">
                <a:solidFill>
                  <a:srgbClr val="1F1E1E"/>
                </a:solidFill>
                <a:latin typeface="Arial"/>
              </a:rPr>
              <a:t> — solo los que aprobaste al crear/actualizar el artifact.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Ejemplo (Atlas).</a:t>
            </a:r>
            <a:r>
              <a:rPr sz="1250" b="0">
                <a:solidFill>
                  <a:srgbClr val="1F1E1E"/>
                </a:solidFill>
                <a:latin typeface="Arial"/>
              </a:rPr>
              <a:t> El tablero `pulso-semanal-FECHA`: un Live Artifact nuevo por semana (queda un historial de versiones), con tarjetas por empresa, tabla resumen y un chip "LIVE", refrescado con los datos de la semana. Diseño basado en el boceto del jefe:</a:t>
            </a:r>
          </a:p>
        </p:txBody>
      </p:sp>
      <p:pic>
        <p:nvPicPr>
          <p:cNvPr id="5" name="Picture 4" descr="mockup-tablero.png"/>
          <p:cNvPicPr>
            <a:picLocks noChangeAspect="1"/>
          </p:cNvPicPr>
          <p:nvPr/>
        </p:nvPicPr>
        <p:blipFill>
          <a:blip r:embed="rId2"/>
          <a:stretch>
            <a:fillRect/>
          </a:stretch>
        </p:blipFill>
        <p:spPr>
          <a:xfrm>
            <a:off x="5486400" y="1910088"/>
            <a:ext cx="3200400" cy="2077703"/>
          </a:xfrm>
          <a:prstGeom prst="rect">
            <a:avLst/>
          </a:prstGeom>
        </p:spPr>
      </p:pic>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06</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Advanced: Subagentes y Plugins</a:t>
            </a:r>
          </a:p>
        </p:txBody>
      </p:sp>
      <p:sp>
        <p:nvSpPr>
          <p:cNvPr id="4" name="TextBox 3"/>
          <p:cNvSpPr txBox="1"/>
          <p:nvPr/>
        </p:nvSpPr>
        <p:spPr>
          <a:xfrm>
            <a:off x="566928" y="3246120"/>
            <a:ext cx="7772400" cy="1280160"/>
          </a:xfrm>
          <a:prstGeom prst="rect">
            <a:avLst/>
          </a:prstGeom>
          <a:noFill/>
        </p:spPr>
        <p:txBody>
          <a:bodyPr wrap="square" lIns="36576" rIns="36576" tIns="18288" bIns="18288" anchor="t">
            <a:normAutofit/>
          </a:bodyPr>
          <a:lstStyle/>
          <a:p>
            <a:pPr>
              <a:lnSpc>
                <a:spcPct val="110000"/>
              </a:lnSpc>
            </a:pPr>
            <a:r>
              <a:rPr sz="1400" b="0">
                <a:solidFill>
                  <a:srgbClr val="C9C2BB"/>
                </a:solidFill>
                <a:latin typeface="Arial"/>
              </a:rPr>
              <a:t>Dar un cierre de nivel avanzado: cómo Cowork delega trabajo pesado a Subagentes y cómo los Plugins empaquetan y distribuyen workflows completos (y son LA vía para meter una Skill en Cowork).</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Subagentes: delegar sub-tareas en paralelo</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Un Subagente es un asistente aislado, con su propio contexto, instrucciones y acceso a herramientas, al que el agente principal le delega un trabajo y del que recibe </a:t>
            </a:r>
            <a:r>
              <a:rPr sz="1250" b="1">
                <a:solidFill>
                  <a:srgbClr val="1F1E1E"/>
                </a:solidFill>
                <a:latin typeface="Arial"/>
              </a:rPr>
              <a:t>un resumen</a:t>
            </a:r>
            <a:r>
              <a:rPr sz="1250" b="0">
                <a:solidFill>
                  <a:srgbClr val="1F1E1E"/>
                </a:solidFill>
                <a:latin typeface="Arial"/>
              </a:rPr>
              <a:t> (no la transcripción completa).</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Skill vs Subagente (la regla de una línea).</a:t>
            </a:r>
            <a:r>
              <a:rPr sz="1250" b="0">
                <a:solidFill>
                  <a:srgbClr val="1F1E1E"/>
                </a:solidFill>
                <a:latin typeface="Arial"/>
              </a:rPr>
              <a:t> Chico, y debe quedar frente a vos → </a:t>
            </a:r>
            <a:r>
              <a:rPr sz="1250" b="1">
                <a:solidFill>
                  <a:srgbClr val="1F1E1E"/>
                </a:solidFill>
                <a:latin typeface="Arial"/>
              </a:rPr>
              <a:t>Skill</a:t>
            </a:r>
            <a:r>
              <a:rPr sz="1250" b="0">
                <a:solidFill>
                  <a:srgbClr val="1F1E1E"/>
                </a:solidFill>
                <a:latin typeface="Arial"/>
              </a:rPr>
              <a:t> (corre dentro de tu conversación). Grande o ruidoso, y debe correr en un proceso aparte → </a:t>
            </a:r>
            <a:r>
              <a:rPr sz="1250" b="1">
                <a:solidFill>
                  <a:srgbClr val="1F1E1E"/>
                </a:solidFill>
                <a:latin typeface="Arial"/>
              </a:rPr>
              <a:t>Subagente</a:t>
            </a:r>
            <a:r>
              <a:rPr sz="1250" b="0">
                <a:solidFill>
                  <a:srgbClr val="1F1E1E"/>
                </a:solidFill>
                <a:latin typeface="Arial"/>
              </a:rPr>
              <a:t> (corre al lado, en su propio contexto).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En Cowork.</a:t>
            </a:r>
            <a:r>
              <a:rPr sz="1250" b="0">
                <a:solidFill>
                  <a:srgbClr val="1F1E1E"/>
                </a:solidFill>
                <a:latin typeface="Arial"/>
              </a:rPr>
              <a:t> Los Subagentes se coordinan "por debajo" (under the hood): el agente principal los lanza cuando le conviene, y pueden correr </a:t>
            </a:r>
            <a:r>
              <a:rPr sz="1250" b="1">
                <a:solidFill>
                  <a:srgbClr val="1F1E1E"/>
                </a:solidFill>
                <a:latin typeface="Arial"/>
              </a:rPr>
              <a:t>varios en paralelo</a:t>
            </a:r>
            <a:r>
              <a:rPr sz="1250" b="0">
                <a:solidFill>
                  <a:srgbClr val="1F1E1E"/>
                </a:solidFill>
                <a:latin typeface="Arial"/>
              </a:rPr>
              <a:t>.</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Cómo se agrega un subagente.</a:t>
            </a:r>
            <a:r>
              <a:rPr sz="1250" b="0">
                <a:solidFill>
                  <a:srgbClr val="1F1E1E"/>
                </a:solidFill>
                <a:latin typeface="Arial"/>
              </a:rPr>
              <a:t> Se define igual que una Skill — una </a:t>
            </a:r>
            <a:r>
              <a:rPr sz="1250" b="1">
                <a:solidFill>
                  <a:srgbClr val="1F1E1E"/>
                </a:solidFill>
                <a:latin typeface="Arial"/>
              </a:rPr>
              <a:t>descripción de cuándo usarlo</a:t>
            </a:r>
            <a:r>
              <a:rPr sz="1250" b="0">
                <a:solidFill>
                  <a:srgbClr val="1F1E1E"/>
                </a:solidFill>
                <a:latin typeface="Arial"/>
              </a:rPr>
              <a:t> + sus </a:t>
            </a:r>
            <a:r>
              <a:rPr sz="1250" b="1">
                <a:solidFill>
                  <a:srgbClr val="1F1E1E"/>
                </a:solidFill>
                <a:latin typeface="Arial"/>
              </a:rPr>
              <a:t>instrucciones</a:t>
            </a:r>
            <a:r>
              <a:rPr sz="1250" b="0">
                <a:solidFill>
                  <a:srgbClr val="1F1E1E"/>
                </a:solidFill>
                <a:latin typeface="Arial"/>
              </a:rPr>
              <a:t>. Dos caminos: </a:t>
            </a:r>
            <a:r>
              <a:rPr sz="1250" b="1">
                <a:solidFill>
                  <a:srgbClr val="1F1E1E"/>
                </a:solidFill>
                <a:latin typeface="Arial"/>
              </a:rPr>
              <a:t>pedile a Claude que lo arme</a:t>
            </a:r>
            <a:r>
              <a:rPr sz="1250" b="0">
                <a:solidFill>
                  <a:srgbClr val="1F1E1E"/>
                </a:solidFill>
                <a:latin typeface="Arial"/>
              </a:rPr>
              <a:t> (escribe el archivo del agente, como con las Skills, y lo gestionás en el directorio </a:t>
            </a:r>
            <a:r>
              <a:rPr sz="1250" b="1">
                <a:solidFill>
                  <a:srgbClr val="1F1E1E"/>
                </a:solidFill>
                <a:latin typeface="Arial"/>
              </a:rPr>
              <a:t>Customize</a:t>
            </a:r>
            <a:r>
              <a:rPr sz="1250" b="0">
                <a:solidFill>
                  <a:srgbClr val="1F1E1E"/>
                </a:solidFill>
                <a:latin typeface="Arial"/>
              </a:rPr>
              <a:t>), o viene </a:t>
            </a:r>
            <a:r>
              <a:rPr sz="1250" b="1">
                <a:solidFill>
                  <a:srgbClr val="1F1E1E"/>
                </a:solidFill>
                <a:latin typeface="Arial"/>
              </a:rPr>
              <a:t>empaquetado dentro de un Plugin</a:t>
            </a:r>
            <a:r>
              <a:rPr sz="1250" b="0">
                <a:solidFill>
                  <a:srgbClr val="1F1E1E"/>
                </a:solidFill>
                <a:latin typeface="Arial"/>
              </a:rPr>
              <a:t>. No hace falta tocar archivos a mano.</a:t>
            </a:r>
          </a:p>
        </p:txBody>
      </p:sp>
      <p:pic>
        <p:nvPicPr>
          <p:cNvPr id="5" name="Picture 4" descr="s6-1-1-subagentes-fanout.png"/>
          <p:cNvPicPr>
            <a:picLocks noChangeAspect="1"/>
          </p:cNvPicPr>
          <p:nvPr/>
        </p:nvPicPr>
        <p:blipFill>
          <a:blip r:embed="rId2"/>
          <a:stretch>
            <a:fillRect/>
          </a:stretch>
        </p:blipFill>
        <p:spPr>
          <a:xfrm>
            <a:off x="5486400" y="1842919"/>
            <a:ext cx="3200400" cy="2212041"/>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Plugins: empaquetar y distribuir un workflow completo</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8183879" cy="34290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Concepto.</a:t>
            </a:r>
            <a:r>
              <a:rPr sz="1250" b="0">
                <a:solidFill>
                  <a:srgbClr val="1F1E1E"/>
                </a:solidFill>
                <a:latin typeface="Arial"/>
              </a:rPr>
              <a:t> Un Plugin es la unidad de distribución de un workflow completo: empaqueta Skills + agentes + hooks + MCP en una sola instalación. "Ship the whole thing."</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En Cowork.</a:t>
            </a:r>
            <a:r>
              <a:rPr sz="1250" b="0">
                <a:solidFill>
                  <a:srgbClr val="1F1E1E"/>
                </a:solidFill>
                <a:latin typeface="Arial"/>
              </a:rPr>
              <a:t> Se instalan desde un </a:t>
            </a:r>
            <a:r>
              <a:rPr sz="1250" b="1">
                <a:solidFill>
                  <a:srgbClr val="1F1E1E"/>
                </a:solidFill>
                <a:latin typeface="Arial"/>
              </a:rPr>
              <a:t>marketplace de plugins</a:t>
            </a:r>
            <a:r>
              <a:rPr sz="1250" b="0">
                <a:solidFill>
                  <a:srgbClr val="1F1E1E"/>
                </a:solidFill>
                <a:latin typeface="Arial"/>
              </a:rPr>
              <a:t> en la GUI. Un Plugin es una de las vías para </a:t>
            </a:r>
            <a:r>
              <a:rPr sz="1250" b="1">
                <a:solidFill>
                  <a:srgbClr val="1F1E1E"/>
                </a:solidFill>
                <a:latin typeface="Arial"/>
              </a:rPr>
              <a:t>distribuir Skills (y agentes/connectors)</a:t>
            </a:r>
            <a:r>
              <a:rPr sz="1250" b="0">
                <a:solidFill>
                  <a:srgbClr val="1F1E1E"/>
                </a:solidFill>
                <a:latin typeface="Arial"/>
              </a:rPr>
              <a:t>: para usar una Skill en Cowork, la habilitás como skill de usuario (Customize → Skills) o la enviás </a:t>
            </a:r>
            <a:r>
              <a:rPr sz="1250" b="1">
                <a:solidFill>
                  <a:srgbClr val="1F1E1E"/>
                </a:solidFill>
                <a:latin typeface="Arial"/>
              </a:rPr>
              <a:t>dentro de un plugin</a:t>
            </a:r>
            <a:r>
              <a:rPr sz="1250" b="0">
                <a:solidFill>
                  <a:srgbClr val="1F1E1E"/>
                </a:solidFill>
                <a:latin typeface="Arial"/>
              </a:rPr>
              <a:t>. Las skills provistas por plugin funcionan en Chat y en Cowork.</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Dónde encontrarlos.</a:t>
            </a:r>
            <a:r>
              <a:rPr sz="1250" b="0">
                <a:solidFill>
                  <a:srgbClr val="1F1E1E"/>
                </a:solidFill>
                <a:latin typeface="Arial"/>
              </a:rPr>
              <a:t> Marketplaces oficiales (`anthropics/claude-plugins-official`, `anthropics/knowledge-work-plugins`) y de la comunidad.</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Plugins en una cuenta Team: ciclo de vida</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Quién lo maneja.</a:t>
            </a:r>
            <a:r>
              <a:rPr sz="1250" b="0">
                <a:solidFill>
                  <a:srgbClr val="1F1E1E"/>
                </a:solidFill>
                <a:latin typeface="Arial"/>
              </a:rPr>
              <a:t> En cuentas </a:t>
            </a:r>
            <a:r>
              <a:rPr sz="1250" b="1">
                <a:solidFill>
                  <a:srgbClr val="1F1E1E"/>
                </a:solidFill>
                <a:latin typeface="Arial"/>
              </a:rPr>
              <a:t>Team / Enterprise</a:t>
            </a:r>
            <a:r>
              <a:rPr sz="1250" b="0">
                <a:solidFill>
                  <a:srgbClr val="1F1E1E"/>
                </a:solidFill>
                <a:latin typeface="Arial"/>
              </a:rPr>
              <a:t>, los </a:t>
            </a:r>
            <a:r>
              <a:rPr sz="1250" b="1">
                <a:solidFill>
                  <a:srgbClr val="1F1E1E"/>
                </a:solidFill>
                <a:latin typeface="Arial"/>
              </a:rPr>
              <a:t>Owners</a:t>
            </a:r>
            <a:r>
              <a:rPr sz="1250" b="0">
                <a:solidFill>
                  <a:srgbClr val="1F1E1E"/>
                </a:solidFill>
                <a:latin typeface="Arial"/>
              </a:rPr>
              <a:t> gestionan los plugins de la organización desde </a:t>
            </a:r>
            <a:r>
              <a:rPr sz="1250" b="1">
                <a:solidFill>
                  <a:srgbClr val="1F1E1E"/>
                </a:solidFill>
                <a:latin typeface="Arial"/>
              </a:rPr>
              <a:t>Organization settings → Plugins</a:t>
            </a:r>
            <a:r>
              <a:rPr sz="1250" b="0">
                <a:solidFill>
                  <a:srgbClr val="1F1E1E"/>
                </a:solidFill>
                <a:latin typeface="Arial"/>
              </a:rPr>
              <a:t>. El resto de los miembros los reciben listos.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El ciclo de vida, de punta a punta:</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Qué se puede hacer.</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El Owner crea un </a:t>
            </a:r>
            <a:r>
              <a:rPr sz="1150" b="1">
                <a:solidFill>
                  <a:srgbClr val="1F1E1E"/>
                </a:solidFill>
                <a:latin typeface="Arial"/>
              </a:rPr>
              <a:t>marketplace privado</a:t>
            </a:r>
            <a:r>
              <a:rPr sz="1150" b="0">
                <a:solidFill>
                  <a:srgbClr val="1F1E1E"/>
                </a:solidFill>
                <a:latin typeface="Arial"/>
              </a:rPr>
              <a:t> de la organización y agrega plugins de dos formas: </a:t>
            </a:r>
            <a:r>
              <a:rPr sz="1150" b="1">
                <a:solidFill>
                  <a:srgbClr val="1F1E1E"/>
                </a:solidFill>
                <a:latin typeface="Arial"/>
              </a:rPr>
              <a:t>subir un ZIP</a:t>
            </a:r>
            <a:r>
              <a:rPr sz="1150" b="0">
                <a:solidFill>
                  <a:srgbClr val="1F1E1E"/>
                </a:solidFill>
                <a:latin typeface="Arial"/>
              </a:rPr>
              <a:t>, o </a:t>
            </a:r>
            <a:r>
              <a:rPr sz="1150" b="1">
                <a:solidFill>
                  <a:srgbClr val="1F1E1E"/>
                </a:solidFill>
                <a:latin typeface="Arial"/>
              </a:rPr>
              <a:t>sincronizar desde un repo de GitHub</a:t>
            </a:r>
            <a:r>
              <a:rPr sz="1150" b="0">
                <a:solidFill>
                  <a:srgbClr val="1F1E1E"/>
                </a:solidFill>
                <a:latin typeface="Arial"/>
              </a:rPr>
              <a:t> (privado) — esta segunda vía </a:t>
            </a:r>
            <a:r>
              <a:rPr sz="1150" b="1">
                <a:solidFill>
                  <a:srgbClr val="1F1E1E"/>
                </a:solidFill>
                <a:latin typeface="Arial"/>
              </a:rPr>
              <a:t>auto-actualiza</a:t>
            </a:r>
            <a:r>
              <a:rPr sz="1150" b="0">
                <a:solidFill>
                  <a:srgbClr val="1F1E1E"/>
                </a:solidFill>
                <a:latin typeface="Arial"/>
              </a:rPr>
              <a:t> cuando cambia el repo.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Por cada plugin se fija una </a:t>
            </a:r>
            <a:r>
              <a:rPr sz="1150" b="1">
                <a:solidFill>
                  <a:srgbClr val="1F1E1E"/>
                </a:solidFill>
                <a:latin typeface="Arial"/>
              </a:rPr>
              <a:t>preferencia de instalación</a:t>
            </a:r>
            <a:r>
              <a:rPr sz="1150" b="0">
                <a:solidFill>
                  <a:srgbClr val="1F1E1E"/>
                </a:solidFill>
                <a:latin typeface="Arial"/>
              </a:rPr>
              <a:t>: opcional (el miembro decide), </a:t>
            </a:r>
            <a:r>
              <a:rPr sz="1150" b="1">
                <a:solidFill>
                  <a:srgbClr val="1F1E1E"/>
                </a:solidFill>
                <a:latin typeface="Arial"/>
              </a:rPr>
              <a:t>auto-install</a:t>
            </a:r>
            <a:r>
              <a:rPr sz="1150" b="0">
                <a:solidFill>
                  <a:srgbClr val="1F1E1E"/>
                </a:solidFill>
                <a:latin typeface="Arial"/>
              </a:rPr>
              <a:t> o provisionado por usuario.</a:t>
            </a:r>
          </a:p>
          <a:p>
            <a:pPr lvl="1">
              <a:lnSpc>
                <a:spcPct val="102000"/>
              </a:lnSpc>
              <a:spcBef>
                <a:spcPts val="0"/>
              </a:spcBef>
              <a:spcAft>
                <a:spcPts val="300"/>
              </a:spcAft>
            </a:pPr>
            <a:r>
              <a:rPr sz="1150" b="1">
                <a:solidFill>
                  <a:srgbClr val="C95B3C"/>
                </a:solidFill>
                <a:latin typeface="Arial"/>
              </a:rPr>
              <a:t>–  </a:t>
            </a:r>
            <a:r>
              <a:rPr sz="1150" b="0">
                <a:solidFill>
                  <a:srgbClr val="1F1E1E"/>
                </a:solidFill>
                <a:latin typeface="Arial"/>
              </a:rPr>
              <a:t>Los plugins distribuidos aparecen en </a:t>
            </a:r>
            <a:r>
              <a:rPr sz="1150" b="1">
                <a:solidFill>
                  <a:srgbClr val="1F1E1E"/>
                </a:solidFill>
                <a:latin typeface="Arial"/>
              </a:rPr>
              <a:t>chat y en Cowork</a:t>
            </a:r>
            <a:r>
              <a:rPr sz="1150" b="0">
                <a:solidFill>
                  <a:srgbClr val="1F1E1E"/>
                </a:solidFill>
                <a:latin typeface="Arial"/>
              </a:rPr>
              <a:t> para los miembros; cada uno </a:t>
            </a:r>
            <a:r>
              <a:rPr sz="1150" b="1">
                <a:solidFill>
                  <a:srgbClr val="1F1E1E"/>
                </a:solidFill>
                <a:latin typeface="Arial"/>
              </a:rPr>
              <a:t>instala/habilita</a:t>
            </a:r>
            <a:r>
              <a:rPr sz="1150" b="0">
                <a:solidFill>
                  <a:srgbClr val="1F1E1E"/>
                </a:solidFill>
                <a:latin typeface="Arial"/>
              </a:rPr>
              <a:t> desde el directorio de la org, y las </a:t>
            </a:r>
            <a:r>
              <a:rPr sz="1150" b="1">
                <a:solidFill>
                  <a:srgbClr val="1F1E1E"/>
                </a:solidFill>
                <a:latin typeface="Arial"/>
              </a:rPr>
              <a:t>actualizaciones se sincronizan</a:t>
            </a:r>
            <a:r>
              <a:rPr sz="1150" b="0">
                <a:solidFill>
                  <a:srgbClr val="1F1E1E"/>
                </a:solidFill>
                <a:latin typeface="Arial"/>
              </a:rPr>
              <a:t> solas.</a:t>
            </a:r>
          </a:p>
        </p:txBody>
      </p:sp>
      <p:pic>
        <p:nvPicPr>
          <p:cNvPr id="5" name="Picture 4" descr="s6-3-1-ciclo-plugins-team.png"/>
          <p:cNvPicPr>
            <a:picLocks noChangeAspect="1"/>
          </p:cNvPicPr>
          <p:nvPr/>
        </p:nvPicPr>
        <p:blipFill>
          <a:blip r:embed="rId2"/>
          <a:stretch>
            <a:fillRect/>
          </a:stretch>
        </p:blipFill>
        <p:spPr>
          <a:xfrm>
            <a:off x="5486400" y="2007645"/>
            <a:ext cx="3200400" cy="1882588"/>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1F1E1E"/>
        </a:solidFill>
        <a:effectLst/>
      </p:bgPr>
    </p:bg>
    <p:spTree>
      <p:nvGrpSpPr>
        <p:cNvPr id="1" name=""/>
        <p:cNvGrpSpPr/>
        <p:nvPr/>
      </p:nvGrpSpPr>
      <p:grpSpPr/>
      <p:sp>
        <p:nvSpPr>
          <p:cNvPr id="2" name="TextBox 1"/>
          <p:cNvSpPr txBox="1"/>
          <p:nvPr/>
        </p:nvSpPr>
        <p:spPr>
          <a:xfrm>
            <a:off x="548640" y="1051560"/>
            <a:ext cx="8046720" cy="1097280"/>
          </a:xfrm>
          <a:prstGeom prst="rect">
            <a:avLst/>
          </a:prstGeom>
          <a:noFill/>
        </p:spPr>
        <p:txBody>
          <a:bodyPr wrap="square" lIns="36576" rIns="36576" tIns="18288" bIns="18288" anchor="t">
            <a:spAutoFit/>
          </a:bodyPr>
          <a:lstStyle/>
          <a:p>
            <a:r>
              <a:rPr sz="5800" b="1">
                <a:solidFill>
                  <a:srgbClr val="D97757"/>
                </a:solidFill>
                <a:latin typeface="Arial"/>
              </a:rPr>
              <a:t>•</a:t>
            </a:r>
          </a:p>
        </p:txBody>
      </p:sp>
      <p:sp>
        <p:nvSpPr>
          <p:cNvPr id="3" name="TextBox 2"/>
          <p:cNvSpPr txBox="1"/>
          <p:nvPr/>
        </p:nvSpPr>
        <p:spPr>
          <a:xfrm>
            <a:off x="566928" y="2148840"/>
            <a:ext cx="7955279" cy="1188720"/>
          </a:xfrm>
          <a:prstGeom prst="rect">
            <a:avLst/>
          </a:prstGeom>
          <a:noFill/>
        </p:spPr>
        <p:txBody>
          <a:bodyPr wrap="square" lIns="36576" rIns="36576" tIns="18288" bIns="18288" anchor="t">
            <a:spAutoFit/>
          </a:bodyPr>
          <a:lstStyle/>
          <a:p>
            <a:pPr>
              <a:lnSpc>
                <a:spcPct val="102000"/>
              </a:lnSpc>
            </a:pPr>
            <a:r>
              <a:rPr sz="3000" b="1">
                <a:solidFill>
                  <a:srgbClr val="FFFFFF"/>
                </a:solidFill>
                <a:latin typeface="Arial"/>
              </a:rPr>
              <a:t>Conclusiones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El loop completo y la idea para llevarse</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4709160" cy="338328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Lo que construimos, punta a punta — el loop de Atlas combinando todas las piezas: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Las piezas, una línea cada una:</a:t>
            </a:r>
            <a:r>
              <a:rPr sz="1250" b="0">
                <a:solidFill>
                  <a:srgbClr val="1F1E1E"/>
                </a:solidFill>
                <a:latin typeface="Arial"/>
              </a:rPr>
              <a:t> Instrucciones (el contrato) · Projects (el lugar fijo) · Skills (enseñar una vez) · Connectors/MCP (las manos) · Schedule (que corra solo) · Live Artifacts (compartir el resultado).</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La idea para llevarse:</a:t>
            </a:r>
            <a:r>
              <a:rPr sz="1250" b="0">
                <a:solidFill>
                  <a:srgbClr val="1F1E1E"/>
                </a:solidFill>
                <a:latin typeface="Arial"/>
              </a:rPr>
              <a:t> "Todo lo que le explicás a Claude dos veces es una Skill que deberías escribir una vez." Y el gancho: "Acaban de automatizar un reporte que les iba a comer la mañana de cada lunes. ¿Qué otra tarea recurrente podrían delegarle a su propio Atlas?"</a:t>
            </a:r>
          </a:p>
        </p:txBody>
      </p:sp>
      <p:pic>
        <p:nvPicPr>
          <p:cNvPr id="5" name="Picture 4" descr="sc-1-1-loop-completo-atlas.png"/>
          <p:cNvPicPr>
            <a:picLocks noChangeAspect="1"/>
          </p:cNvPicPr>
          <p:nvPr/>
        </p:nvPicPr>
        <p:blipFill>
          <a:blip r:embed="rId2"/>
          <a:stretch>
            <a:fillRect/>
          </a:stretch>
        </p:blipFill>
        <p:spPr>
          <a:xfrm>
            <a:off x="5486400" y="1489934"/>
            <a:ext cx="3200400" cy="2918011"/>
          </a:xfrm>
          <a:prstGeom prst="rect">
            <a:avLst/>
          </a:prstGeom>
        </p:spPr>
      </p:pic>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310896"/>
            <a:ext cx="8138160" cy="868680"/>
          </a:xfrm>
          <a:prstGeom prst="rect">
            <a:avLst/>
          </a:prstGeom>
          <a:noFill/>
        </p:spPr>
        <p:txBody>
          <a:bodyPr wrap="square" lIns="36576" rIns="36576" tIns="18288" bIns="18288" anchor="t">
            <a:spAutoFit/>
          </a:bodyPr>
          <a:lstStyle/>
          <a:p>
            <a:pPr>
              <a:lnSpc>
                <a:spcPct val="100000"/>
              </a:lnSpc>
            </a:pPr>
            <a:r>
              <a:rPr sz="2500" b="1">
                <a:solidFill>
                  <a:srgbClr val="1F1E1E"/>
                </a:solidFill>
                <a:latin typeface="Arial"/>
              </a:rPr>
              <a:t>Gobernanza y advertencias (antes de Q&amp;A)</a:t>
            </a:r>
          </a:p>
        </p:txBody>
      </p:sp>
      <p:sp>
        <p:nvSpPr>
          <p:cNvPr id="3" name="Rectangle 2"/>
          <p:cNvSpPr/>
          <p:nvPr/>
        </p:nvSpPr>
        <p:spPr>
          <a:xfrm>
            <a:off x="502920" y="274320"/>
            <a:ext cx="128016" cy="128016"/>
          </a:xfrm>
          <a:prstGeom prst="rect">
            <a:avLst/>
          </a:prstGeom>
          <a:solidFill>
            <a:srgbClr val="C95B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234440"/>
            <a:ext cx="8183879" cy="3429000"/>
          </a:xfrm>
          <a:prstGeom prst="rect">
            <a:avLst/>
          </a:prstGeom>
          <a:noFill/>
        </p:spPr>
        <p:txBody>
          <a:bodyPr wrap="square" lIns="36576" rIns="36576" tIns="18288" bIns="18288" anchor="t">
            <a:normAutofit/>
          </a:bodyPr>
          <a:lstStyle/>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Cowork no tiene audit trail</a:t>
            </a:r>
            <a:r>
              <a:rPr sz="1250" b="0">
                <a:solidFill>
                  <a:srgbClr val="1F1E1E"/>
                </a:solidFill>
                <a:latin typeface="Arial"/>
              </a:rPr>
              <a:t> — no es apto para datos regulados o sensibles.</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Toda salida es un borrador</a:t>
            </a:r>
            <a:r>
              <a:rPr sz="1250" b="0">
                <a:solidFill>
                  <a:srgbClr val="1F1E1E"/>
                </a:solidFill>
                <a:latin typeface="Arial"/>
              </a:rPr>
              <a:t> — verificá cifras, citas y afirmaciones contra la fuente.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No metas datos confidenciales / PII / bajo NDA</a:t>
            </a:r>
            <a:r>
              <a:rPr sz="1250" b="0">
                <a:solidFill>
                  <a:srgbClr val="1F1E1E"/>
                </a:solidFill>
                <a:latin typeface="Arial"/>
              </a:rPr>
              <a:t> en la superficie equivocada.</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Reproducibilidad:</a:t>
            </a:r>
            <a:r>
              <a:rPr sz="1250" b="0">
                <a:solidFill>
                  <a:srgbClr val="1F1E1E"/>
                </a:solidFill>
                <a:latin typeface="Arial"/>
              </a:rPr>
              <a:t> mantené juntos prompt + entradas + salidas, para que el trabajo sea auditable.</a:t>
            </a:r>
          </a:p>
          <a:p>
            <a:pPr>
              <a:lnSpc>
                <a:spcPct val="102000"/>
              </a:lnSpc>
              <a:spcBef>
                <a:spcPts val="0"/>
              </a:spcBef>
              <a:spcAft>
                <a:spcPts val="500"/>
              </a:spcAft>
            </a:pPr>
            <a:r>
              <a:rPr sz="1150" b="1">
                <a:solidFill>
                  <a:srgbClr val="C95B3C"/>
                </a:solidFill>
                <a:latin typeface="Arial"/>
              </a:rPr>
              <a:t>▪  </a:t>
            </a:r>
            <a:r>
              <a:rPr sz="1250" b="1">
                <a:solidFill>
                  <a:srgbClr val="1F1E1E"/>
                </a:solidFill>
                <a:latin typeface="Arial"/>
              </a:rPr>
              <a:t>Capas de guardarraíles:</a:t>
            </a:r>
            <a:r>
              <a:rPr sz="1250" b="0">
                <a:solidFill>
                  <a:srgbClr val="1F1E1E"/>
                </a:solidFill>
                <a:latin typeface="Arial"/>
              </a:rPr>
              <a:t> permisos de carpeta → reglas en Instrucciones → solo plugins verificados → revisión humana.</a:t>
            </a:r>
          </a:p>
          <a:p>
            <a:pPr>
              <a:lnSpc>
                <a:spcPct val="102000"/>
              </a:lnSpc>
              <a:spcBef>
                <a:spcPts val="0"/>
              </a:spcBef>
              <a:spcAft>
                <a:spcPts val="500"/>
              </a:spcAft>
            </a:pPr>
            <a:r>
              <a:rPr sz="1150" b="1">
                <a:solidFill>
                  <a:srgbClr val="C95B3C"/>
                </a:solidFill>
                <a:latin typeface="Arial"/>
              </a:rPr>
              <a:t>▪  </a:t>
            </a:r>
            <a:r>
              <a:rPr sz="1250" b="0">
                <a:solidFill>
                  <a:srgbClr val="1F1E1E"/>
                </a:solidFill>
                <a:latin typeface="Arial"/>
              </a:rPr>
              <a:t>Contexto biomédico: lo anterior es especialmente relevante si alguna vez aplican esto con datos de pacientes — Cowork no es la herramienta para datos clínicos sensibles.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2026-05-22T22:59:23Z</dcterms:created>
  <dcterms:modified xsi:type="dcterms:W3CDTF">2026-05-22T22:59:23Z</dcterms:modified>
</cp:coreProperties>
</file>