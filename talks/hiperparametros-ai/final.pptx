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embeddedFontLst>
    <p:embeddedFont>
      <p:font typeface="Roboto Light"/>
      <p:regular r:id="rId201314"/>
    </p:embeddedFont>
    <p:embeddedFont>
      <p:font typeface="Roboto"/>
      <p:regular r:id="rId201315"/>
    </p:embeddedFont>
    <p:embeddedFont>
      <p:font typeface="Roboto Thin"/>
      <p:regular r:id="rId201316"/>
    </p:embeddedFont>
    <p:embeddedFont>
      <p:font typeface="Roboto ExtraLight"/>
      <p:regular r:id="rId201317"/>
    </p:embeddedFont>
    <p:embeddedFont>
      <p:font typeface="Roboto Medium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ExtraBold"/>
      <p:regular r:id="rId201321"/>
    </p:embeddedFont>
    <p:embeddedFont>
      <p:font typeface="Roboto Black"/>
      <p:regular r:id="rId201322"/>
    </p:embeddedFont>
    <p:embeddedFont>
      <p:font typeface="Roboto Mono Thin"/>
      <p:regular r:id="rId201323"/>
    </p:embeddedFont>
    <p:embeddedFont>
      <p:font typeface="Roboto Mono ExtraLight"/>
      <p:regular r:id="rId201324"/>
    </p:embeddedFont>
    <p:embeddedFont>
      <p:font typeface="Roboto Mono Light"/>
      <p:regular r:id="rId201325"/>
    </p:embeddedFont>
    <p:embeddedFont>
      <p:font typeface="Roboto Mono"/>
      <p:regular r:id="rId201326"/>
    </p:embeddedFont>
    <p:embeddedFont>
      <p:font typeface="Roboto Mono Medium"/>
      <p:regular r:id="rId201327"/>
    </p:embeddedFont>
    <p:embeddedFont>
      <p:font typeface="Roboto Mono SemiBold"/>
      <p:regular r:id="rId201328"/>
    </p:embeddedFont>
    <p:embeddedFont>
      <p:font typeface="Roboto Mono Bold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3.png"/><Relationship Id="rId6" Type="http://schemas.openxmlformats.org/officeDocument/2006/relationships/image" Target="../media/image-6-4.svg"/><Relationship Id="rId7" Type="http://schemas.openxmlformats.org/officeDocument/2006/relationships/image" Target="../media/image-6-3.png"/><Relationship Id="rId8" Type="http://schemas.openxmlformats.org/officeDocument/2006/relationships/image" Target="../media/image-6-4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itutorial.dev/prompting/llm-foundamentals" TargetMode="External"/><Relationship Id="rId6" Type="http://schemas.openxmlformats.org/officeDocument/2006/relationships/hyperlink" Target="https://aitutorial.dev/prompting/structured-prompt-engineering" TargetMode="External"/><Relationship Id="rId9" Type="http://schemas.openxmlformats.org/officeDocument/2006/relationships/hyperlink" Target="https://aitutorial.dev/prompting/advanced-techniques" TargetMode="External"/><Relationship Id="rId12" Type="http://schemas.openxmlformats.org/officeDocument/2006/relationships/hyperlink" Target="https://aitutorial.dev/prompting/prompt-optimization-and-testing" TargetMode="External"/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4" Type="http://schemas.openxmlformats.org/officeDocument/2006/relationships/image" Target="../media/image-21-3.png"/><Relationship Id="rId5" Type="http://schemas.openxmlformats.org/officeDocument/2006/relationships/image" Target="../media/image-21-4.svg"/><Relationship Id="rId7" Type="http://schemas.openxmlformats.org/officeDocument/2006/relationships/image" Target="../media/image-21-1.png"/><Relationship Id="rId8" Type="http://schemas.openxmlformats.org/officeDocument/2006/relationships/image" Target="../media/image-21-2.svg"/><Relationship Id="rId10" Type="http://schemas.openxmlformats.org/officeDocument/2006/relationships/image" Target="../media/image-21-7.png"/><Relationship Id="rId11" Type="http://schemas.openxmlformats.org/officeDocument/2006/relationships/image" Target="../media/image-21-8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73932"/>
            <a:ext cx="9416814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Master in Management (MiM) — IAE Business School, Universidad Austral</a:t>
            </a:r>
            <a:endParaRPr lang="en-US" sz="1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7586" y="1783953"/>
            <a:ext cx="748884" cy="7489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42406"/>
            <a:ext cx="10868745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Arte de Conversar Con La Maquina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3391991"/>
            <a:ext cx="108687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Hiperparametros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3742035"/>
            <a:ext cx="10868745" cy="1421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1950"/>
              </a:spcAft>
              <a:buNone/>
            </a:pPr>
            <a:endParaRPr lang="en-US" sz="950" dirty="0"/>
          </a:p>
          <a:p>
            <a:pPr algn="l" indent="0" marL="0">
              <a:lnSpc>
                <a:spcPct val="110000"/>
              </a:lnSpc>
              <a:spcAft>
                <a:spcPts val="1950"/>
              </a:spcAft>
              <a:buNone/>
            </a:pPr>
            <a:endParaRPr lang="en-US" sz="950" dirty="0"/>
          </a:p>
          <a:p>
            <a:pPr algn="l" indent="0" marL="0">
              <a:lnSpc>
                <a:spcPct val="110000"/>
              </a:lnSpc>
              <a:spcAft>
                <a:spcPts val="1950"/>
              </a:spcAft>
              <a:buNone/>
            </a:pPr>
            <a:endParaRPr lang="en-US" sz="950" dirty="0"/>
          </a:p>
          <a:p>
            <a:pPr algn="l"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Profedores:   Paulo Veiga, Profesor, IAE Business School / Claudio  Riguetti , Profesor, IAE Business School </a:t>
            </a:r>
            <a:endParaRPr lang="en-US" sz="950" dirty="0"/>
          </a:p>
          <a:p>
            <a:pPr algn="l"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Última Modificación: Jul,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1401"/>
            <a:ext cx="2402125" cy="324842"/>
          </a:xfrm>
          <a:prstGeom prst="roundRect">
            <a:avLst>
              <a:gd name="adj" fmla="val 2346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7438" y="624384"/>
            <a:ext cx="2799784" cy="218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QUÉ RESPUESTAS DISTINTAS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62323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La misma pregunta, dos respuestas</a:t>
            </a:r>
            <a:endParaRPr lang="en-US" sz="3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944" y="1948557"/>
            <a:ext cx="4957837" cy="24789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613473"/>
            <a:ext cx="5218776" cy="8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 hago la misma pregunta a la misma AI dos veces y obtengo dos respuestas distintas. ¿Se equivocó? ¿Está "pensando" distinto?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7794" y="1948557"/>
            <a:ext cx="441810" cy="4418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17794" y="2596952"/>
            <a:ext cx="5218776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Perillas de configuración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317794" y="3038376"/>
            <a:ext cx="5218776" cy="8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Hay perillas de configuración que deciden cuánta variedad, cuánto detalle y cuánto costo tiene cada respuesta. No es un error: es una decisión de diseño.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7794" y="4189909"/>
            <a:ext cx="441810" cy="4418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17794" y="4838303"/>
            <a:ext cx="5218776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 de negocio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317794" y="5279727"/>
            <a:ext cx="5218776" cy="8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asistente que redacta emails a clientes: ¿querés que suene siempre igual (marca consistente) o que proponga variantes creativas? Esa decisión es una perilla.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5787"/>
            <a:ext cx="2563054" cy="355203"/>
          </a:xfrm>
          <a:prstGeom prst="roundRect">
            <a:avLst>
              <a:gd name="adj" fmla="val 2145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42441"/>
            <a:ext cx="29458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 QUE SE DECIDE AL CONSTRUIR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165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Dos momentos: entrenar vs. usar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90712"/>
            <a:ext cx="10868745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perillas de las Secciones 3 y 4 se tocan al 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usar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 el modelo (inferencia). Estas dos se deciden al 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construirlo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 (entrenamiento).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eso las vemos a nivel conceptual: para entender qué comprás, no para tunearlas.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2486" y="3076674"/>
            <a:ext cx="7706624" cy="31954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481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39370" y="1307306"/>
            <a:ext cx="19050" cy="5002113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998215" y="1475680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1307306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0757" y="1336973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630123" y="1361579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Cómo genera el modelo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30123" y="1688108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mental mínimo: predecir la próxima palabra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8215" y="2353469"/>
            <a:ext cx="474452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2185095"/>
            <a:ext cx="355790" cy="355798"/>
          </a:xfrm>
          <a:prstGeom prst="roundRect">
            <a:avLst>
              <a:gd name="adj" fmla="val 2142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757" y="2214761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630123" y="2239367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Cuánto piensa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30123" y="2565896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Razonamiento (Thinking / Deep Thinking): calidad vs. costo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8215" y="3231257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475" y="3062883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757" y="3092549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630123" y="3117155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Cómo elige las palabras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30123" y="3443684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Temperatura y top-p: consistencia vs. creatividad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98215" y="4109045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475" y="3940671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757" y="3970338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630123" y="3994944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Selección del modelo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630123" y="4321473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Qué modelo elegir: capacidad vs. costo y velocidad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8215" y="4986834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661475" y="4818459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757" y="4848126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1630123" y="4872732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 que se decide al construir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630123" y="5199261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Tamaño del modelo y learning rate: lo que se compra horneado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8215" y="5864622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475" y="5696248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757" y="5725914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1630123" y="5750520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Conclusiones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630123" y="6077049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idea rectora y el cierre de la clase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8217"/>
            <a:ext cx="1304992" cy="331589"/>
          </a:xfrm>
          <a:prstGeom prst="roundRect">
            <a:avLst>
              <a:gd name="adj" fmla="val 2298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9125" y="711994"/>
            <a:ext cx="1699277" cy="224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CUÁNTO PIENSA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5797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Razonamiento: Thinking / Deep Thinking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875036"/>
            <a:ext cx="10868745" cy="899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Perilla nueva y muy actual, hoy expuesta de frente al usuario: cuánto 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razona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 modelo internamente antes de contestar. Las herramientas la exponen, cada vez más, como 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modos con nombre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Pensala como una progresión de tres escalones, no un interruptor de sí/no: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505498"/>
            <a:ext cx="3509180" cy="952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0957" y="4214713"/>
            <a:ext cx="3150216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Respuesta directa (sin pensar)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0957" y="4877991"/>
            <a:ext cx="3150216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contesta al toque. Rápido y barato; es el default para tareas simples (una búsqueda, un formateo, una pregunta trivial).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208" y="3236119"/>
            <a:ext cx="3509180" cy="952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20690" y="3945334"/>
            <a:ext cx="31502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"Thinking" (pensar)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4520690" y="4328120"/>
            <a:ext cx="3150216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razona un poco antes de responder. Buen equilibrio para la mayoría de las tareas no triviales; agrega algo de latencia y costo.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941" y="2966839"/>
            <a:ext cx="3509180" cy="952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00423" y="3676055"/>
            <a:ext cx="3150216" cy="841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"Deep Thinking" (pensar profundo / </a:t>
            </a:r>
            <a:pPr algn="l" indent="0" marL="0">
              <a:lnSpc>
                <a:spcPct val="104000"/>
              </a:lnSpc>
              <a:buNone/>
            </a:pPr>
            <a:r>
              <a:rPr lang="en-US" sz="1750" i="1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extended thinking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)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200423" y="4619823"/>
            <a:ext cx="3150216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razona mucho más. Es lo mejor para tareas difíciles, de varios pasos o analíticas; notablemente más lento y más caro (pagás también el razonamiento interno que no ves).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66266"/>
            <a:ext cx="892748" cy="203398"/>
          </a:xfrm>
          <a:prstGeom prst="roundRect">
            <a:avLst>
              <a:gd name="adj" fmla="val 3746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803077"/>
            <a:ext cx="1355096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CUÁNTO PIENSA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1001514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Razonamiento: cuándo usar cada nivel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505248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Cómo aparece según la herramienta (en términos generales, sin defaults por versión):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1828998"/>
            <a:ext cx="578242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40296" y="1828998"/>
            <a:ext cx="600575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1475" y="2242542"/>
            <a:ext cx="5731228" cy="1936948"/>
          </a:xfrm>
          <a:prstGeom prst="roundRect">
            <a:avLst>
              <a:gd name="adj" fmla="val 39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1475" y="2522537"/>
            <a:ext cx="5731228" cy="767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3129955"/>
            <a:ext cx="5731228" cy="767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3575248"/>
            <a:ext cx="5731228" cy="767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90754" y="2303066"/>
            <a:ext cx="179353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Proveedor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20361" y="2303066"/>
            <a:ext cx="322314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Cómo se configura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79575" y="2303066"/>
            <a:ext cx="179353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Tipo de control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90754" y="2579886"/>
            <a:ext cx="1183948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OpenAI (o-series / GPT)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20361" y="2579886"/>
            <a:ext cx="2613555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Parámetro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reasoning_effort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(low/medium/high) vía API, o modo "Pensar" en ChatGPT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79575" y="2579886"/>
            <a:ext cx="179353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Niveles con nombre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90754" y="3187303"/>
            <a:ext cx="179353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Anthropic (Claude)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20361" y="3187303"/>
            <a:ext cx="2613555" cy="330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Extended thinking con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budget_tokens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(presupuesto de tokens de razonamiento)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79575" y="3187303"/>
            <a:ext cx="1183948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Presupuesto de tokens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0754" y="3632597"/>
            <a:ext cx="179353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(Gemini)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20361" y="3632597"/>
            <a:ext cx="2613555" cy="330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Parámetro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thinkingBudget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vía API, o modo "Deep Think" en la app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79575" y="3632597"/>
            <a:ext cx="1183948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Presupuesto de tokens o modo con nombre</a:t>
            </a:r>
            <a:endParaRPr lang="en-US" sz="9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5298" y="2242542"/>
            <a:ext cx="3144560" cy="182106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61475" y="4359077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nombres exactos y los defaults cambian seguido entre proveedores.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61475" y="4610993"/>
            <a:ext cx="10868745" cy="375047"/>
          </a:xfrm>
          <a:prstGeom prst="roundRect">
            <a:avLst>
              <a:gd name="adj" fmla="val 2032"/>
            </a:avLst>
          </a:prstGeom>
          <a:solidFill>
            <a:srgbClr val="F9D2D6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05" y="4771231"/>
            <a:ext cx="153488" cy="122833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60622" y="4721423"/>
            <a:ext cx="1095635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Trade-off de negocio: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subir de escalón mejora la calidad en tareas difíciles, pero calidad, latencia y costo suben juntos. No hay modo 'bueno': hay uno apropiado a la dificultad de la tarea.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61475" y="5105797"/>
            <a:ext cx="108687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Guía práctica: emparejá el modo con la dificultad</a:t>
            </a:r>
            <a:endParaRPr lang="en-US" sz="145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511" y="5459611"/>
            <a:ext cx="184245" cy="184249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060721" y="5455841"/>
            <a:ext cx="315706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Tarea simple → Respuesta directa</a:t>
            </a:r>
            <a:endParaRPr lang="en-US" sz="1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3631" y="5459611"/>
            <a:ext cx="184245" cy="18424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716841" y="5455841"/>
            <a:ext cx="3157161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Tarea no trivial del día a día → Thinking</a:t>
            </a:r>
            <a:endParaRPr lang="en-US" sz="12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9849" y="5459611"/>
            <a:ext cx="184245" cy="184249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373059" y="5455841"/>
            <a:ext cx="3157161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Análisis, planificación o problema multi-paso → Deep Thinking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61475" y="5929610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Pensar de más en una tarea fácil es tirar plata (y a veces empeora la respuesta).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481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Agenda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39370" y="1307306"/>
            <a:ext cx="19050" cy="5002113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998215" y="1475680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1307306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0757" y="1336973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630123" y="1361579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Cómo genera el modelo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30123" y="1688108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mental mínimo: predecir la próxima palabra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8215" y="2353469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2185095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757" y="2214761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630123" y="2239367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Cuánto piensa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30123" y="2565896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Razonamiento (Thinking / Deep Thinking): calidad vs. costo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8215" y="3231257"/>
            <a:ext cx="474452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475" y="3062883"/>
            <a:ext cx="355790" cy="355798"/>
          </a:xfrm>
          <a:prstGeom prst="roundRect">
            <a:avLst>
              <a:gd name="adj" fmla="val 2142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757" y="3092549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630123" y="3117155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Cómo elige las palabras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30123" y="3443684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Temperatura y top-p: consistencia vs. creatividad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98215" y="4109045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475" y="3940671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757" y="3970338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630123" y="3994944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Selección del modelo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630123" y="4321473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Qué modelo elegir: capacidad vs. costo y velocidad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8215" y="4986834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661475" y="4818459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757" y="4848126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1630123" y="4872732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 que se decide al construir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630123" y="5199261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Tamaño del modelo y learning rate: lo que se compra horneado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8215" y="5864622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475" y="5696248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757" y="5725914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1630123" y="5750520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Conclusiones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630123" y="6077049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idea rectora y el cierre de la clase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2826"/>
            <a:ext cx="2014388" cy="331589"/>
          </a:xfrm>
          <a:prstGeom prst="roundRect">
            <a:avLst>
              <a:gd name="adj" fmla="val 2298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9125" y="596602"/>
            <a:ext cx="2408673" cy="224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CÓMO GENERA EL MODELO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4257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Predecir la próxima palabra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913136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45" y="2385120"/>
            <a:ext cx="4954464" cy="306397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267" y="1951534"/>
            <a:ext cx="538645" cy="952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30465" y="2131020"/>
            <a:ext cx="450610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Arma candidatos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030465" y="2582069"/>
            <a:ext cx="450610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cada paso arma una lista de candidatos con un puntaje de confianza para cada uno.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540" y="3492302"/>
            <a:ext cx="538645" cy="952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99738" y="3671788"/>
            <a:ext cx="423683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Genera y agrega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299738" y="4122837"/>
            <a:ext cx="423683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 una palabra y la agrega al texto.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912" y="4752975"/>
            <a:ext cx="538645" cy="952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69110" y="4932462"/>
            <a:ext cx="39674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Repite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569110" y="5383510"/>
            <a:ext cx="39674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Vuelve a empezar mirando todo lo que lleva escrito.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8650"/>
            <a:ext cx="2120450" cy="355203"/>
          </a:xfrm>
          <a:prstGeom prst="roundRect">
            <a:avLst>
              <a:gd name="adj" fmla="val 2145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85304"/>
            <a:ext cx="2503226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CÓMO GENERA EL MODELO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594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Elegir no es siempre el más probable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103636"/>
            <a:ext cx="281089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0293" y="2146201"/>
            <a:ext cx="5543610" cy="33553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41410" y="2103636"/>
            <a:ext cx="281089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1475" y="592683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no siempre agarra el candidato #1. A veces "tira los dados" entre los mejores.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8623"/>
            <a:ext cx="1640739" cy="243681"/>
          </a:xfrm>
          <a:prstGeom prst="roundRect">
            <a:avLst>
              <a:gd name="adj" fmla="val 312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611088"/>
            <a:ext cx="2080267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CÓMO ELIGE LAS PALABRAS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54770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Temperatura: creatividad vs. consistencia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1368623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temperatura regula </a:t>
            </a:r>
            <a:pPr algn="l" indent="0" marL="0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cuánto azar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hay en la ruleta de la palabra anterior.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1475" y="1686620"/>
            <a:ext cx="5381193" cy="811411"/>
          </a:xfrm>
          <a:prstGeom prst="roundRect">
            <a:avLst>
              <a:gd name="adj" fmla="val 93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205" y="1847354"/>
            <a:ext cx="5059732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🌡️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Baja (≈0)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205" y="2138859"/>
            <a:ext cx="505973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Respuestas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predecibles, repetibles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"aburridas pero seguras".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48928" y="1686620"/>
            <a:ext cx="5381292" cy="811411"/>
          </a:xfrm>
          <a:prstGeom prst="roundRect">
            <a:avLst>
              <a:gd name="adj" fmla="val 93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659" y="1847354"/>
            <a:ext cx="5059831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🔥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Alta (≈0.8–1.2)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09659" y="2138859"/>
            <a:ext cx="50598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variedad y creatividad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pero más riesgo de incoherencia o error.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9041" y="2617589"/>
            <a:ext cx="5973514" cy="316249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1475" y="5995293"/>
            <a:ext cx="306737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1478" y="5995293"/>
            <a:ext cx="587102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085134" y="5995293"/>
            <a:ext cx="306737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5084"/>
            <a:ext cx="2186330" cy="355203"/>
          </a:xfrm>
          <a:prstGeom prst="roundRect">
            <a:avLst>
              <a:gd name="adj" fmla="val 2145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31738"/>
            <a:ext cx="2569106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CÓMO ELIGE LAS PALABRAS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0589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Top-p: la otra forma de dar variedad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980009"/>
            <a:ext cx="10868745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Top-p (o "nucleus") es una perilla alternativa a la temperatura: en vez de subir el azar, 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recorta la lista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 de candidatos.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Top-p = 0.9 → el modelo solo considera los candidatos que juntos suman el 90% de la confianza, y descarta la "cola" improbable.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16597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Disponibilidad de top-p por proveedor (verificar contra la doc vigente de cada proveedor):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3681016"/>
            <a:ext cx="10868745" cy="2501900"/>
          </a:xfrm>
          <a:prstGeom prst="roundRect">
            <a:avLst>
              <a:gd name="adj" fmla="val 30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1475" y="4232473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780756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5631458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56931" y="3807123"/>
            <a:ext cx="34883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Proveedor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113705" y="3807123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Top-p en la API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6103" y="3807123"/>
            <a:ext cx="34883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 modelos de razonamiento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6931" y="4355405"/>
            <a:ext cx="34883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OpenAI (GPT)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113705" y="4355405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56103" y="4355405"/>
            <a:ext cx="34883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Deshabilitado (queda fijo)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6931" y="4903688"/>
            <a:ext cx="34883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Anthropic (Claude)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113705" y="4903688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 — se ajusta temperatura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top-p, no ambos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56103" y="4903688"/>
            <a:ext cx="28787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Deshabilitado con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extended thinking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6931" y="5754390"/>
            <a:ext cx="34883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(Gemini)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113705" y="5754390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 (topP)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56103" y="5754390"/>
            <a:ext cx="34883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Disponible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83952"/>
            <a:ext cx="1304992" cy="331589"/>
          </a:xfrm>
          <a:prstGeom prst="roundRect">
            <a:avLst>
              <a:gd name="adj" fmla="val 2298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9125" y="1037729"/>
            <a:ext cx="1699277" cy="224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CUÁNTO PIENSA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383705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Resumen: qué perilla para qué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2200771"/>
            <a:ext cx="10868745" cy="61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Tabla de bolsillo de las tres perillas tocables y su impacto de negocio.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Regla de oro: elegí la perilla por la 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tarea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 por defecto. Y recordá: temperatura y top-p se ajustan 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u otra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 las dos a la vez.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3012480"/>
            <a:ext cx="10868745" cy="2861568"/>
          </a:xfrm>
          <a:prstGeom prst="roundRect">
            <a:avLst>
              <a:gd name="adj" fmla="val 26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3519388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303216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806950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47505" y="3127474"/>
            <a:ext cx="29645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Perilla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1467" y="3127474"/>
            <a:ext cx="29645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Qué controla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75429" y="3127474"/>
            <a:ext cx="29645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Subir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89391" y="3127474"/>
            <a:ext cx="29645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Bajar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7505" y="3631208"/>
            <a:ext cx="29645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Temperatura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1467" y="3631208"/>
            <a:ext cx="29645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Variedad / azar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75429" y="3631208"/>
            <a:ext cx="235499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creativo, menos consistente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89391" y="3631208"/>
            <a:ext cx="29645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predecible, ideal control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7505" y="4415036"/>
            <a:ext cx="29645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Top-p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1467" y="4415036"/>
            <a:ext cx="29645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Variedad (alternativa)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75429" y="4415036"/>
            <a:ext cx="29645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opciones consideradas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89391" y="4415036"/>
            <a:ext cx="29645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Solo lo más seguro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7505" y="4918770"/>
            <a:ext cx="235499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Razonamiento (Thinking / Deep Thinking)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1467" y="4918770"/>
            <a:ext cx="235499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Cuánto "piensa" antes de responder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75429" y="4918770"/>
            <a:ext cx="235499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Thinking: mejor en tareas difíciles, más lento y caro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89391" y="4918770"/>
            <a:ext cx="235499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Respuesta directa / Thinking: más rápido y barato, ok para tareas simples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5463"/>
            <a:ext cx="1376626" cy="195362"/>
          </a:xfrm>
          <a:prstGeom prst="roundRect">
            <a:avLst>
              <a:gd name="adj" fmla="val 3900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2811" y="561082"/>
            <a:ext cx="1843537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CÓMO ELIGE LAS PALABRAS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50788"/>
            <a:ext cx="10868745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Soporte del parámetro temperature por proveedor y modelo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61475" y="1235075"/>
            <a:ext cx="1147833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Estado a julio 2026.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1475" y="1474490"/>
            <a:ext cx="10868745" cy="4463455"/>
          </a:xfrm>
          <a:prstGeom prst="roundRect">
            <a:avLst>
              <a:gd name="adj" fmla="val 17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1741785"/>
            <a:ext cx="10868745" cy="743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2161084"/>
            <a:ext cx="10868745" cy="743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2580382"/>
            <a:ext cx="10868745" cy="743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2999680"/>
            <a:ext cx="10868745" cy="743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3418979"/>
            <a:ext cx="10868745" cy="743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3838277"/>
            <a:ext cx="10868745" cy="743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4257576"/>
            <a:ext cx="10868745" cy="743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1475" y="4676874"/>
            <a:ext cx="10868745" cy="743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1475" y="5096173"/>
            <a:ext cx="10868745" cy="743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61475" y="5515471"/>
            <a:ext cx="10868745" cy="743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86983" y="1532136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Proveedor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00945" y="1532136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4907" y="1532136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¿Permite tocar temperature?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28869" y="1532136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Detalle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983" y="1796256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Anthropic (Claude)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00945" y="1796256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Opus 4.8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4907" y="1796256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Sí, pero se ignora con thinking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928869" y="1796256"/>
            <a:ext cx="2476041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Acepta 0.0–1.0. Con extended thinking activo, la temperatura queda anulada.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983" y="2215555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00945" y="2215555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Sonnet 4.6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4907" y="2215555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Igual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28869" y="2215555"/>
            <a:ext cx="2476041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Rango 0.0–1.0. Desde la 4.5 no se puede usar temperature y top_p juntos.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983" y="2634853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00945" y="2634853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Haiku 4.5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4907" y="2634853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28869" y="2634853"/>
            <a:ext cx="2476041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Rango 0.0–1.0, funciona pleno (sobre todo con thinking apagado).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983" y="3054152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OpenAI (GPT)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00945" y="3054152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GPT-5.5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4907" y="3054152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 (modelo de razonamiento)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28869" y="3054152"/>
            <a:ext cx="2476041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Solo acepta el default (1). Otro valor → error 400. Se usa reasoning.effort.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6983" y="3473450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00945" y="3473450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GPT-5.4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4907" y="3473450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28869" y="3473450"/>
            <a:ext cx="2476041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Mismo caso: es reasoning, rechaza temperature.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6983" y="3892748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00945" y="3892748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GPT-5.4 mini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4907" y="3892748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928869" y="3892748"/>
            <a:ext cx="2476041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Ídem. Las variantes "chat"/Instant (gpt-5-chat-latest) sí la aceptan.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86983" y="4312047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(Gemini)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500945" y="4312047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3.5 Flash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4907" y="4312047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Técnicamente sí, desaconsejado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928869" y="4312047"/>
            <a:ext cx="2476041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parámetro existe (0–2, default 1) pero recomiendan no tocarlo.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6983" y="4731345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500945" y="4731345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3 Pro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14907" y="4731345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Igual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928869" y="4731345"/>
            <a:ext cx="2476041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Recomiendan fuertemente dejar temperature en 1.0.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86983" y="5150644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500945" y="5150644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3.1 Flash-Lite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14907" y="5150644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Igual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928869" y="5150644"/>
            <a:ext cx="2476041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puede bajar a 0.2–0.5, pero valores bajos pueden causar looping.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86983" y="5569942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500945" y="5569942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2.5 Flash-Lite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14907" y="5569942"/>
            <a:ext cx="3085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Sí, plenamente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928869" y="5569942"/>
            <a:ext cx="2476041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Soporta temperature normal: rango 0–2, default 1. Sin advertencias.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61475" y="6022181"/>
            <a:ext cx="10868745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</a:t>
            </a:r>
            <a:pPr algn="l" indent="0" marL="0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Tendencia de fondo:</a:t>
            </a:r>
            <a:pPr algn="l" indent="0" marL="0">
              <a:lnSpc>
                <a:spcPct val="10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medida que estos modelos se vuelven 'de razonamiento' por defecto, la temperatura como perilla clásica está desapareciendo. Antes era el control principal; hoy el control real pasó a ser cuánto piensa el modelo (effort / thinking_level).     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481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39370" y="1307306"/>
            <a:ext cx="19050" cy="5002113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998215" y="1475680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1307306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0757" y="1336973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630123" y="1361579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Cómo genera el modelo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30123" y="1688108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mental mínimo: predecir la próxima palabra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8215" y="2353469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2185095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757" y="2214761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630123" y="2239367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Cuánto piensa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30123" y="2565896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Razonamiento (Thinking / Deep Thinking): calidad vs. costo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8215" y="3231257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475" y="3062883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757" y="3092549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630123" y="3117155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Cómo elige las palabras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30123" y="3443684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Temperatura y top-p: consistencia vs. creatividad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98215" y="4109045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475" y="3940671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757" y="3970338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630123" y="3994944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Selección del modelo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630123" y="4321473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Qué modelo elegir: capacidad vs. costo y velocidad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8215" y="4986834"/>
            <a:ext cx="474452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25" name="Shape 23"/>
          <p:cNvSpPr/>
          <p:nvPr/>
        </p:nvSpPr>
        <p:spPr>
          <a:xfrm>
            <a:off x="661475" y="4818459"/>
            <a:ext cx="355790" cy="355798"/>
          </a:xfrm>
          <a:prstGeom prst="roundRect">
            <a:avLst>
              <a:gd name="adj" fmla="val 2142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757" y="4848126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1630123" y="4872732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 que se decide al construir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630123" y="5199261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Tamaño del modelo y learning rate: lo que se compra horneado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8215" y="5864622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475" y="5696248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757" y="5725914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1630123" y="5750520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Conclusiones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630123" y="6077049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idea rectora y el cierre de la clase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13594"/>
            <a:ext cx="2179186" cy="286345"/>
          </a:xfrm>
          <a:prstGeom prst="roundRect">
            <a:avLst>
              <a:gd name="adj" fmla="val 266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861715"/>
            <a:ext cx="2596093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 QUE SE DECIDE AL CONSTRUIR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154509"/>
            <a:ext cx="10868745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Tamaño del modelo: qué es "grande" por dentro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61475" y="1760934"/>
            <a:ext cx="10868745" cy="1521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Cuando en la Sección 5 hablamos de un modelo "grande" o "chico", ¿qué es lo que efectivamente cambia por dentro? El "tamaño" es la 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cantidad de parámetros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cuánta capacidad de aprender y capturar patrones tiene el modelo — la analogía imperfecta pero útil es "la cantidad de neuronas".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parámetros → más capacidad de representar patrones complejos, pero también más cómputo por consulta (de ahí que el grande sea más lento y caro, como vimos al elegir).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una decisión de 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construcción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la fija quien entrena el modelo, no la tocás. Vos elegís entre modelos ya construidos (Sección 5); acá sólo entendemos qué hay detrás de la etiqueta "grande".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0762" y="3436342"/>
            <a:ext cx="4890171" cy="26080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4534"/>
            <a:ext cx="2307076" cy="308868"/>
          </a:xfrm>
          <a:prstGeom prst="roundRect">
            <a:avLst>
              <a:gd name="adj" fmla="val 246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605532"/>
            <a:ext cx="2712672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 QUE SE DECIDE AL CONSTRUIR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2462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Learning rate: cómo aprende el modelo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685826"/>
            <a:ext cx="10868745" cy="1453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learning rate es el "tamaño del paso" con que el modelo ajusta lo que aprende en cada corrección durante el entrenamiento.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Muy grande: aprende rápido pero inestable, "se pasa de largo" y no converge.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Muy chico: estable pero lentísimo y caro de entrenar.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Negocio: no lo tocás nunca, pero explica por qué entrenar/afinar un modelo es un arte caro, y por qué "afinar tu propio modelo" no es gratis ni trivial.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6898" y="3311624"/>
            <a:ext cx="5177899" cy="29917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9026"/>
            <a:ext cx="1962101" cy="355203"/>
          </a:xfrm>
          <a:prstGeom prst="roundRect">
            <a:avLst>
              <a:gd name="adj" fmla="val 2145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75680"/>
            <a:ext cx="2344877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SELECCIÓN DEL MODELO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498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Capacidad vs. costo y velocidad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9270" y="1923951"/>
            <a:ext cx="5753155" cy="43149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481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Agenda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39370" y="1307306"/>
            <a:ext cx="19050" cy="5002113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998215" y="1475680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1307306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0757" y="1336973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630123" y="1361579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Cómo genera el modelo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30123" y="1688108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mental mínimo: predecir la próxima palabra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8215" y="2353469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2185095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757" y="2214761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630123" y="2239367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Cómo elige las palabras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30123" y="2565896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Temperatura y top-p: consistencia vs. creatividad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8215" y="3231257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475" y="3062883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757" y="3092549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630123" y="3117155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Cuánto piensa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30123" y="3443684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Razonamiento (Thinking / Deep Thinking): calidad vs. costo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98215" y="4109045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475" y="3940671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757" y="3970338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630123" y="3994944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Selección del modelo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630123" y="4321473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Qué modelo elegir: capacidad vs. costo y velocidad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8215" y="4986834"/>
            <a:ext cx="474452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661475" y="4818459"/>
            <a:ext cx="355790" cy="355798"/>
          </a:xfrm>
          <a:prstGeom prst="roundRect">
            <a:avLst>
              <a:gd name="adj" fmla="val 21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757" y="4848126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1630123" y="4872732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 que se decide al construir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630123" y="5199261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Tamaño del modelo y learning rate: lo que se compra horneado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8215" y="5864622"/>
            <a:ext cx="474452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475" y="5696248"/>
            <a:ext cx="355790" cy="355798"/>
          </a:xfrm>
          <a:prstGeom prst="roundRect">
            <a:avLst>
              <a:gd name="adj" fmla="val 2142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757" y="5725914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1630123" y="5750520"/>
            <a:ext cx="990009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Conclusiones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630123" y="6077049"/>
            <a:ext cx="9900097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idea rectora y el cierre de la clase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50293"/>
            <a:ext cx="1328903" cy="355203"/>
          </a:xfrm>
          <a:prstGeom prst="roundRect">
            <a:avLst>
              <a:gd name="adj" fmla="val 2145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606947"/>
            <a:ext cx="171167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811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Lo que se llevan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855218"/>
            <a:ext cx="10868745" cy="2452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Detrás de toda AI hay perillas que cambian calidad, costo, velocidad y consistencia.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Antes que nada elegís el 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modelo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la única perilla siempre expuesta, y la que fija el eje capacidad vs. costo/velocidad. Regla: el más chico/rápido que resuelva bien la tarea.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Después, tres perillas de inferencia las tocás al usar: temperatura, top-p y el esfuerzo de razonamiento. Y dos parámetros los comprás horneados al elegir el modelo: su tamaño (parámetros) y su learning rate.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hay configuración "buena": hay una apropiada a la tarea.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918222"/>
            <a:ext cx="1328903" cy="355203"/>
          </a:xfrm>
          <a:prstGeom prst="roundRect">
            <a:avLst>
              <a:gd name="adj" fmla="val 2145"/>
            </a:avLst>
          </a:prstGeom>
          <a:solidFill>
            <a:srgbClr val="F9D2D6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974876"/>
            <a:ext cx="171167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334903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Q &amp; A</a:t>
            </a:r>
            <a:endParaRPr lang="en-US" sz="3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8677"/>
            <a:ext cx="1815360" cy="308868"/>
          </a:xfrm>
          <a:prstGeom prst="roundRect">
            <a:avLst>
              <a:gd name="adj" fmla="val 246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739676"/>
            <a:ext cx="2220956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UE RESUMEN Y PRÁCTICA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058763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Algunos links utiles.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819970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Completa los siguientes módulos interactivos en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aitutorial.dev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Tiempo estimado: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45-60 minutos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23021"/>
            <a:ext cx="5226911" cy="1710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3672" y="2612132"/>
            <a:ext cx="48656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Foundational Models Fundamentals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03672" y="3030934"/>
            <a:ext cx="4865665" cy="91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aitutorial.dev/prompting/llm-foundamentals</a:t>
            </a:r>
            <a:endParaRPr lang="en-US" sz="13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Ventana de contexto, tokens, limitaciones y modelo mental del completado.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60" y="4286548"/>
            <a:ext cx="4971826" cy="14518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8757" y="4475659"/>
            <a:ext cx="461058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Structured Prompt Engineering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258757" y="4894461"/>
            <a:ext cx="4610580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aitutorial.dev/prompting/structured-prompt-engineering</a:t>
            </a:r>
            <a:endParaRPr lang="en-US" sz="13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6 componentes, XML tags y salidas JSON en la práctica.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659" y="2423021"/>
            <a:ext cx="5226911" cy="17104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51855" y="2612132"/>
            <a:ext cx="48656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Técnicas Avanzadas de Prompting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6651855" y="3030934"/>
            <a:ext cx="4865665" cy="91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aitutorial.dev/prompting/advanced-techniques</a:t>
            </a:r>
            <a:endParaRPr lang="en-US" sz="13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CoT, Self-Consistency, Extended Thinking y Prompt Chaining aplicados.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64744" y="4286548"/>
            <a:ext cx="4971826" cy="17104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6940" y="4475659"/>
            <a:ext cx="461058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 Optimization &amp; Testing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6906940" y="4894461"/>
            <a:ext cx="4610580" cy="91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aitutorial.dev/prompting/prompt-optimization-and-testing</a:t>
            </a:r>
            <a:endParaRPr lang="en-US" sz="13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Evaluar, iterar y llevar prompts a producción de forma rigurosa.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DA1B2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2026-07-08T16:54:09Z</dcterms:created>
  <dcterms:modified xsi:type="dcterms:W3CDTF">2026-07-08T16:54:09Z</dcterms:modified>
</cp:coreProperties>
</file>